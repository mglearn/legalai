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ethics because everything else stands on it. Before a single prompt, the question is not what the tool can do. The question is what your duties require.
In the next twenty minutes we cover four things. The duties that already govern this, the way AI fabricates case law, the confidentiality trap in consumer tools, and why the output never replaces your judgment.
Keep your own hardest matter in the back of your mind as we go. You will see where each of these lands for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reassuring part and the sobering part at once. You do not need a new rulebook. The duties you already carry reach this technology cleanly.
Competence and diligence under Rule 1.01 means you understand the tool well enough to use it, or you leave it alone. Confidentiality under Rule 1.05 follows the client information right into whatever box you type it into. Supervision under Rules 5.01 and 5.03 is the key mental model. Treat AI as a nonlawyer assistant whose work you must check. And candor under Rule 3.03 means what you file is true because you confirmed it, not because the machine sounded sure.
Rule numbers here are the Texas framework as of today. Always check the current text before you rely on it. Now let us look at the failure that has cost lawyers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Competence has quietly grown. For years it meant knowing the law and the procedure. Guidance on technology competence now folds in a second duty. You are expected to understand the benefits and the risks of the tools you use.
That does not mean you need to build the model. It means you need to know how it fails, what it does with your input, and when a task simply does not belong in a general chatbot. Those three things are within reach for every person in this room.
And there is an honest exit. If a tool is beyond your understanding for a given task, competent practice can mean getting help or setting the tool down. Saying no is a professional answer. Next, the failure that makes headlines.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name the failure precisely. A hallucination is not a glitch that better software will soon remove. It is a direct result of how these models work. They predict the next likely words. They are built to produce fluent text, not to confirm that a case exists.
So you get output that reads exactly like a citation, with a real reporter format and confident language, attached to a holding no court ever issued. The style is perfect. The substance is invented.
This is not hypothetical. Courts around the country have sanctioned lawyers who filed briefs resting on cases the AI made up. The lesson is not to fear the tool. The lesson is that every citation it gives you is a lead to verify, never an authority to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example on the screen. It is invented, and I built it to be convincing. The reporter is right. The volume and page look normal. The court and year are plausible. The quoted holding tracks doctrine you half remember about warrantless blood draws, so it slips past your guard.
That is the danger. It looks right and it reads right, which is exactly why it is dangerous. The case, the pinpoint page, and the quotation can all be fabricated together, and they will match each other perfectly.
So here is the rule I want you to carry. If you cannot pull the opinion yourself from a real database, you do not have a citation. You have a hypothesis that still needs proof. Now the risk that shows up before you ever file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failure happens before anything reaches a court. It happens the moment you paste a client fact into the wrong tool.
Free and consumer tiers often reserve the right to train on your inputs. Those inputs can be stored, logged, and in some cases read by a human reviewer. A client name plus two facts can identify a matter to anyone who sees it. And clicking accept on a sign-up screen is not the same as a data protection agreement.
The safe habits are on the right, and they are simple. Strip the identifiers or use a fictional stand-in. Prefer tools with enterprise terms that promise not to train on your data. Keep truly privileged material out of general chatbots. And work as though anything you type could be seen, because sometimes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I most want you to keep. AI output is never a substitute for legal judgment.
The tool can draft, it can summarize, it can suggest three defense angles in seconds. What it cannot do is be responsible. It has no license, no duty to the client, and no standing before the court.
So the division of labor is clear. It drafts, you decide. It suggests, you choose and weigh the risk. And when you sign, your signature certifies the work as yours. The machine cannot stand behind a filing, which is exactly why you have to. Let us put this to work with a short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see this yourself. Open whichever free chatbot you set up. Ask it for three Texas cases on any suppression issue you like, with full citations and a one-line holding for each. Then do the part most people skip. Try to verify each one in a real source.
Give it about five minutes. Mark each result as confirmed, unconfirmed, or clearly invented, and pay attention to how sure the tool sounded in every case. That confidence is the trap.
Watch for the person who finds a clean-looking cite that does not exist, because it happens fast in a room this size. When we come back, I will ask how many held up and what would have happened if this had gone into a filing unread. Go ahead and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gather the segment. Five things hold true before you type a single prompt. Your duties already reach this work. Competence now includes the tools. Every citation is a lead, not an authority. Client data stays out of tools that may keep it. And responsibility is yours alone.
That might sound like a case for avoiding AI entirely. It is not. Here is the honest bridge. If the tool is this prone to error when used carelessly, the answer is to stop using it carelessly. With structure and with grounding in real sources, you can cut the risk sharply and still get real value.
That is exactly what we build next, starting with a framework made for this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F8FAF"/>
          </a:solidFill>
          <a:ln/>
        </p:spPr>
      </p:sp>
      <p:sp>
        <p:nvSpPr>
          <p:cNvPr id="3" name="Shape 1"/>
          <p:cNvSpPr/>
          <p:nvPr/>
        </p:nvSpPr>
        <p:spPr>
          <a:xfrm>
            <a:off x="777240" y="1234440"/>
            <a:ext cx="457200" cy="457200"/>
          </a:xfrm>
          <a:prstGeom prst="ellipse">
            <a:avLst/>
          </a:prstGeom>
          <a:solidFill>
            <a:srgbClr val="6F8FAF"/>
          </a:solidFill>
          <a:ln/>
        </p:spPr>
      </p:sp>
      <p:sp>
        <p:nvSpPr>
          <p:cNvPr id="4" name="Text 2"/>
          <p:cNvSpPr/>
          <p:nvPr/>
        </p:nvSpPr>
        <p:spPr>
          <a:xfrm>
            <a:off x="777240" y="1234440"/>
            <a:ext cx="457200" cy="457200"/>
          </a:xfrm>
          <a:prstGeom prst="rect">
            <a:avLst/>
          </a:prstGeom>
          <a:noFill/>
          <a:ln/>
        </p:spPr>
        <p:txBody>
          <a:bodyPr wrap="square" rtlCol="0" anchor="ctr"/>
          <a:lstStyle/>
          <a:p>
            <a:pPr algn="ctr" indent="0" marL="0">
              <a:buNone/>
            </a:pPr>
            <a:r>
              <a:rPr lang="en-US" sz="1600" b="1" dirty="0">
                <a:solidFill>
                  <a:srgbClr val="0B1D33"/>
                </a:solidFill>
                <a:latin typeface="Georgia" pitchFamily="34" charset="0"/>
                <a:ea typeface="Georgia" pitchFamily="34" charset="-122"/>
                <a:cs typeface="Georgia" pitchFamily="34" charset="-120"/>
              </a:rPr>
              <a:t>1</a:t>
            </a:r>
            <a:endParaRPr lang="en-US" sz="1600" dirty="0"/>
          </a:p>
        </p:txBody>
      </p:sp>
      <p:sp>
        <p:nvSpPr>
          <p:cNvPr id="5" name="Text 3"/>
          <p:cNvSpPr/>
          <p:nvPr/>
        </p:nvSpPr>
        <p:spPr>
          <a:xfrm>
            <a:off x="777240" y="1874520"/>
            <a:ext cx="7772400" cy="274320"/>
          </a:xfrm>
          <a:prstGeom prst="rect">
            <a:avLst/>
          </a:prstGeom>
          <a:noFill/>
          <a:ln/>
        </p:spPr>
        <p:txBody>
          <a:bodyPr wrap="square" rtlCol="0" anchor="ctr"/>
          <a:lstStyle/>
          <a:p>
            <a:pPr indent="0" marL="0">
              <a:buNone/>
            </a:pPr>
            <a:r>
              <a:rPr lang="en-US" sz="1200" b="1" spc="200" kern="0" dirty="0">
                <a:solidFill>
                  <a:srgbClr val="6F8FAF"/>
                </a:solidFill>
                <a:latin typeface="Calibri" pitchFamily="34" charset="0"/>
                <a:ea typeface="Calibri" pitchFamily="34" charset="-122"/>
                <a:cs typeface="Calibri" pitchFamily="34" charset="-120"/>
              </a:rPr>
              <a:t>SEGMENT ONE · ABOUT 20 MINUTES</a:t>
            </a:r>
            <a:endParaRPr lang="en-US" sz="1200" dirty="0"/>
          </a:p>
        </p:txBody>
      </p:sp>
      <p:sp>
        <p:nvSpPr>
          <p:cNvPr id="6" name="Text 4"/>
          <p:cNvSpPr/>
          <p:nvPr/>
        </p:nvSpPr>
        <p:spPr>
          <a:xfrm>
            <a:off x="777240" y="2194560"/>
            <a:ext cx="786384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Ethical Foundations</a:t>
            </a:r>
            <a:endParaRPr lang="en-US" sz="3400" dirty="0"/>
          </a:p>
        </p:txBody>
      </p:sp>
      <p:sp>
        <p:nvSpPr>
          <p:cNvPr id="7" name="Text 5"/>
          <p:cNvSpPr/>
          <p:nvPr/>
        </p:nvSpPr>
        <p:spPr>
          <a:xfrm>
            <a:off x="777240" y="3063240"/>
            <a:ext cx="7589520" cy="731520"/>
          </a:xfrm>
          <a:prstGeom prst="rect">
            <a:avLst/>
          </a:prstGeom>
          <a:noFill/>
          <a:ln/>
        </p:spPr>
        <p:txBody>
          <a:bodyPr wrap="square" rtlCol="0" anchor="ctr"/>
          <a:lstStyle/>
          <a:p>
            <a:pPr indent="0" marL="0">
              <a:lnSpc>
                <a:spcPts val="2400"/>
              </a:lnSpc>
              <a:buNone/>
            </a:pPr>
            <a:r>
              <a:rPr lang="en-US" sz="1700" i="1" dirty="0">
                <a:solidFill>
                  <a:srgbClr val="C8D2DC"/>
                </a:solidFill>
                <a:latin typeface="Georgia" pitchFamily="34" charset="0"/>
                <a:ea typeface="Georgia" pitchFamily="34" charset="-122"/>
                <a:cs typeface="Georgia" pitchFamily="34" charset="-120"/>
              </a:rPr>
              <a:t>The duties that govern AI use, and the failures that put a license at risk.</a:t>
            </a:r>
            <a:endParaRPr lang="en-US" sz="1700" dirty="0"/>
          </a:p>
        </p:txBody>
      </p:sp>
      <p:sp>
        <p:nvSpPr>
          <p:cNvPr id="8" name="Shape 6"/>
          <p:cNvSpPr/>
          <p:nvPr/>
        </p:nvSpPr>
        <p:spPr>
          <a:xfrm>
            <a:off x="0" y="4686300"/>
            <a:ext cx="9144000" cy="457200"/>
          </a:xfrm>
          <a:prstGeom prst="rect">
            <a:avLst/>
          </a:prstGeom>
          <a:solidFill>
            <a:srgbClr val="102A54"/>
          </a:solidFill>
          <a:ln/>
        </p:spPr>
      </p:sp>
      <p:sp>
        <p:nvSpPr>
          <p:cNvPr id="9" name="Shape 7"/>
          <p:cNvSpPr/>
          <p:nvPr/>
        </p:nvSpPr>
        <p:spPr>
          <a:xfrm>
            <a:off x="0" y="4654296"/>
            <a:ext cx="9144000" cy="32004"/>
          </a:xfrm>
          <a:prstGeom prst="rect">
            <a:avLst/>
          </a:prstGeom>
          <a:solidFill>
            <a:srgbClr val="6F8FAF"/>
          </a:solidFill>
          <a:ln/>
        </p:spPr>
      </p:sp>
      <p:sp>
        <p:nvSpPr>
          <p:cNvPr id="10" name="Text 8"/>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1" name="Text 9"/>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2" name="Text 10"/>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START HERE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Your existing duties already govern AI use</a:t>
            </a:r>
            <a:endParaRPr lang="en-US" sz="2500" dirty="0"/>
          </a:p>
        </p:txBody>
      </p:sp>
      <p:sp>
        <p:nvSpPr>
          <p:cNvPr id="5" name="Text 3"/>
          <p:cNvSpPr/>
          <p:nvPr/>
        </p:nvSpPr>
        <p:spPr>
          <a:xfrm>
            <a:off x="457200" y="1463040"/>
            <a:ext cx="8229600" cy="640080"/>
          </a:xfrm>
          <a:prstGeom prst="rect">
            <a:avLst/>
          </a:prstGeom>
          <a:noFill/>
          <a:ln/>
        </p:spPr>
        <p:txBody>
          <a:bodyPr wrap="square" rtlCol="0" anchor="ctr"/>
          <a:lstStyle/>
          <a:p>
            <a:pPr indent="0" marL="0">
              <a:lnSpc>
                <a:spcPts val="2100"/>
              </a:lnSpc>
              <a:buNone/>
            </a:pPr>
            <a:r>
              <a:rPr lang="en-US" sz="1500" dirty="0">
                <a:solidFill>
                  <a:srgbClr val="4F6072"/>
                </a:solidFill>
                <a:latin typeface="Calibri" pitchFamily="34" charset="0"/>
                <a:ea typeface="Calibri" pitchFamily="34" charset="-122"/>
                <a:cs typeface="Calibri" pitchFamily="34" charset="-120"/>
              </a:rPr>
              <a:t>No new rulebook is required. The Texas Disciplinary Rules of Professional Conduct reach AI-assisted work the same way they reach a junior associate's draft.</a:t>
            </a:r>
            <a:endParaRPr lang="en-US" sz="1500" dirty="0"/>
          </a:p>
        </p:txBody>
      </p:sp>
      <p:sp>
        <p:nvSpPr>
          <p:cNvPr id="6" name="Shape 4"/>
          <p:cNvSpPr/>
          <p:nvPr/>
        </p:nvSpPr>
        <p:spPr>
          <a:xfrm>
            <a:off x="457200" y="2121408"/>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7" name="Shape 5"/>
          <p:cNvSpPr/>
          <p:nvPr/>
        </p:nvSpPr>
        <p:spPr>
          <a:xfrm>
            <a:off x="457200" y="2121408"/>
            <a:ext cx="54864" cy="1325880"/>
          </a:xfrm>
          <a:prstGeom prst="rect">
            <a:avLst/>
          </a:prstGeom>
          <a:solidFill>
            <a:srgbClr val="102A54"/>
          </a:solidFill>
          <a:ln/>
        </p:spPr>
      </p:sp>
      <p:sp>
        <p:nvSpPr>
          <p:cNvPr id="8" name="Text 6"/>
          <p:cNvSpPr/>
          <p:nvPr/>
        </p:nvSpPr>
        <p:spPr>
          <a:xfrm>
            <a:off x="621792" y="2231136"/>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Competence and diligence</a:t>
            </a:r>
            <a:endParaRPr lang="en-US" sz="1350" dirty="0"/>
          </a:p>
        </p:txBody>
      </p:sp>
      <p:sp>
        <p:nvSpPr>
          <p:cNvPr id="9" name="Text 7"/>
          <p:cNvSpPr/>
          <p:nvPr/>
        </p:nvSpPr>
        <p:spPr>
          <a:xfrm>
            <a:off x="621792" y="2624328"/>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Rule 1.01. You must understand the tool well enough to use it responsibly, or not use it.</a:t>
            </a:r>
            <a:endParaRPr lang="en-US" sz="1100" dirty="0"/>
          </a:p>
        </p:txBody>
      </p:sp>
      <p:sp>
        <p:nvSpPr>
          <p:cNvPr id="10" name="Shape 8"/>
          <p:cNvSpPr/>
          <p:nvPr/>
        </p:nvSpPr>
        <p:spPr>
          <a:xfrm>
            <a:off x="4672584" y="2121408"/>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1" name="Shape 9"/>
          <p:cNvSpPr/>
          <p:nvPr/>
        </p:nvSpPr>
        <p:spPr>
          <a:xfrm>
            <a:off x="4672584" y="2121408"/>
            <a:ext cx="54864" cy="1325880"/>
          </a:xfrm>
          <a:prstGeom prst="rect">
            <a:avLst/>
          </a:prstGeom>
          <a:solidFill>
            <a:srgbClr val="102A54"/>
          </a:solidFill>
          <a:ln/>
        </p:spPr>
      </p:sp>
      <p:sp>
        <p:nvSpPr>
          <p:cNvPr id="12" name="Text 10"/>
          <p:cNvSpPr/>
          <p:nvPr/>
        </p:nvSpPr>
        <p:spPr>
          <a:xfrm>
            <a:off x="4837176" y="2231136"/>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Confidentiality</a:t>
            </a:r>
            <a:endParaRPr lang="en-US" sz="1350" dirty="0"/>
          </a:p>
        </p:txBody>
      </p:sp>
      <p:sp>
        <p:nvSpPr>
          <p:cNvPr id="13" name="Text 11"/>
          <p:cNvSpPr/>
          <p:nvPr/>
        </p:nvSpPr>
        <p:spPr>
          <a:xfrm>
            <a:off x="4837176" y="2624328"/>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Rule 1.05. Client information stays protected, including from the tools you type it into.</a:t>
            </a:r>
            <a:endParaRPr lang="en-US" sz="1100" dirty="0"/>
          </a:p>
        </p:txBody>
      </p:sp>
      <p:sp>
        <p:nvSpPr>
          <p:cNvPr id="14" name="Shape 12"/>
          <p:cNvSpPr/>
          <p:nvPr/>
        </p:nvSpPr>
        <p:spPr>
          <a:xfrm>
            <a:off x="457200" y="361188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5" name="Shape 13"/>
          <p:cNvSpPr/>
          <p:nvPr/>
        </p:nvSpPr>
        <p:spPr>
          <a:xfrm>
            <a:off x="457200" y="3611880"/>
            <a:ext cx="54864" cy="1325880"/>
          </a:xfrm>
          <a:prstGeom prst="rect">
            <a:avLst/>
          </a:prstGeom>
          <a:solidFill>
            <a:srgbClr val="6F8FAF"/>
          </a:solidFill>
          <a:ln/>
        </p:spPr>
      </p:sp>
      <p:sp>
        <p:nvSpPr>
          <p:cNvPr id="16" name="Text 14"/>
          <p:cNvSpPr/>
          <p:nvPr/>
        </p:nvSpPr>
        <p:spPr>
          <a:xfrm>
            <a:off x="621792" y="372160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Supervision</a:t>
            </a:r>
            <a:endParaRPr lang="en-US" sz="1350" dirty="0"/>
          </a:p>
        </p:txBody>
      </p:sp>
      <p:sp>
        <p:nvSpPr>
          <p:cNvPr id="17" name="Text 15"/>
          <p:cNvSpPr/>
          <p:nvPr/>
        </p:nvSpPr>
        <p:spPr>
          <a:xfrm>
            <a:off x="621792" y="411480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Rules 5.01 and 5.03. AI is a nonlawyer assistant. You supervise its work and own the result.</a:t>
            </a:r>
            <a:endParaRPr lang="en-US" sz="1100" dirty="0"/>
          </a:p>
        </p:txBody>
      </p:sp>
      <p:sp>
        <p:nvSpPr>
          <p:cNvPr id="18" name="Shape 16"/>
          <p:cNvSpPr/>
          <p:nvPr/>
        </p:nvSpPr>
        <p:spPr>
          <a:xfrm>
            <a:off x="4672584" y="361188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9" name="Shape 17"/>
          <p:cNvSpPr/>
          <p:nvPr/>
        </p:nvSpPr>
        <p:spPr>
          <a:xfrm>
            <a:off x="4672584" y="3611880"/>
            <a:ext cx="54864" cy="1325880"/>
          </a:xfrm>
          <a:prstGeom prst="rect">
            <a:avLst/>
          </a:prstGeom>
          <a:solidFill>
            <a:srgbClr val="6F8FAF"/>
          </a:solidFill>
          <a:ln/>
        </p:spPr>
      </p:sp>
      <p:sp>
        <p:nvSpPr>
          <p:cNvPr id="20" name="Text 18"/>
          <p:cNvSpPr/>
          <p:nvPr/>
        </p:nvSpPr>
        <p:spPr>
          <a:xfrm>
            <a:off x="4837176" y="372160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Candor to the tribunal</a:t>
            </a:r>
            <a:endParaRPr lang="en-US" sz="1350" dirty="0"/>
          </a:p>
        </p:txBody>
      </p:sp>
      <p:sp>
        <p:nvSpPr>
          <p:cNvPr id="21" name="Text 19"/>
          <p:cNvSpPr/>
          <p:nvPr/>
        </p:nvSpPr>
        <p:spPr>
          <a:xfrm>
            <a:off x="4837176" y="411480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Rule 3.03. What you file must be true, and you are the one who verified it.</a:t>
            </a:r>
            <a:endParaRPr lang="en-US" sz="1100" dirty="0"/>
          </a:p>
        </p:txBody>
      </p:sp>
      <p:sp>
        <p:nvSpPr>
          <p:cNvPr id="22" name="Shape 20"/>
          <p:cNvSpPr/>
          <p:nvPr/>
        </p:nvSpPr>
        <p:spPr>
          <a:xfrm>
            <a:off x="0" y="4686300"/>
            <a:ext cx="9144000" cy="457200"/>
          </a:xfrm>
          <a:prstGeom prst="rect">
            <a:avLst/>
          </a:prstGeom>
          <a:solidFill>
            <a:srgbClr val="102A54"/>
          </a:solidFill>
          <a:ln/>
        </p:spPr>
      </p:sp>
      <p:sp>
        <p:nvSpPr>
          <p:cNvPr id="23" name="Shape 21"/>
          <p:cNvSpPr/>
          <p:nvPr/>
        </p:nvSpPr>
        <p:spPr>
          <a:xfrm>
            <a:off x="0" y="4654296"/>
            <a:ext cx="9144000" cy="32004"/>
          </a:xfrm>
          <a:prstGeom prst="rect">
            <a:avLst/>
          </a:prstGeom>
          <a:solidFill>
            <a:srgbClr val="6F8FAF"/>
          </a:solidFill>
          <a:ln/>
        </p:spPr>
      </p:sp>
      <p:sp>
        <p:nvSpPr>
          <p:cNvPr id="24" name="Text 22"/>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5" name="Text 23"/>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6" name="Text 24"/>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COMPETENCE, EXPANDED</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Competence now includes the tools you choose to use</a:t>
            </a:r>
            <a:endParaRPr lang="en-US" sz="2500" dirty="0"/>
          </a:p>
        </p:txBody>
      </p:sp>
      <p:sp>
        <p:nvSpPr>
          <p:cNvPr id="5" name="Shape 3"/>
          <p:cNvSpPr/>
          <p:nvPr/>
        </p:nvSpPr>
        <p:spPr>
          <a:xfrm>
            <a:off x="457200" y="1463040"/>
            <a:ext cx="8229600" cy="868680"/>
          </a:xfrm>
          <a:prstGeom prst="roundRect">
            <a:avLst>
              <a:gd name="adj" fmla="val 5263"/>
            </a:avLst>
          </a:prstGeom>
          <a:solidFill>
            <a:srgbClr val="102A54"/>
          </a:solidFill>
          <a:ln/>
        </p:spPr>
      </p:sp>
      <p:sp>
        <p:nvSpPr>
          <p:cNvPr id="6" name="Shape 4"/>
          <p:cNvSpPr/>
          <p:nvPr/>
        </p:nvSpPr>
        <p:spPr>
          <a:xfrm>
            <a:off x="457200" y="1463040"/>
            <a:ext cx="64008" cy="868680"/>
          </a:xfrm>
          <a:prstGeom prst="rect">
            <a:avLst/>
          </a:prstGeom>
          <a:solidFill>
            <a:srgbClr val="6F8FAF"/>
          </a:solidFill>
          <a:ln/>
        </p:spPr>
      </p:sp>
      <p:sp>
        <p:nvSpPr>
          <p:cNvPr id="7" name="Text 5"/>
          <p:cNvSpPr/>
          <p:nvPr/>
        </p:nvSpPr>
        <p:spPr>
          <a:xfrm>
            <a:off x="685800" y="1572768"/>
            <a:ext cx="7772400" cy="219456"/>
          </a:xfrm>
          <a:prstGeom prst="rect">
            <a:avLst/>
          </a:prstGeom>
          <a:noFill/>
          <a:ln/>
        </p:spPr>
        <p:txBody>
          <a:bodyPr wrap="square" rtlCol="0" anchor="ctr"/>
          <a:lstStyle/>
          <a:p>
            <a:pPr indent="0" marL="0">
              <a:buNone/>
            </a:pPr>
            <a:r>
              <a:rPr lang="en-US" sz="1000" b="1" spc="200" kern="0" dirty="0">
                <a:solidFill>
                  <a:srgbClr val="6F8FAF"/>
                </a:solidFill>
                <a:latin typeface="Calibri" pitchFamily="34" charset="0"/>
                <a:ea typeface="Calibri" pitchFamily="34" charset="-122"/>
                <a:cs typeface="Calibri" pitchFamily="34" charset="-120"/>
              </a:rPr>
              <a:t>THE SHIFT</a:t>
            </a:r>
            <a:endParaRPr lang="en-US" sz="1000" dirty="0"/>
          </a:p>
        </p:txBody>
      </p:sp>
      <p:sp>
        <p:nvSpPr>
          <p:cNvPr id="8" name="Text 6"/>
          <p:cNvSpPr/>
          <p:nvPr/>
        </p:nvSpPr>
        <p:spPr>
          <a:xfrm>
            <a:off x="685800" y="1792224"/>
            <a:ext cx="7772400" cy="448056"/>
          </a:xfrm>
          <a:prstGeom prst="rect">
            <a:avLst/>
          </a:prstGeom>
          <a:noFill/>
          <a:ln/>
        </p:spPr>
        <p:txBody>
          <a:bodyPr wrap="square" rtlCol="0" anchor="t"/>
          <a:lstStyle/>
          <a:p>
            <a:pPr indent="0" marL="0">
              <a:lnSpc>
                <a:spcPts val="1900"/>
              </a:lnSpc>
              <a:buNone/>
            </a:pPr>
            <a:r>
              <a:rPr lang="en-US" sz="1500" dirty="0">
                <a:solidFill>
                  <a:srgbClr val="FFFFFF"/>
                </a:solidFill>
                <a:latin typeface="Georgia" pitchFamily="34" charset="0"/>
                <a:ea typeface="Georgia" pitchFamily="34" charset="-122"/>
                <a:cs typeface="Georgia" pitchFamily="34" charset="-120"/>
              </a:rPr>
              <a:t>Knowing the law is no longer enough on its own. Knowing the benefits and risks of the technology you use is now part of competent practice.</a:t>
            </a:r>
            <a:endParaRPr lang="en-US" sz="1500" dirty="0"/>
          </a:p>
        </p:txBody>
      </p:sp>
      <p:sp>
        <p:nvSpPr>
          <p:cNvPr id="9" name="Shape 7"/>
          <p:cNvSpPr/>
          <p:nvPr/>
        </p:nvSpPr>
        <p:spPr>
          <a:xfrm rot="2700000">
            <a:off x="475488" y="2560320"/>
            <a:ext cx="118872" cy="118872"/>
          </a:xfrm>
          <a:prstGeom prst="rect">
            <a:avLst/>
          </a:prstGeom>
          <a:solidFill>
            <a:srgbClr val="6F8FAF"/>
          </a:solidFill>
          <a:ln/>
        </p:spPr>
      </p:sp>
      <p:sp>
        <p:nvSpPr>
          <p:cNvPr id="10" name="Text 8"/>
          <p:cNvSpPr/>
          <p:nvPr/>
        </p:nvSpPr>
        <p:spPr>
          <a:xfrm>
            <a:off x="768096" y="2478024"/>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You do not need to be an engineer, you need to know the failure modes</a:t>
            </a:r>
            <a:endParaRPr lang="en-US" sz="1550" dirty="0"/>
          </a:p>
        </p:txBody>
      </p:sp>
      <p:sp>
        <p:nvSpPr>
          <p:cNvPr id="11" name="Shape 9"/>
          <p:cNvSpPr/>
          <p:nvPr/>
        </p:nvSpPr>
        <p:spPr>
          <a:xfrm rot="2700000">
            <a:off x="475488" y="3017520"/>
            <a:ext cx="118872" cy="118872"/>
          </a:xfrm>
          <a:prstGeom prst="rect">
            <a:avLst/>
          </a:prstGeom>
          <a:solidFill>
            <a:srgbClr val="6F8FAF"/>
          </a:solidFill>
          <a:ln/>
        </p:spPr>
      </p:sp>
      <p:sp>
        <p:nvSpPr>
          <p:cNvPr id="12" name="Text 10"/>
          <p:cNvSpPr/>
          <p:nvPr/>
        </p:nvSpPr>
        <p:spPr>
          <a:xfrm>
            <a:off x="768096" y="2935224"/>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Understand what the tool keeps, trains on, and exposes</a:t>
            </a:r>
            <a:endParaRPr lang="en-US" sz="1550" dirty="0"/>
          </a:p>
        </p:txBody>
      </p:sp>
      <p:sp>
        <p:nvSpPr>
          <p:cNvPr id="13" name="Shape 11"/>
          <p:cNvSpPr/>
          <p:nvPr/>
        </p:nvSpPr>
        <p:spPr>
          <a:xfrm rot="2700000">
            <a:off x="475488" y="3474720"/>
            <a:ext cx="118872" cy="118872"/>
          </a:xfrm>
          <a:prstGeom prst="rect">
            <a:avLst/>
          </a:prstGeom>
          <a:solidFill>
            <a:srgbClr val="6F8FAF"/>
          </a:solidFill>
          <a:ln/>
        </p:spPr>
      </p:sp>
      <p:sp>
        <p:nvSpPr>
          <p:cNvPr id="14" name="Text 12"/>
          <p:cNvSpPr/>
          <p:nvPr/>
        </p:nvSpPr>
        <p:spPr>
          <a:xfrm>
            <a:off x="768096" y="3392424"/>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Know when a task is a poor fit for a general chatbot</a:t>
            </a:r>
            <a:endParaRPr lang="en-US" sz="1550" dirty="0"/>
          </a:p>
        </p:txBody>
      </p:sp>
      <p:sp>
        <p:nvSpPr>
          <p:cNvPr id="15" name="Shape 13"/>
          <p:cNvSpPr/>
          <p:nvPr/>
        </p:nvSpPr>
        <p:spPr>
          <a:xfrm rot="2700000">
            <a:off x="475488" y="3931920"/>
            <a:ext cx="118872" cy="118872"/>
          </a:xfrm>
          <a:prstGeom prst="rect">
            <a:avLst/>
          </a:prstGeom>
          <a:solidFill>
            <a:srgbClr val="6F8FAF"/>
          </a:solidFill>
          <a:ln/>
        </p:spPr>
      </p:sp>
      <p:sp>
        <p:nvSpPr>
          <p:cNvPr id="16" name="Text 14"/>
          <p:cNvSpPr/>
          <p:nvPr/>
        </p:nvSpPr>
        <p:spPr>
          <a:xfrm>
            <a:off x="768096" y="3849624"/>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Ask for help or decline the tool when it exceeds your understanding</a:t>
            </a:r>
            <a:endParaRPr lang="en-US" sz="1550" dirty="0"/>
          </a:p>
        </p:txBody>
      </p:sp>
      <p:sp>
        <p:nvSpPr>
          <p:cNvPr id="17" name="Shape 15"/>
          <p:cNvSpPr/>
          <p:nvPr/>
        </p:nvSpPr>
        <p:spPr>
          <a:xfrm>
            <a:off x="0" y="4686300"/>
            <a:ext cx="9144000" cy="457200"/>
          </a:xfrm>
          <a:prstGeom prst="rect">
            <a:avLst/>
          </a:prstGeom>
          <a:solidFill>
            <a:srgbClr val="102A54"/>
          </a:solidFill>
          <a:ln/>
        </p:spPr>
      </p:sp>
      <p:sp>
        <p:nvSpPr>
          <p:cNvPr id="18" name="Shape 16"/>
          <p:cNvSpPr/>
          <p:nvPr/>
        </p:nvSpPr>
        <p:spPr>
          <a:xfrm>
            <a:off x="0" y="4654296"/>
            <a:ext cx="9144000" cy="32004"/>
          </a:xfrm>
          <a:prstGeom prst="rect">
            <a:avLst/>
          </a:prstGeom>
          <a:solidFill>
            <a:srgbClr val="6F8FAF"/>
          </a:solidFill>
          <a:ln/>
        </p:spPr>
      </p:sp>
      <p:sp>
        <p:nvSpPr>
          <p:cNvPr id="19" name="Text 1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0" name="Text 1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1" name="Text 1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FAILURE ONE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Hallucinated case law is a feature of how models work</a:t>
            </a:r>
            <a:endParaRPr lang="en-US" sz="2500" dirty="0"/>
          </a:p>
        </p:txBody>
      </p:sp>
      <p:sp>
        <p:nvSpPr>
          <p:cNvPr id="5" name="Shape 3"/>
          <p:cNvSpPr/>
          <p:nvPr/>
        </p:nvSpPr>
        <p:spPr>
          <a:xfrm>
            <a:off x="457200" y="1463040"/>
            <a:ext cx="3977640" cy="2286000"/>
          </a:xfrm>
          <a:prstGeom prst="roundRect">
            <a:avLst>
              <a:gd name="adj" fmla="val 2000"/>
            </a:avLst>
          </a:prstGeom>
          <a:solidFill>
            <a:srgbClr val="F7F9FC"/>
          </a:solidFill>
          <a:ln w="12700">
            <a:solidFill>
              <a:srgbClr val="D8DEE6"/>
            </a:solidFill>
            <a:prstDash val="solid"/>
          </a:ln>
        </p:spPr>
      </p:sp>
      <p:sp>
        <p:nvSpPr>
          <p:cNvPr id="6" name="Shape 4"/>
          <p:cNvSpPr/>
          <p:nvPr/>
        </p:nvSpPr>
        <p:spPr>
          <a:xfrm>
            <a:off x="457200" y="1463040"/>
            <a:ext cx="3977640" cy="64008"/>
          </a:xfrm>
          <a:prstGeom prst="rect">
            <a:avLst/>
          </a:prstGeom>
          <a:solidFill>
            <a:srgbClr val="102A54"/>
          </a:solidFill>
          <a:ln/>
        </p:spPr>
      </p:sp>
      <p:sp>
        <p:nvSpPr>
          <p:cNvPr id="7" name="Text 5"/>
          <p:cNvSpPr/>
          <p:nvPr/>
        </p:nvSpPr>
        <p:spPr>
          <a:xfrm>
            <a:off x="64008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What a chatbot does</a:t>
            </a:r>
            <a:endParaRPr lang="en-US" sz="1500" dirty="0"/>
          </a:p>
        </p:txBody>
      </p:sp>
      <p:sp>
        <p:nvSpPr>
          <p:cNvPr id="8" name="Text 6"/>
          <p:cNvSpPr/>
          <p:nvPr/>
        </p:nvSpPr>
        <p:spPr>
          <a:xfrm>
            <a:off x="71323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Predicts the next likely words from patterns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Produces text that reads like real citations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Has no built-in check that a case exists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States confident answers either way</a:t>
            </a:r>
            <a:endParaRPr lang="en-US" sz="1250" dirty="0"/>
          </a:p>
        </p:txBody>
      </p:sp>
      <p:sp>
        <p:nvSpPr>
          <p:cNvPr id="9" name="Shape 7"/>
          <p:cNvSpPr/>
          <p:nvPr/>
        </p:nvSpPr>
        <p:spPr>
          <a:xfrm>
            <a:off x="4709160" y="1463040"/>
            <a:ext cx="3977640" cy="2286000"/>
          </a:xfrm>
          <a:prstGeom prst="roundRect">
            <a:avLst>
              <a:gd name="adj" fmla="val 2000"/>
            </a:avLst>
          </a:prstGeom>
          <a:solidFill>
            <a:srgbClr val="F7F9FC"/>
          </a:solidFill>
          <a:ln w="12700">
            <a:solidFill>
              <a:srgbClr val="D8DEE6"/>
            </a:solidFill>
            <a:prstDash val="solid"/>
          </a:ln>
        </p:spPr>
      </p:sp>
      <p:sp>
        <p:nvSpPr>
          <p:cNvPr id="10" name="Shape 8"/>
          <p:cNvSpPr/>
          <p:nvPr/>
        </p:nvSpPr>
        <p:spPr>
          <a:xfrm>
            <a:off x="4709160" y="1463040"/>
            <a:ext cx="3977640" cy="64008"/>
          </a:xfrm>
          <a:prstGeom prst="rect">
            <a:avLst/>
          </a:prstGeom>
          <a:solidFill>
            <a:srgbClr val="6F8FAF"/>
          </a:solidFill>
          <a:ln/>
        </p:spPr>
      </p:sp>
      <p:sp>
        <p:nvSpPr>
          <p:cNvPr id="11" name="Text 9"/>
          <p:cNvSpPr/>
          <p:nvPr/>
        </p:nvSpPr>
        <p:spPr>
          <a:xfrm>
            <a:off x="489204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What that looks like</a:t>
            </a:r>
            <a:endParaRPr lang="en-US" sz="1500" dirty="0"/>
          </a:p>
        </p:txBody>
      </p:sp>
      <p:sp>
        <p:nvSpPr>
          <p:cNvPr id="12" name="Text 10"/>
          <p:cNvSpPr/>
          <p:nvPr/>
        </p:nvSpPr>
        <p:spPr>
          <a:xfrm>
            <a:off x="496519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A plausible style, a fabricated reporter cite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Real parties attached to a holding they never made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Quotations that appear nowhere in the opinion</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A brief that collapses under a judge's search</a:t>
            </a:r>
            <a:endParaRPr lang="en-US" sz="1250" dirty="0"/>
          </a:p>
        </p:txBody>
      </p:sp>
      <p:sp>
        <p:nvSpPr>
          <p:cNvPr id="13" name="Shape 11"/>
          <p:cNvSpPr/>
          <p:nvPr/>
        </p:nvSpPr>
        <p:spPr>
          <a:xfrm>
            <a:off x="457200" y="3895344"/>
            <a:ext cx="8229600" cy="640080"/>
          </a:xfrm>
          <a:prstGeom prst="roundRect">
            <a:avLst>
              <a:gd name="adj" fmla="val 7143"/>
            </a:avLst>
          </a:prstGeom>
          <a:solidFill>
            <a:srgbClr val="102A54"/>
          </a:solidFill>
          <a:ln/>
        </p:spPr>
      </p:sp>
      <p:sp>
        <p:nvSpPr>
          <p:cNvPr id="14" name="Text 12"/>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The pattern is documented.</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Courts across the country have sanctioned lawyers who filed briefs built on citations the AI invented.</a:t>
            </a:r>
            <a:endParaRPr lang="en-US" sz="13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LOOK CLOSELY</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Anatomy of a fabricated citation</a:t>
            </a:r>
            <a:endParaRPr lang="en-US" sz="2500" dirty="0"/>
          </a:p>
        </p:txBody>
      </p:sp>
      <p:sp>
        <p:nvSpPr>
          <p:cNvPr id="5" name="Shape 3"/>
          <p:cNvSpPr/>
          <p:nvPr/>
        </p:nvSpPr>
        <p:spPr>
          <a:xfrm>
            <a:off x="457200" y="1463040"/>
            <a:ext cx="8229600" cy="987552"/>
          </a:xfrm>
          <a:prstGeom prst="roundRect">
            <a:avLst>
              <a:gd name="adj" fmla="val 3704"/>
            </a:avLst>
          </a:prstGeom>
          <a:solidFill>
            <a:srgbClr val="0E1B33"/>
          </a:solidFill>
          <a:ln w="12700">
            <a:solidFill>
              <a:srgbClr val="1E3A66"/>
            </a:solidFill>
            <a:prstDash val="solid"/>
          </a:ln>
        </p:spPr>
      </p:sp>
      <p:sp>
        <p:nvSpPr>
          <p:cNvPr id="6" name="Text 4"/>
          <p:cNvSpPr/>
          <p:nvPr/>
        </p:nvSpPr>
        <p:spPr>
          <a:xfrm>
            <a:off x="640080" y="1554480"/>
            <a:ext cx="7863840" cy="804672"/>
          </a:xfrm>
          <a:prstGeom prst="rect">
            <a:avLst/>
          </a:prstGeom>
          <a:noFill/>
          <a:ln/>
        </p:spPr>
        <p:txBody>
          <a:bodyPr wrap="square" rtlCol="0" anchor="t"/>
          <a:lstStyle/>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State v. Harrelson, 482 S.W.3d 917 (Tex. Crim. App. 2016)</a:t>
            </a:r>
            <a:endParaRPr lang="en-US" sz="1200" dirty="0"/>
          </a:p>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"A warrantless blood draw following a routine traffic stop</a:t>
            </a:r>
            <a:endParaRPr lang="en-US" sz="1200" dirty="0"/>
          </a:p>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 violates the Fourth Amendment absent exigent circumstances."</a:t>
            </a:r>
            <a:endParaRPr lang="en-US" sz="1200" dirty="0"/>
          </a:p>
        </p:txBody>
      </p:sp>
      <p:sp>
        <p:nvSpPr>
          <p:cNvPr id="7" name="Shape 5"/>
          <p:cNvSpPr/>
          <p:nvPr/>
        </p:nvSpPr>
        <p:spPr>
          <a:xfrm>
            <a:off x="457200" y="2596896"/>
            <a:ext cx="8229600" cy="640080"/>
          </a:xfrm>
          <a:prstGeom prst="roundRect">
            <a:avLst>
              <a:gd name="adj" fmla="val 7143"/>
            </a:avLst>
          </a:prstGeom>
          <a:solidFill>
            <a:srgbClr val="102A54"/>
          </a:solidFill>
          <a:ln/>
        </p:spPr>
      </p:sp>
      <p:sp>
        <p:nvSpPr>
          <p:cNvPr id="8" name="Text 6"/>
          <p:cNvSpPr/>
          <p:nvPr/>
        </p:nvSpPr>
        <p:spPr>
          <a:xfrm>
            <a:off x="731520" y="2670048"/>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Verification rule.</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It looks right and reads right, which is exactly why it is dangerous. If you cannot pull the opinion yourself from a real database, you do not have a citation. You have a hypothesis.</a:t>
            </a:r>
            <a:endParaRPr lang="en-US" sz="1350" dirty="0"/>
          </a:p>
        </p:txBody>
      </p:sp>
      <p:sp>
        <p:nvSpPr>
          <p:cNvPr id="9" name="Shape 7"/>
          <p:cNvSpPr/>
          <p:nvPr/>
        </p:nvSpPr>
        <p:spPr>
          <a:xfrm>
            <a:off x="0" y="4686300"/>
            <a:ext cx="9144000" cy="457200"/>
          </a:xfrm>
          <a:prstGeom prst="rect">
            <a:avLst/>
          </a:prstGeom>
          <a:solidFill>
            <a:srgbClr val="102A54"/>
          </a:solidFill>
          <a:ln/>
        </p:spPr>
      </p:sp>
      <p:sp>
        <p:nvSpPr>
          <p:cNvPr id="10" name="Shape 8"/>
          <p:cNvSpPr/>
          <p:nvPr/>
        </p:nvSpPr>
        <p:spPr>
          <a:xfrm>
            <a:off x="0" y="4654296"/>
            <a:ext cx="9144000" cy="32004"/>
          </a:xfrm>
          <a:prstGeom prst="rect">
            <a:avLst/>
          </a:prstGeom>
          <a:solidFill>
            <a:srgbClr val="6F8FAF"/>
          </a:solidFill>
          <a:ln/>
        </p:spPr>
      </p:sp>
      <p:sp>
        <p:nvSpPr>
          <p:cNvPr id="11" name="Text 9"/>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2" name="Text 10"/>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3" name="Text 11"/>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FAILURE TWO</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Client data can leak the moment you paste it</a:t>
            </a:r>
            <a:endParaRPr lang="en-US" sz="2500" dirty="0"/>
          </a:p>
        </p:txBody>
      </p:sp>
      <p:sp>
        <p:nvSpPr>
          <p:cNvPr id="5" name="Shape 3"/>
          <p:cNvSpPr/>
          <p:nvPr/>
        </p:nvSpPr>
        <p:spPr>
          <a:xfrm>
            <a:off x="457200" y="1463040"/>
            <a:ext cx="3977640" cy="2240280"/>
          </a:xfrm>
          <a:prstGeom prst="roundRect">
            <a:avLst>
              <a:gd name="adj" fmla="val 2041"/>
            </a:avLst>
          </a:prstGeom>
          <a:solidFill>
            <a:srgbClr val="E4EDF7"/>
          </a:solidFill>
          <a:ln w="15240">
            <a:solidFill>
              <a:srgbClr val="93AFCE"/>
            </a:solidFill>
            <a:prstDash val="solid"/>
          </a:ln>
        </p:spPr>
      </p:sp>
      <p:sp>
        <p:nvSpPr>
          <p:cNvPr id="6" name="Text 4"/>
          <p:cNvSpPr/>
          <p:nvPr/>
        </p:nvSpPr>
        <p:spPr>
          <a:xfrm>
            <a:off x="640080" y="1591056"/>
            <a:ext cx="3611880" cy="320040"/>
          </a:xfrm>
          <a:prstGeom prst="rect">
            <a:avLst/>
          </a:prstGeom>
          <a:noFill/>
          <a:ln/>
        </p:spPr>
        <p:txBody>
          <a:bodyPr wrap="square" rtlCol="0" anchor="ctr"/>
          <a:lstStyle/>
          <a:p>
            <a:pPr indent="0" marL="0">
              <a:buNone/>
            </a:pPr>
            <a:r>
              <a:rPr lang="en-US" sz="1400" b="1" dirty="0">
                <a:solidFill>
                  <a:srgbClr val="2F5F8F"/>
                </a:solidFill>
                <a:latin typeface="Georgia" pitchFamily="34" charset="0"/>
                <a:ea typeface="Georgia" pitchFamily="34" charset="-122"/>
                <a:cs typeface="Georgia" pitchFamily="34" charset="-120"/>
              </a:rPr>
              <a:t>How to work safely</a:t>
            </a:r>
            <a:endParaRPr lang="en-US" sz="1400" dirty="0"/>
          </a:p>
        </p:txBody>
      </p:sp>
      <p:sp>
        <p:nvSpPr>
          <p:cNvPr id="7" name="Text 5"/>
          <p:cNvSpPr/>
          <p:nvPr/>
        </p:nvSpPr>
        <p:spPr>
          <a:xfrm>
            <a:off x="713232" y="2011680"/>
            <a:ext cx="3520440" cy="158191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Strip identifying details, or use a fictional stand-in</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Choose tools with enterprise terms and no training on your data</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Keep privileged facts out of general chatbots entirely</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Assume anything typed could be seen, then act accordingly</a:t>
            </a:r>
            <a:endParaRPr lang="en-US" sz="1200" dirty="0"/>
          </a:p>
        </p:txBody>
      </p:sp>
      <p:sp>
        <p:nvSpPr>
          <p:cNvPr id="8" name="Shape 6"/>
          <p:cNvSpPr/>
          <p:nvPr/>
        </p:nvSpPr>
        <p:spPr>
          <a:xfrm>
            <a:off x="4709160" y="1463040"/>
            <a:ext cx="3977640" cy="2240280"/>
          </a:xfrm>
          <a:prstGeom prst="roundRect">
            <a:avLst>
              <a:gd name="adj" fmla="val 2041"/>
            </a:avLst>
          </a:prstGeom>
          <a:solidFill>
            <a:srgbClr val="F1F3F6"/>
          </a:solidFill>
          <a:ln w="15240">
            <a:solidFill>
              <a:srgbClr val="CBD4DE"/>
            </a:solidFill>
            <a:prstDash val="solid"/>
          </a:ln>
        </p:spPr>
      </p:sp>
      <p:sp>
        <p:nvSpPr>
          <p:cNvPr id="9" name="Text 7"/>
          <p:cNvSpPr/>
          <p:nvPr/>
        </p:nvSpPr>
        <p:spPr>
          <a:xfrm>
            <a:off x="4892040" y="1591056"/>
            <a:ext cx="3611880" cy="320040"/>
          </a:xfrm>
          <a:prstGeom prst="rect">
            <a:avLst/>
          </a:prstGeom>
          <a:noFill/>
          <a:ln/>
        </p:spPr>
        <p:txBody>
          <a:bodyPr wrap="square" rtlCol="0" anchor="ctr"/>
          <a:lstStyle/>
          <a:p>
            <a:pPr indent="0" marL="0">
              <a:buNone/>
            </a:pPr>
            <a:r>
              <a:rPr lang="en-US" sz="1400" b="1" dirty="0">
                <a:solidFill>
                  <a:srgbClr val="102A54"/>
                </a:solidFill>
                <a:latin typeface="Georgia" pitchFamily="34" charset="0"/>
                <a:ea typeface="Georgia" pitchFamily="34" charset="-122"/>
                <a:cs typeface="Georgia" pitchFamily="34" charset="-120"/>
              </a:rPr>
              <a:t>Where the risk lives</a:t>
            </a:r>
            <a:endParaRPr lang="en-US" sz="1400" dirty="0"/>
          </a:p>
        </p:txBody>
      </p:sp>
      <p:sp>
        <p:nvSpPr>
          <p:cNvPr id="10" name="Text 8"/>
          <p:cNvSpPr/>
          <p:nvPr/>
        </p:nvSpPr>
        <p:spPr>
          <a:xfrm>
            <a:off x="4965192" y="2011680"/>
            <a:ext cx="3520440" cy="158191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Free and consumer tools may train on what you type</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Inputs can be retained, logged, and reviewed by humans</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Client names and facts can identify a matter instantly</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A convenience login is not a client data agreement</a:t>
            </a:r>
            <a:endParaRPr lang="en-US" sz="1200" dirty="0"/>
          </a:p>
        </p:txBody>
      </p:sp>
      <p:sp>
        <p:nvSpPr>
          <p:cNvPr id="11" name="Shape 9"/>
          <p:cNvSpPr/>
          <p:nvPr/>
        </p:nvSpPr>
        <p:spPr>
          <a:xfrm>
            <a:off x="0" y="4686300"/>
            <a:ext cx="9144000" cy="457200"/>
          </a:xfrm>
          <a:prstGeom prst="rect">
            <a:avLst/>
          </a:prstGeom>
          <a:solidFill>
            <a:srgbClr val="102A54"/>
          </a:solidFill>
          <a:ln/>
        </p:spPr>
      </p:sp>
      <p:sp>
        <p:nvSpPr>
          <p:cNvPr id="12" name="Shape 10"/>
          <p:cNvSpPr/>
          <p:nvPr/>
        </p:nvSpPr>
        <p:spPr>
          <a:xfrm>
            <a:off x="0" y="4654296"/>
            <a:ext cx="9144000" cy="32004"/>
          </a:xfrm>
          <a:prstGeom prst="rect">
            <a:avLst/>
          </a:prstGeom>
          <a:solidFill>
            <a:srgbClr val="6F8FAF"/>
          </a:solidFill>
          <a:ln/>
        </p:spPr>
      </p:sp>
      <p:sp>
        <p:nvSpPr>
          <p:cNvPr id="13" name="Text 1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4" name="Text 1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5" name="Text 1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THE BOTTOM LINE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AI output is never a substitute for legal judgment</a:t>
            </a:r>
            <a:endParaRPr lang="en-US" sz="2500" dirty="0"/>
          </a:p>
        </p:txBody>
      </p:sp>
      <p:sp>
        <p:nvSpPr>
          <p:cNvPr id="5" name="Shape 3"/>
          <p:cNvSpPr/>
          <p:nvPr/>
        </p:nvSpPr>
        <p:spPr>
          <a:xfrm>
            <a:off x="457200" y="1463040"/>
            <a:ext cx="8229600" cy="868680"/>
          </a:xfrm>
          <a:prstGeom prst="roundRect">
            <a:avLst>
              <a:gd name="adj" fmla="val 5263"/>
            </a:avLst>
          </a:prstGeom>
          <a:solidFill>
            <a:srgbClr val="C8D2DC"/>
          </a:solidFill>
          <a:ln/>
        </p:spPr>
      </p:sp>
      <p:sp>
        <p:nvSpPr>
          <p:cNvPr id="6" name="Shape 4"/>
          <p:cNvSpPr/>
          <p:nvPr/>
        </p:nvSpPr>
        <p:spPr>
          <a:xfrm>
            <a:off x="457200" y="1463040"/>
            <a:ext cx="64008" cy="868680"/>
          </a:xfrm>
          <a:prstGeom prst="rect">
            <a:avLst/>
          </a:prstGeom>
          <a:solidFill>
            <a:srgbClr val="102A54"/>
          </a:solidFill>
          <a:ln/>
        </p:spPr>
      </p:sp>
      <p:sp>
        <p:nvSpPr>
          <p:cNvPr id="7" name="Text 5"/>
          <p:cNvSpPr/>
          <p:nvPr/>
        </p:nvSpPr>
        <p:spPr>
          <a:xfrm>
            <a:off x="685800" y="1572768"/>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HOLD THIS</a:t>
            </a:r>
            <a:endParaRPr lang="en-US" sz="1000" dirty="0"/>
          </a:p>
        </p:txBody>
      </p:sp>
      <p:sp>
        <p:nvSpPr>
          <p:cNvPr id="8" name="Text 6"/>
          <p:cNvSpPr/>
          <p:nvPr/>
        </p:nvSpPr>
        <p:spPr>
          <a:xfrm>
            <a:off x="685800" y="1792224"/>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The tool can draft, summarize, and suggest. It cannot be responsible. Responsibility has your name on it, every time.</a:t>
            </a:r>
            <a:endParaRPr lang="en-US" sz="1500" dirty="0"/>
          </a:p>
        </p:txBody>
      </p:sp>
      <p:sp>
        <p:nvSpPr>
          <p:cNvPr id="9" name="Shape 7"/>
          <p:cNvSpPr/>
          <p:nvPr/>
        </p:nvSpPr>
        <p:spPr>
          <a:xfrm>
            <a:off x="457200" y="2478024"/>
            <a:ext cx="2621280" cy="1554480"/>
          </a:xfrm>
          <a:prstGeom prst="roundRect">
            <a:avLst>
              <a:gd name="adj" fmla="val 2941"/>
            </a:avLst>
          </a:prstGeom>
          <a:solidFill>
            <a:srgbClr val="F7F9FC"/>
          </a:solidFill>
          <a:ln w="12700">
            <a:solidFill>
              <a:srgbClr val="D8DEE6"/>
            </a:solidFill>
            <a:prstDash val="solid"/>
          </a:ln>
        </p:spPr>
      </p:sp>
      <p:sp>
        <p:nvSpPr>
          <p:cNvPr id="10" name="Shape 8"/>
          <p:cNvSpPr/>
          <p:nvPr/>
        </p:nvSpPr>
        <p:spPr>
          <a:xfrm>
            <a:off x="457200" y="2478024"/>
            <a:ext cx="2621280" cy="54864"/>
          </a:xfrm>
          <a:prstGeom prst="rect">
            <a:avLst/>
          </a:prstGeom>
          <a:solidFill>
            <a:srgbClr val="6F8FAF"/>
          </a:solidFill>
          <a:ln/>
        </p:spPr>
      </p:sp>
      <p:sp>
        <p:nvSpPr>
          <p:cNvPr id="11" name="Shape 9"/>
          <p:cNvSpPr/>
          <p:nvPr/>
        </p:nvSpPr>
        <p:spPr>
          <a:xfrm>
            <a:off x="621792" y="2642616"/>
            <a:ext cx="365760" cy="365760"/>
          </a:xfrm>
          <a:prstGeom prst="ellipse">
            <a:avLst/>
          </a:prstGeom>
          <a:solidFill>
            <a:srgbClr val="102A54"/>
          </a:solidFill>
          <a:ln/>
        </p:spPr>
      </p:sp>
      <p:sp>
        <p:nvSpPr>
          <p:cNvPr id="12" name="Text 10"/>
          <p:cNvSpPr/>
          <p:nvPr/>
        </p:nvSpPr>
        <p:spPr>
          <a:xfrm>
            <a:off x="621792" y="2642616"/>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3" name="Text 11"/>
          <p:cNvSpPr/>
          <p:nvPr/>
        </p:nvSpPr>
        <p:spPr>
          <a:xfrm>
            <a:off x="603504" y="3081528"/>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It drafts</a:t>
            </a:r>
            <a:endParaRPr lang="en-US" sz="1250" dirty="0"/>
          </a:p>
        </p:txBody>
      </p:sp>
      <p:sp>
        <p:nvSpPr>
          <p:cNvPr id="14" name="Text 12"/>
          <p:cNvSpPr/>
          <p:nvPr/>
        </p:nvSpPr>
        <p:spPr>
          <a:xfrm>
            <a:off x="603504" y="3392424"/>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You decide whether the draft is right, complete, and fit for this client.</a:t>
            </a:r>
            <a:endParaRPr lang="en-US" sz="1050" dirty="0"/>
          </a:p>
        </p:txBody>
      </p:sp>
      <p:sp>
        <p:nvSpPr>
          <p:cNvPr id="15" name="Shape 13"/>
          <p:cNvSpPr/>
          <p:nvPr/>
        </p:nvSpPr>
        <p:spPr>
          <a:xfrm>
            <a:off x="3261360" y="2478024"/>
            <a:ext cx="2621280" cy="1554480"/>
          </a:xfrm>
          <a:prstGeom prst="roundRect">
            <a:avLst>
              <a:gd name="adj" fmla="val 2941"/>
            </a:avLst>
          </a:prstGeom>
          <a:solidFill>
            <a:srgbClr val="F7F9FC"/>
          </a:solidFill>
          <a:ln w="12700">
            <a:solidFill>
              <a:srgbClr val="D8DEE6"/>
            </a:solidFill>
            <a:prstDash val="solid"/>
          </a:ln>
        </p:spPr>
      </p:sp>
      <p:sp>
        <p:nvSpPr>
          <p:cNvPr id="16" name="Shape 14"/>
          <p:cNvSpPr/>
          <p:nvPr/>
        </p:nvSpPr>
        <p:spPr>
          <a:xfrm>
            <a:off x="3261360" y="2478024"/>
            <a:ext cx="2621280" cy="54864"/>
          </a:xfrm>
          <a:prstGeom prst="rect">
            <a:avLst/>
          </a:prstGeom>
          <a:solidFill>
            <a:srgbClr val="6F8FAF"/>
          </a:solidFill>
          <a:ln/>
        </p:spPr>
      </p:sp>
      <p:sp>
        <p:nvSpPr>
          <p:cNvPr id="17" name="Shape 15"/>
          <p:cNvSpPr/>
          <p:nvPr/>
        </p:nvSpPr>
        <p:spPr>
          <a:xfrm>
            <a:off x="3425952" y="2642616"/>
            <a:ext cx="365760" cy="365760"/>
          </a:xfrm>
          <a:prstGeom prst="ellipse">
            <a:avLst/>
          </a:prstGeom>
          <a:solidFill>
            <a:srgbClr val="102A54"/>
          </a:solidFill>
          <a:ln/>
        </p:spPr>
      </p:sp>
      <p:sp>
        <p:nvSpPr>
          <p:cNvPr id="18" name="Text 16"/>
          <p:cNvSpPr/>
          <p:nvPr/>
        </p:nvSpPr>
        <p:spPr>
          <a:xfrm>
            <a:off x="3425952" y="2642616"/>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9" name="Text 17"/>
          <p:cNvSpPr/>
          <p:nvPr/>
        </p:nvSpPr>
        <p:spPr>
          <a:xfrm>
            <a:off x="3407664" y="3081528"/>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It suggests</a:t>
            </a:r>
            <a:endParaRPr lang="en-US" sz="1250" dirty="0"/>
          </a:p>
        </p:txBody>
      </p:sp>
      <p:sp>
        <p:nvSpPr>
          <p:cNvPr id="20" name="Text 18"/>
          <p:cNvSpPr/>
          <p:nvPr/>
        </p:nvSpPr>
        <p:spPr>
          <a:xfrm>
            <a:off x="3407664" y="3392424"/>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You choose the strategy, weigh the risk, and answer to the client and court.</a:t>
            </a:r>
            <a:endParaRPr lang="en-US" sz="1050" dirty="0"/>
          </a:p>
        </p:txBody>
      </p:sp>
      <p:sp>
        <p:nvSpPr>
          <p:cNvPr id="21" name="Shape 19"/>
          <p:cNvSpPr/>
          <p:nvPr/>
        </p:nvSpPr>
        <p:spPr>
          <a:xfrm>
            <a:off x="6065520" y="2478024"/>
            <a:ext cx="2621280" cy="1554480"/>
          </a:xfrm>
          <a:prstGeom prst="roundRect">
            <a:avLst>
              <a:gd name="adj" fmla="val 2941"/>
            </a:avLst>
          </a:prstGeom>
          <a:solidFill>
            <a:srgbClr val="F7F9FC"/>
          </a:solidFill>
          <a:ln w="12700">
            <a:solidFill>
              <a:srgbClr val="D8DEE6"/>
            </a:solidFill>
            <a:prstDash val="solid"/>
          </a:ln>
        </p:spPr>
      </p:sp>
      <p:sp>
        <p:nvSpPr>
          <p:cNvPr id="22" name="Shape 20"/>
          <p:cNvSpPr/>
          <p:nvPr/>
        </p:nvSpPr>
        <p:spPr>
          <a:xfrm>
            <a:off x="6065520" y="2478024"/>
            <a:ext cx="2621280" cy="54864"/>
          </a:xfrm>
          <a:prstGeom prst="rect">
            <a:avLst/>
          </a:prstGeom>
          <a:solidFill>
            <a:srgbClr val="6F8FAF"/>
          </a:solidFill>
          <a:ln/>
        </p:spPr>
      </p:sp>
      <p:sp>
        <p:nvSpPr>
          <p:cNvPr id="23" name="Shape 21"/>
          <p:cNvSpPr/>
          <p:nvPr/>
        </p:nvSpPr>
        <p:spPr>
          <a:xfrm>
            <a:off x="6230112" y="2642616"/>
            <a:ext cx="365760" cy="365760"/>
          </a:xfrm>
          <a:prstGeom prst="ellipse">
            <a:avLst/>
          </a:prstGeom>
          <a:solidFill>
            <a:srgbClr val="102A54"/>
          </a:solidFill>
          <a:ln/>
        </p:spPr>
      </p:sp>
      <p:sp>
        <p:nvSpPr>
          <p:cNvPr id="24" name="Text 22"/>
          <p:cNvSpPr/>
          <p:nvPr/>
        </p:nvSpPr>
        <p:spPr>
          <a:xfrm>
            <a:off x="6230112" y="2642616"/>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5" name="Text 23"/>
          <p:cNvSpPr/>
          <p:nvPr/>
        </p:nvSpPr>
        <p:spPr>
          <a:xfrm>
            <a:off x="6211824" y="3081528"/>
            <a:ext cx="234696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You sign</a:t>
            </a:r>
            <a:endParaRPr lang="en-US" sz="1250" dirty="0"/>
          </a:p>
        </p:txBody>
      </p:sp>
      <p:sp>
        <p:nvSpPr>
          <p:cNvPr id="26" name="Text 24"/>
          <p:cNvSpPr/>
          <p:nvPr/>
        </p:nvSpPr>
        <p:spPr>
          <a:xfrm>
            <a:off x="6211824" y="3392424"/>
            <a:ext cx="234696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Your signature certifies the work. The AI cannot stand behind it, so you must.</a:t>
            </a:r>
            <a:endParaRPr lang="en-US" sz="1050" dirty="0"/>
          </a:p>
        </p:txBody>
      </p:sp>
      <p:sp>
        <p:nvSpPr>
          <p:cNvPr id="27" name="Shape 25"/>
          <p:cNvSpPr/>
          <p:nvPr/>
        </p:nvSpPr>
        <p:spPr>
          <a:xfrm>
            <a:off x="0" y="4686300"/>
            <a:ext cx="9144000" cy="457200"/>
          </a:xfrm>
          <a:prstGeom prst="rect">
            <a:avLst/>
          </a:prstGeom>
          <a:solidFill>
            <a:srgbClr val="102A54"/>
          </a:solidFill>
          <a:ln/>
        </p:spPr>
      </p:sp>
      <p:sp>
        <p:nvSpPr>
          <p:cNvPr id="28" name="Shape 26"/>
          <p:cNvSpPr/>
          <p:nvPr/>
        </p:nvSpPr>
        <p:spPr>
          <a:xfrm>
            <a:off x="0" y="4654296"/>
            <a:ext cx="9144000" cy="32004"/>
          </a:xfrm>
          <a:prstGeom prst="rect">
            <a:avLst/>
          </a:prstGeom>
          <a:solidFill>
            <a:srgbClr val="6F8FAF"/>
          </a:solidFill>
          <a:ln/>
        </p:spPr>
      </p:sp>
      <p:sp>
        <p:nvSpPr>
          <p:cNvPr id="29" name="Text 2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30" name="Text 2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31" name="Text 2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ACTIVITY · CORE · ABOUT 6 MINUTES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Find the fabrication</a:t>
            </a:r>
            <a:endParaRPr lang="en-US" sz="2500" dirty="0"/>
          </a:p>
        </p:txBody>
      </p:sp>
      <p:sp>
        <p:nvSpPr>
          <p:cNvPr id="5" name="Shape 3"/>
          <p:cNvSpPr/>
          <p:nvPr/>
        </p:nvSpPr>
        <p:spPr>
          <a:xfrm>
            <a:off x="457200" y="1463040"/>
            <a:ext cx="8229600" cy="868680"/>
          </a:xfrm>
          <a:prstGeom prst="roundRect">
            <a:avLst>
              <a:gd name="adj" fmla="val 5263"/>
            </a:avLst>
          </a:prstGeom>
          <a:solidFill>
            <a:srgbClr val="C8D2DC"/>
          </a:solidFill>
          <a:ln/>
        </p:spPr>
      </p:sp>
      <p:sp>
        <p:nvSpPr>
          <p:cNvPr id="6" name="Shape 4"/>
          <p:cNvSpPr/>
          <p:nvPr/>
        </p:nvSpPr>
        <p:spPr>
          <a:xfrm>
            <a:off x="457200" y="1463040"/>
            <a:ext cx="64008" cy="868680"/>
          </a:xfrm>
          <a:prstGeom prst="rect">
            <a:avLst/>
          </a:prstGeom>
          <a:solidFill>
            <a:srgbClr val="102A54"/>
          </a:solidFill>
          <a:ln/>
        </p:spPr>
      </p:sp>
      <p:sp>
        <p:nvSpPr>
          <p:cNvPr id="7" name="Text 5"/>
          <p:cNvSpPr/>
          <p:nvPr/>
        </p:nvSpPr>
        <p:spPr>
          <a:xfrm>
            <a:off x="685800" y="1572768"/>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YOUR TASK</a:t>
            </a:r>
            <a:endParaRPr lang="en-US" sz="1000" dirty="0"/>
          </a:p>
        </p:txBody>
      </p:sp>
      <p:sp>
        <p:nvSpPr>
          <p:cNvPr id="8" name="Text 6"/>
          <p:cNvSpPr/>
          <p:nvPr/>
        </p:nvSpPr>
        <p:spPr>
          <a:xfrm>
            <a:off x="685800" y="1792224"/>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Open a free chatbot. Ask it for three Texas cases on a suppression issue of your choice, with citations and one-line holdings. Then try to verify each one in a real source. Mark which you can confirm, which you cannot, and how confident the tool sounded either way.</a:t>
            </a:r>
            <a:endParaRPr lang="en-US" sz="1500" dirty="0"/>
          </a:p>
        </p:txBody>
      </p:sp>
      <p:sp>
        <p:nvSpPr>
          <p:cNvPr id="9" name="Shape 7"/>
          <p:cNvSpPr/>
          <p:nvPr/>
        </p:nvSpPr>
        <p:spPr>
          <a:xfrm>
            <a:off x="457200"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57200" y="2478024"/>
            <a:ext cx="54864" cy="1417320"/>
          </a:xfrm>
          <a:prstGeom prst="rect">
            <a:avLst/>
          </a:prstGeom>
          <a:solidFill>
            <a:srgbClr val="102A54"/>
          </a:solidFill>
          <a:ln/>
        </p:spPr>
      </p:sp>
      <p:sp>
        <p:nvSpPr>
          <p:cNvPr id="11" name="Text 9"/>
          <p:cNvSpPr/>
          <p:nvPr/>
        </p:nvSpPr>
        <p:spPr>
          <a:xfrm>
            <a:off x="621792"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Prompt</a:t>
            </a:r>
            <a:endParaRPr lang="en-US" sz="1350" dirty="0"/>
          </a:p>
        </p:txBody>
      </p:sp>
      <p:sp>
        <p:nvSpPr>
          <p:cNvPr id="12" name="Text 10"/>
          <p:cNvSpPr/>
          <p:nvPr/>
        </p:nvSpPr>
        <p:spPr>
          <a:xfrm>
            <a:off x="621792"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"Give me three Texas cases on [issue], with full citations and a one-sentence holding for each."</a:t>
            </a:r>
            <a:endParaRPr lang="en-US" sz="1100" dirty="0"/>
          </a:p>
        </p:txBody>
      </p:sp>
      <p:sp>
        <p:nvSpPr>
          <p:cNvPr id="13" name="Shape 11"/>
          <p:cNvSpPr/>
          <p:nvPr/>
        </p:nvSpPr>
        <p:spPr>
          <a:xfrm>
            <a:off x="3267456"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3267456" y="2478024"/>
            <a:ext cx="54864" cy="1417320"/>
          </a:xfrm>
          <a:prstGeom prst="rect">
            <a:avLst/>
          </a:prstGeom>
          <a:solidFill>
            <a:srgbClr val="6F8FAF"/>
          </a:solidFill>
          <a:ln/>
        </p:spPr>
      </p:sp>
      <p:sp>
        <p:nvSpPr>
          <p:cNvPr id="15" name="Text 13"/>
          <p:cNvSpPr/>
          <p:nvPr/>
        </p:nvSpPr>
        <p:spPr>
          <a:xfrm>
            <a:off x="3432048"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Verify</a:t>
            </a:r>
            <a:endParaRPr lang="en-US" sz="1350" dirty="0"/>
          </a:p>
        </p:txBody>
      </p:sp>
      <p:sp>
        <p:nvSpPr>
          <p:cNvPr id="16" name="Text 14"/>
          <p:cNvSpPr/>
          <p:nvPr/>
        </p:nvSpPr>
        <p:spPr>
          <a:xfrm>
            <a:off x="3432048"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Search each citation. Can you open the actual opinion and find that language?</a:t>
            </a:r>
            <a:endParaRPr lang="en-US" sz="1100" dirty="0"/>
          </a:p>
        </p:txBody>
      </p:sp>
      <p:sp>
        <p:nvSpPr>
          <p:cNvPr id="17" name="Shape 15"/>
          <p:cNvSpPr/>
          <p:nvPr/>
        </p:nvSpPr>
        <p:spPr>
          <a:xfrm>
            <a:off x="6077712"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6077712" y="2478024"/>
            <a:ext cx="54864" cy="1417320"/>
          </a:xfrm>
          <a:prstGeom prst="rect">
            <a:avLst/>
          </a:prstGeom>
          <a:solidFill>
            <a:srgbClr val="102A54"/>
          </a:solidFill>
          <a:ln/>
        </p:spPr>
      </p:sp>
      <p:sp>
        <p:nvSpPr>
          <p:cNvPr id="19" name="Text 17"/>
          <p:cNvSpPr/>
          <p:nvPr/>
        </p:nvSpPr>
        <p:spPr>
          <a:xfrm>
            <a:off x="6242304"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Record</a:t>
            </a:r>
            <a:endParaRPr lang="en-US" sz="1350" dirty="0"/>
          </a:p>
        </p:txBody>
      </p:sp>
      <p:sp>
        <p:nvSpPr>
          <p:cNvPr id="20" name="Text 18"/>
          <p:cNvSpPr/>
          <p:nvPr/>
        </p:nvSpPr>
        <p:spPr>
          <a:xfrm>
            <a:off x="6242304"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Confirmed, unconfirmed, or invented. Note the tool's confidence level.</a:t>
            </a:r>
            <a:endParaRPr lang="en-US" sz="11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SEGMENT ONE RECAP</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What holds true before any prompt</a:t>
            </a:r>
            <a:endParaRPr lang="en-US" sz="2500" dirty="0"/>
          </a:p>
        </p:txBody>
      </p:sp>
      <p:sp>
        <p:nvSpPr>
          <p:cNvPr id="5" name="Shape 3"/>
          <p:cNvSpPr/>
          <p:nvPr/>
        </p:nvSpPr>
        <p:spPr>
          <a:xfrm rot="2700000">
            <a:off x="475488" y="1545336"/>
            <a:ext cx="118872" cy="118872"/>
          </a:xfrm>
          <a:prstGeom prst="rect">
            <a:avLst/>
          </a:prstGeom>
          <a:solidFill>
            <a:srgbClr val="6F8FAF"/>
          </a:solidFill>
          <a:ln/>
        </p:spPr>
      </p:sp>
      <p:sp>
        <p:nvSpPr>
          <p:cNvPr id="6" name="Text 4"/>
          <p:cNvSpPr/>
          <p:nvPr/>
        </p:nvSpPr>
        <p:spPr>
          <a:xfrm>
            <a:off x="768096" y="14630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Your existing duties already reach AI-assisted work</a:t>
            </a:r>
            <a:endParaRPr lang="en-US" sz="1550" dirty="0"/>
          </a:p>
        </p:txBody>
      </p:sp>
      <p:sp>
        <p:nvSpPr>
          <p:cNvPr id="7" name="Shape 5"/>
          <p:cNvSpPr/>
          <p:nvPr/>
        </p:nvSpPr>
        <p:spPr>
          <a:xfrm rot="2700000">
            <a:off x="475488" y="2002536"/>
            <a:ext cx="118872" cy="118872"/>
          </a:xfrm>
          <a:prstGeom prst="rect">
            <a:avLst/>
          </a:prstGeom>
          <a:solidFill>
            <a:srgbClr val="6F8FAF"/>
          </a:solidFill>
          <a:ln/>
        </p:spPr>
      </p:sp>
      <p:sp>
        <p:nvSpPr>
          <p:cNvPr id="8" name="Text 6"/>
          <p:cNvSpPr/>
          <p:nvPr/>
        </p:nvSpPr>
        <p:spPr>
          <a:xfrm>
            <a:off x="768096" y="19202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Competence now includes the tools you choose to use</a:t>
            </a:r>
            <a:endParaRPr lang="en-US" sz="1550" dirty="0"/>
          </a:p>
        </p:txBody>
      </p:sp>
      <p:sp>
        <p:nvSpPr>
          <p:cNvPr id="9" name="Shape 7"/>
          <p:cNvSpPr/>
          <p:nvPr/>
        </p:nvSpPr>
        <p:spPr>
          <a:xfrm rot="2700000">
            <a:off x="475488" y="2459736"/>
            <a:ext cx="118872" cy="118872"/>
          </a:xfrm>
          <a:prstGeom prst="rect">
            <a:avLst/>
          </a:prstGeom>
          <a:solidFill>
            <a:srgbClr val="6F8FAF"/>
          </a:solidFill>
          <a:ln/>
        </p:spPr>
      </p:sp>
      <p:sp>
        <p:nvSpPr>
          <p:cNvPr id="10" name="Text 8"/>
          <p:cNvSpPr/>
          <p:nvPr/>
        </p:nvSpPr>
        <p:spPr>
          <a:xfrm>
            <a:off x="768096" y="23774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Every AI citation is a lead to verify, not an authority</a:t>
            </a:r>
            <a:endParaRPr lang="en-US" sz="1550" dirty="0"/>
          </a:p>
        </p:txBody>
      </p:sp>
      <p:sp>
        <p:nvSpPr>
          <p:cNvPr id="11" name="Shape 9"/>
          <p:cNvSpPr/>
          <p:nvPr/>
        </p:nvSpPr>
        <p:spPr>
          <a:xfrm rot="2700000">
            <a:off x="475488" y="2916936"/>
            <a:ext cx="118872" cy="118872"/>
          </a:xfrm>
          <a:prstGeom prst="rect">
            <a:avLst/>
          </a:prstGeom>
          <a:solidFill>
            <a:srgbClr val="6F8FAF"/>
          </a:solidFill>
          <a:ln/>
        </p:spPr>
      </p:sp>
      <p:sp>
        <p:nvSpPr>
          <p:cNvPr id="12" name="Text 10"/>
          <p:cNvSpPr/>
          <p:nvPr/>
        </p:nvSpPr>
        <p:spPr>
          <a:xfrm>
            <a:off x="768096" y="28346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Keep client data out of tools that may retain or train on it</a:t>
            </a:r>
            <a:endParaRPr lang="en-US" sz="1550" dirty="0"/>
          </a:p>
        </p:txBody>
      </p:sp>
      <p:sp>
        <p:nvSpPr>
          <p:cNvPr id="13" name="Shape 11"/>
          <p:cNvSpPr/>
          <p:nvPr/>
        </p:nvSpPr>
        <p:spPr>
          <a:xfrm rot="2700000">
            <a:off x="475488" y="3374136"/>
            <a:ext cx="118872" cy="118872"/>
          </a:xfrm>
          <a:prstGeom prst="rect">
            <a:avLst/>
          </a:prstGeom>
          <a:solidFill>
            <a:srgbClr val="6F8FAF"/>
          </a:solidFill>
          <a:ln/>
        </p:spPr>
      </p:sp>
      <p:sp>
        <p:nvSpPr>
          <p:cNvPr id="14" name="Text 12"/>
          <p:cNvSpPr/>
          <p:nvPr/>
        </p:nvSpPr>
        <p:spPr>
          <a:xfrm>
            <a:off x="768096" y="3291840"/>
            <a:ext cx="7918704" cy="457200"/>
          </a:xfrm>
          <a:prstGeom prst="rect">
            <a:avLst/>
          </a:prstGeom>
          <a:noFill/>
          <a:ln/>
        </p:spPr>
        <p:txBody>
          <a:bodyPr wrap="square" rtlCol="0" anchor="t"/>
          <a:lstStyle/>
          <a:p>
            <a:pPr indent="0" marL="0">
              <a:lnSpc>
                <a:spcPts val="1900"/>
              </a:lnSpc>
              <a:buNone/>
            </a:pPr>
            <a:r>
              <a:rPr lang="en-US" sz="1550" dirty="0">
                <a:solidFill>
                  <a:srgbClr val="22303C"/>
                </a:solidFill>
                <a:latin typeface="Calibri" pitchFamily="34" charset="0"/>
                <a:ea typeface="Calibri" pitchFamily="34" charset="-122"/>
                <a:cs typeface="Calibri" pitchFamily="34" charset="-120"/>
              </a:rPr>
              <a:t>Responsibility stays with you and only you</a:t>
            </a:r>
            <a:endParaRPr lang="en-US" sz="1550" dirty="0"/>
          </a:p>
        </p:txBody>
      </p:sp>
      <p:sp>
        <p:nvSpPr>
          <p:cNvPr id="15" name="Shape 13"/>
          <p:cNvSpPr/>
          <p:nvPr/>
        </p:nvSpPr>
        <p:spPr>
          <a:xfrm>
            <a:off x="457200" y="3895344"/>
            <a:ext cx="8229600" cy="640080"/>
          </a:xfrm>
          <a:prstGeom prst="roundRect">
            <a:avLst>
              <a:gd name="adj" fmla="val 7143"/>
            </a:avLst>
          </a:prstGeom>
          <a:solidFill>
            <a:srgbClr val="102A54"/>
          </a:solidFill>
          <a:ln/>
        </p:spPr>
      </p:sp>
      <p:sp>
        <p:nvSpPr>
          <p:cNvPr id="16" name="Text 14"/>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Bridge.</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If AI is this prone to error, why use it at all. Because with structure and grounding, you can cut the risk sharply. That is segment two.</a:t>
            </a:r>
            <a:endParaRPr lang="en-US" sz="1350" dirty="0"/>
          </a:p>
        </p:txBody>
      </p:sp>
      <p:sp>
        <p:nvSpPr>
          <p:cNvPr id="17" name="Shape 15"/>
          <p:cNvSpPr/>
          <p:nvPr/>
        </p:nvSpPr>
        <p:spPr>
          <a:xfrm>
            <a:off x="0" y="4686300"/>
            <a:ext cx="9144000" cy="457200"/>
          </a:xfrm>
          <a:prstGeom prst="rect">
            <a:avLst/>
          </a:prstGeom>
          <a:solidFill>
            <a:srgbClr val="102A54"/>
          </a:solidFill>
          <a:ln/>
        </p:spPr>
      </p:sp>
      <p:sp>
        <p:nvSpPr>
          <p:cNvPr id="18" name="Shape 16"/>
          <p:cNvSpPr/>
          <p:nvPr/>
        </p:nvSpPr>
        <p:spPr>
          <a:xfrm>
            <a:off x="0" y="4654296"/>
            <a:ext cx="9144000" cy="32004"/>
          </a:xfrm>
          <a:prstGeom prst="rect">
            <a:avLst/>
          </a:prstGeom>
          <a:solidFill>
            <a:srgbClr val="6F8FAF"/>
          </a:solidFill>
          <a:ln/>
        </p:spPr>
      </p:sp>
      <p:sp>
        <p:nvSpPr>
          <p:cNvPr id="19" name="Text 1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0" name="Text 1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1" name="Text 1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TCEA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Foundations</dc:title>
  <dc:subject>PptxGenJS Presentation</dc:subject>
  <dc:creator>Miguel Guhlin</dc:creator>
  <cp:lastModifiedBy>Miguel Guhlin</cp:lastModifiedBy>
  <cp:revision>1</cp:revision>
  <dcterms:created xsi:type="dcterms:W3CDTF">2026-07-16T18:55:40Z</dcterms:created>
  <dcterms:modified xsi:type="dcterms:W3CDTF">2026-07-16T18:55:40Z</dcterms:modified>
</cp:coreProperties>
</file>