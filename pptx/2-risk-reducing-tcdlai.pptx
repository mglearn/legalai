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just spent twenty minutes on why AI is risky. Now we spend twenty-five on how to make it far less so. This is the working heart of the session, and it is where you will do the most typing.
Three moves do most of the work. Give the model structure so it cannot wander. Ground it in sources you trust instead of its own memory. And verify what comes back before you rely on it.
We will build all three around a framework made for this audience, called TCDLAi. Let us start with why the way most people prompt makes things worse.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touch a prompt, one choice shapes everything. There are two ways to bring AI into a practice, and they lead to very different results.
The use-case model, on the right, starts with what. You look for specific tasks that are repetitive, data-heavy, or generative, and you bank quick wins. Summarize a transcript, compare two plea offers, draft a client update. Useful, and a fine place to start.
The problem-based model, on the left, starts with why. You name a real pain point with real stakes, like the hours suppression motions eat and the sanctions a bad citation invites, and you aim AI at that. Bigger payoff, and it forces you to measure whether the tool actually helped.
Today we lean problem-based. We start from a defense problem worth solving, then judge the AI against it. Which brings us to why vague prompting is the enemy.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with the root problem. Most people type something like write me a motion to suppress and hit enter. That single line has no issue, no facts, no court, and no sources. So the model does what it always does with a gap. It fills it, by inventing.
Here is the connection I want you to hold. The less you specify, the more the model has to make up. Vague prompting is not just a quality problem, it is an ethics problem, because invention is exactly the failure we are trying to avoid.
The fix on the right is not fancy. Name the issue, the facts, the jurisdiction, and the sources it must use. Tell it what it may not assume. Structure shrinks the room for fabrication, and that is why we lead with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foundation you can teach anyone in your office in five minutes. Four parts. Role, context, task, and format with limits.
Role tells the model who to be, which shapes its tone and focus. Context is where the facts, the jurisdiction, and the constraints live, and where your fictional stand-in facts go. Task states exactly what you want and how much of it. Format and limits set the shape and, most importantly, add the guardrail sentence. Cite only what I give you, and flag anything you are unsure about.
One more lever. Add a short example or two of the output you want. We call that few-shot prompting, and examples steer the model harder than instructions alone. Now let me show you how the same task improves across three tiers.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make this concrete with one task climbing three tiers. The task is finding defenses for a fictional driving-while-intoxicated stop.
The good version is what most people type. What are some defenses to a DWI. You will get a generic list that may or may not fit Texas. The better version adds a role, the specific facts, a number, and a jurisdiction limit. Already much stronger. The best version adds the two moves that matter most for us. It grounds the model in sources you paste, and it tells the model to flag any angle those sources do not support.
Notice the climb. Role, then structure, then grounding plus a verification flag. Risk drops at every step. This progression is the spine of the framework we turn to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TCDLAi Prompt Design Guide, and the name is the method. Six moves, one per letter, that walk a defense task from the raw legal issue all the way to a result you have checked.
Target the legal issue. Compile the relevant facts and evidence. Define the applicable laws and precedents. List potential defense strategies. Analyze and articulate the arguments. And the small i, which is the one people skip and the one that saves you, inspect and improve the AI's results.
The five uppercase letters make the draft. The lowercase i is where the lawyer stays a lawyer. Skip it and you are just forwarding a machine's guess. Run it and the tool becomes an assistant you supervise. Let us look at the two moves that matter most, grounding and inspecting.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technique that does the most to fight hallucination. It has a clumsy name, retrieval-augmented generation, so I just call it grounding. The idea is simple. Instead of letting the model answer from its blurry memory of everything it ever read, you give it the actual documents and tell it to answer from those.
Without grounding, the model recalls an average of the whole internet, and Texas specifics blur into general law. With grounding, you paste the statute, the opinion, or your own brief bank, and it quotes and cites from that. Now you can check every line against a source that is sitting right there.
Do it safely. In a consumer tool, ground with public authorities and fictional facts. Save real client material for tools with enterprise terms. This is the D in TCDLAi doing real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show you the inspect step as a habit you can run every time. Four steps. Get the draft and read it. Pull each cited source yourself from a real database. Match the claim, confirming the quote and the holding and the pinpoint actually appear. Then correct what fails and note what you verified.
There is a nice trick on the screen. You can turn the model against its own work. Ask it to point to the exact sentence in your pasted source that supports each citation, and to remove any claim it cannot support. It will often catch its own inventions when you make it show its evidence.
That is not a substitute for your check. It is a first pass that makes your check faster. You still open the source. Now it is your turn to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main hands-on block, so let us give it room. Go to the resources page and open the PBL Scenario Lab. Pick one of three fictional fact patterns, a DWI stop, a drug-possession search, or a disputed assault. Choose the one closest to your practice.
Work it through the framework. Start with the good prompt, then climb to the best. The prompts are ready to copy, so you spend your time reading output, not typing. Paste the provided statute excerpt when you reach the define step, and finish by running the inspect prompt on one strategy.
Take about twelve minutes. When we regroup, rate the best-tier output zero to ten, and tell me what the inspect step caught that you would have missed. That last part is usually the moment it clicks. Go ahead.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we have the full ninety minutes, this optional round is worth it, because it teaches the limit of grounding. Take your best grounded answer and try to break it. Ask something the pasted statute does not actually cover, and watch closely. Does the model admit the source is silent, or does it quietly build a bridge and invent.
Then tighten your prompt until it stops guessing. A single line, only answer from the source and say if it is silent, changes the behavior dramatically.
The lesson is on the right. Grounding cuts risk sharply, but it does not remove it. A clean format is not proof. The inspect step is still yours to run. If we are tight on time, we skip this and go straight to takeaways.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lock in the segment. Three habits shrink AI risk, and you just practiced all three. Structure, so the model has less room to invent. Grounding, so it answers from sources you trust instead of memory. And inspect, so every claim is checked against a real authority before you rely on it.
Those three, run together through TCDLAi, are most of what responsible AI use looks like day to day.
In the last segment we turn these habits into something you can actually keep. A short checklist, clear do-and-do-not rules, and guidance on what to document. That is what makes this stick after you leave the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D33"/>
        </a:solidFill>
      </p:bgPr>
    </p:bg>
    <p:spTree>
      <p:nvGrpSpPr>
        <p:cNvPr id="1" name=""/>
        <p:cNvGrpSpPr/>
        <p:nvPr/>
      </p:nvGrpSpPr>
      <p:grpSpPr>
        <a:xfrm>
          <a:off x="0" y="0"/>
          <a:ext cx="0" cy="0"/>
          <a:chOff x="0" y="0"/>
          <a:chExt cx="0" cy="0"/>
        </a:xfrm>
      </p:grpSpPr>
      <p:sp>
        <p:nvSpPr>
          <p:cNvPr id="2" name="Shape 0"/>
          <p:cNvSpPr/>
          <p:nvPr/>
        </p:nvSpPr>
        <p:spPr>
          <a:xfrm>
            <a:off x="0" y="0"/>
            <a:ext cx="128016" cy="5143500"/>
          </a:xfrm>
          <a:prstGeom prst="rect">
            <a:avLst/>
          </a:prstGeom>
          <a:solidFill>
            <a:srgbClr val="6F8FAF"/>
          </a:solidFill>
          <a:ln/>
        </p:spPr>
      </p:sp>
      <p:sp>
        <p:nvSpPr>
          <p:cNvPr id="3" name="Shape 1"/>
          <p:cNvSpPr/>
          <p:nvPr/>
        </p:nvSpPr>
        <p:spPr>
          <a:xfrm>
            <a:off x="777240" y="1234440"/>
            <a:ext cx="457200" cy="457200"/>
          </a:xfrm>
          <a:prstGeom prst="ellipse">
            <a:avLst/>
          </a:prstGeom>
          <a:solidFill>
            <a:srgbClr val="6F8FAF"/>
          </a:solidFill>
          <a:ln/>
        </p:spPr>
      </p:sp>
      <p:sp>
        <p:nvSpPr>
          <p:cNvPr id="4" name="Text 2"/>
          <p:cNvSpPr/>
          <p:nvPr/>
        </p:nvSpPr>
        <p:spPr>
          <a:xfrm>
            <a:off x="777240" y="1234440"/>
            <a:ext cx="457200" cy="457200"/>
          </a:xfrm>
          <a:prstGeom prst="rect">
            <a:avLst/>
          </a:prstGeom>
          <a:noFill/>
          <a:ln/>
        </p:spPr>
        <p:txBody>
          <a:bodyPr wrap="square" rtlCol="0" anchor="ctr"/>
          <a:lstStyle/>
          <a:p>
            <a:pPr algn="ctr" indent="0" marL="0">
              <a:buNone/>
            </a:pPr>
            <a:r>
              <a:rPr lang="en-US" sz="1600" b="1" dirty="0">
                <a:solidFill>
                  <a:srgbClr val="0B1D33"/>
                </a:solidFill>
                <a:latin typeface="Georgia" pitchFamily="34" charset="0"/>
                <a:ea typeface="Georgia" pitchFamily="34" charset="-122"/>
                <a:cs typeface="Georgia" pitchFamily="34" charset="-120"/>
              </a:rPr>
              <a:t>2</a:t>
            </a:r>
            <a:endParaRPr lang="en-US" sz="1600" dirty="0"/>
          </a:p>
        </p:txBody>
      </p:sp>
      <p:sp>
        <p:nvSpPr>
          <p:cNvPr id="5" name="Text 3"/>
          <p:cNvSpPr/>
          <p:nvPr/>
        </p:nvSpPr>
        <p:spPr>
          <a:xfrm>
            <a:off x="777240" y="1874520"/>
            <a:ext cx="7772400" cy="274320"/>
          </a:xfrm>
          <a:prstGeom prst="rect">
            <a:avLst/>
          </a:prstGeom>
          <a:noFill/>
          <a:ln/>
        </p:spPr>
        <p:txBody>
          <a:bodyPr wrap="square" rtlCol="0" anchor="ctr"/>
          <a:lstStyle/>
          <a:p>
            <a:pPr indent="0" marL="0">
              <a:buNone/>
            </a:pPr>
            <a:r>
              <a:rPr lang="en-US" sz="1200" b="1" spc="200" kern="0" dirty="0">
                <a:solidFill>
                  <a:srgbClr val="6F8FAF"/>
                </a:solidFill>
                <a:latin typeface="Calibri" pitchFamily="34" charset="0"/>
                <a:ea typeface="Calibri" pitchFamily="34" charset="-122"/>
                <a:cs typeface="Calibri" pitchFamily="34" charset="-120"/>
              </a:rPr>
              <a:t>SEGMENT TWO · ABOUT 25 MINUTES</a:t>
            </a:r>
            <a:endParaRPr lang="en-US" sz="1200" dirty="0"/>
          </a:p>
        </p:txBody>
      </p:sp>
      <p:sp>
        <p:nvSpPr>
          <p:cNvPr id="6" name="Text 4"/>
          <p:cNvSpPr/>
          <p:nvPr/>
        </p:nvSpPr>
        <p:spPr>
          <a:xfrm>
            <a:off x="777240" y="2194560"/>
            <a:ext cx="7863840" cy="822960"/>
          </a:xfrm>
          <a:prstGeom prst="rect">
            <a:avLst/>
          </a:prstGeom>
          <a:noFill/>
          <a:ln/>
        </p:spPr>
        <p:txBody>
          <a:bodyPr wrap="square" rtlCol="0" anchor="ctr"/>
          <a:lstStyle/>
          <a:p>
            <a:pPr indent="0" marL="0">
              <a:buNone/>
            </a:pPr>
            <a:r>
              <a:rPr lang="en-US" sz="3400" b="1" dirty="0">
                <a:solidFill>
                  <a:srgbClr val="FFFFFF"/>
                </a:solidFill>
                <a:latin typeface="Georgia" pitchFamily="34" charset="0"/>
                <a:ea typeface="Georgia" pitchFamily="34" charset="-122"/>
                <a:cs typeface="Georgia" pitchFamily="34" charset="-120"/>
              </a:rPr>
              <a:t>Risk-Reducing AI Practices</a:t>
            </a:r>
            <a:endParaRPr lang="en-US" sz="3400" dirty="0"/>
          </a:p>
        </p:txBody>
      </p:sp>
      <p:sp>
        <p:nvSpPr>
          <p:cNvPr id="7" name="Text 5"/>
          <p:cNvSpPr/>
          <p:nvPr/>
        </p:nvSpPr>
        <p:spPr>
          <a:xfrm>
            <a:off x="777240" y="3063240"/>
            <a:ext cx="7589520" cy="731520"/>
          </a:xfrm>
          <a:prstGeom prst="rect">
            <a:avLst/>
          </a:prstGeom>
          <a:noFill/>
          <a:ln/>
        </p:spPr>
        <p:txBody>
          <a:bodyPr wrap="square" rtlCol="0" anchor="ctr"/>
          <a:lstStyle/>
          <a:p>
            <a:pPr indent="0" marL="0">
              <a:lnSpc>
                <a:spcPts val="2400"/>
              </a:lnSpc>
              <a:buNone/>
            </a:pPr>
            <a:r>
              <a:rPr lang="en-US" sz="1700" i="1" dirty="0">
                <a:solidFill>
                  <a:srgbClr val="C8D2DC"/>
                </a:solidFill>
                <a:latin typeface="Georgia" pitchFamily="34" charset="0"/>
                <a:ea typeface="Georgia" pitchFamily="34" charset="-122"/>
                <a:cs typeface="Georgia" pitchFamily="34" charset="-120"/>
              </a:rPr>
              <a:t>Structure, grounding, and verification. The techniques that turn a risky tool into a checkable one.</a:t>
            </a:r>
            <a:endParaRPr lang="en-US" sz="1700" dirty="0"/>
          </a:p>
        </p:txBody>
      </p:sp>
      <p:sp>
        <p:nvSpPr>
          <p:cNvPr id="8" name="Shape 6"/>
          <p:cNvSpPr/>
          <p:nvPr/>
        </p:nvSpPr>
        <p:spPr>
          <a:xfrm>
            <a:off x="0" y="4686300"/>
            <a:ext cx="9144000" cy="457200"/>
          </a:xfrm>
          <a:prstGeom prst="rect">
            <a:avLst/>
          </a:prstGeom>
          <a:solidFill>
            <a:srgbClr val="102A54"/>
          </a:solidFill>
          <a:ln/>
        </p:spPr>
      </p:sp>
      <p:sp>
        <p:nvSpPr>
          <p:cNvPr id="9" name="Shape 7"/>
          <p:cNvSpPr/>
          <p:nvPr/>
        </p:nvSpPr>
        <p:spPr>
          <a:xfrm>
            <a:off x="0" y="4654296"/>
            <a:ext cx="9144000" cy="32004"/>
          </a:xfrm>
          <a:prstGeom prst="rect">
            <a:avLst/>
          </a:prstGeom>
          <a:solidFill>
            <a:srgbClr val="6F8FAF"/>
          </a:solidFill>
          <a:ln/>
        </p:spPr>
      </p:sp>
      <p:sp>
        <p:nvSpPr>
          <p:cNvPr id="10" name="Text 8"/>
          <p:cNvSpPr/>
          <p:nvPr/>
        </p:nvSpPr>
        <p:spPr>
          <a:xfrm>
            <a:off x="457200" y="4686300"/>
            <a:ext cx="2194560" cy="457200"/>
          </a:xfrm>
          <a:prstGeom prst="rect">
            <a:avLst/>
          </a:prstGeom>
          <a:noFill/>
          <a:ln/>
        </p:spPr>
        <p:txBody>
          <a:bodyPr wrap="square" rtlCol="0" anchor="ctr"/>
          <a:lstStyle/>
          <a:p>
            <a:pPr algn="l" indent="0" marL="0">
              <a:buNone/>
            </a:pPr>
            <a:r>
              <a:rPr lang="en-US" sz="900" b="1" spc="200" kern="0" dirty="0">
                <a:solidFill>
                  <a:srgbClr val="6F8FAF"/>
                </a:solidFill>
                <a:latin typeface="Calibri" pitchFamily="34" charset="0"/>
                <a:ea typeface="Calibri" pitchFamily="34" charset="-122"/>
                <a:cs typeface="Calibri" pitchFamily="34" charset="-120"/>
              </a:rPr>
              <a:t>✦ </a:t>
            </a:r>
            <a:pPr algn="l" indent="0" marL="0">
              <a:buNone/>
            </a:pPr>
            <a:r>
              <a:rPr lang="en-US" sz="900" b="1" spc="200" kern="0" dirty="0">
                <a:solidFill>
                  <a:srgbClr val="6F8FAF"/>
                </a:solidFill>
                <a:latin typeface="Calibri" pitchFamily="34" charset="0"/>
                <a:ea typeface="Calibri" pitchFamily="34" charset="-122"/>
                <a:cs typeface="Calibri" pitchFamily="34" charset="-120"/>
              </a:rPr>
              <a:t>TCDLAi</a:t>
            </a:r>
            <a:endParaRPr lang="en-US" sz="900" dirty="0"/>
          </a:p>
        </p:txBody>
      </p:sp>
      <p:sp>
        <p:nvSpPr>
          <p:cNvPr id="11" name="Text 9"/>
          <p:cNvSpPr/>
          <p:nvPr/>
        </p:nvSpPr>
        <p:spPr>
          <a:xfrm>
            <a:off x="2743200" y="4686300"/>
            <a:ext cx="3657600" cy="457200"/>
          </a:xfrm>
          <a:prstGeom prst="rect">
            <a:avLst/>
          </a:prstGeom>
          <a:noFill/>
          <a:ln/>
        </p:spPr>
        <p:txBody>
          <a:bodyPr wrap="square" rtlCol="0" anchor="ctr"/>
          <a:lstStyle/>
          <a:p>
            <a:pPr algn="ctr" indent="0" marL="0">
              <a:buNone/>
            </a:pPr>
            <a:r>
              <a:rPr lang="en-US" sz="900" i="1" dirty="0">
                <a:solidFill>
                  <a:srgbClr val="C6D4EC"/>
                </a:solidFill>
                <a:latin typeface="Calibri" pitchFamily="34" charset="0"/>
                <a:ea typeface="Calibri" pitchFamily="34" charset="-122"/>
                <a:cs typeface="Calibri" pitchFamily="34" charset="-120"/>
              </a:rPr>
              <a:t>Facilitator: Miguel Guhlin</a:t>
            </a:r>
            <a:endParaRPr lang="en-US" sz="900" dirty="0"/>
          </a:p>
        </p:txBody>
      </p:sp>
      <p:sp>
        <p:nvSpPr>
          <p:cNvPr id="12" name="Text 10"/>
          <p:cNvSpPr/>
          <p:nvPr/>
        </p:nvSpPr>
        <p:spPr>
          <a:xfrm>
            <a:off x="6035040" y="4686300"/>
            <a:ext cx="2651760" cy="457200"/>
          </a:xfrm>
          <a:prstGeom prst="rect">
            <a:avLst/>
          </a:prstGeom>
          <a:noFill/>
          <a:ln/>
        </p:spPr>
        <p:txBody>
          <a:bodyPr wrap="square" rtlCol="0" anchor="ctr"/>
          <a:lstStyle/>
          <a:p>
            <a:pPr algn="r" indent="0" marL="0">
              <a:buNone/>
            </a:pPr>
            <a:r>
              <a:rPr lang="en-US" sz="900" b="1" dirty="0">
                <a:solidFill>
                  <a:srgbClr val="C8D2DC"/>
                </a:solidFill>
                <a:latin typeface="Calibri" pitchFamily="34" charset="0"/>
                <a:ea typeface="Calibri" pitchFamily="34" charset="-122"/>
                <a:cs typeface="Calibri" pitchFamily="34" charset="-120"/>
              </a:rPr>
              <a:t>mglearn.github.io/legalai</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8229600" cy="256032"/>
          </a:xfrm>
          <a:prstGeom prst="rect">
            <a:avLst/>
          </a:prstGeom>
          <a:noFill/>
          <a:ln/>
        </p:spPr>
        <p:txBody>
          <a:bodyPr wrap="square" rtlCol="0" anchor="ctr"/>
          <a:lstStyle/>
          <a:p>
            <a:pPr indent="0" marL="0">
              <a:buNone/>
            </a:pPr>
            <a:r>
              <a:rPr lang="en-US" sz="1100" b="1" spc="200" kern="0" dirty="0">
                <a:solidFill>
                  <a:srgbClr val="2F5F8F"/>
                </a:solidFill>
                <a:latin typeface="Calibri" pitchFamily="34" charset="0"/>
                <a:ea typeface="Calibri" pitchFamily="34" charset="-122"/>
                <a:cs typeface="Calibri" pitchFamily="34" charset="-120"/>
              </a:rPr>
              <a:t>TWO WAYS TO BRING AI INTO YOUR PRACTICE</a:t>
            </a:r>
            <a:endParaRPr lang="en-US" sz="1100" dirty="0"/>
          </a:p>
        </p:txBody>
      </p:sp>
      <p:sp>
        <p:nvSpPr>
          <p:cNvPr id="3" name="Shape 1"/>
          <p:cNvSpPr/>
          <p:nvPr/>
        </p:nvSpPr>
        <p:spPr>
          <a:xfrm>
            <a:off x="457200" y="758952"/>
            <a:ext cx="8229600" cy="0"/>
          </a:xfrm>
          <a:prstGeom prst="line">
            <a:avLst/>
          </a:prstGeom>
          <a:noFill/>
          <a:ln w="12700">
            <a:solidFill>
              <a:srgbClr val="D8DEE6"/>
            </a:solidFill>
            <a:prstDash val="solid"/>
          </a:ln>
        </p:spPr>
      </p:sp>
      <p:sp>
        <p:nvSpPr>
          <p:cNvPr id="4" name="Text 2"/>
          <p:cNvSpPr/>
          <p:nvPr/>
        </p:nvSpPr>
        <p:spPr>
          <a:xfrm>
            <a:off x="457200" y="658368"/>
            <a:ext cx="8229600" cy="640080"/>
          </a:xfrm>
          <a:prstGeom prst="rect">
            <a:avLst/>
          </a:prstGeom>
          <a:noFill/>
          <a:ln/>
        </p:spPr>
        <p:txBody>
          <a:bodyPr wrap="square" rtlCol="0" anchor="ctr"/>
          <a:lstStyle/>
          <a:p>
            <a:pPr indent="0" marL="0">
              <a:lnSpc>
                <a:spcPts val="2700"/>
              </a:lnSpc>
              <a:buNone/>
            </a:pPr>
            <a:r>
              <a:rPr lang="en-US" sz="2500" b="1" dirty="0">
                <a:solidFill>
                  <a:srgbClr val="102A54"/>
                </a:solidFill>
                <a:latin typeface="Georgia" pitchFamily="34" charset="0"/>
                <a:ea typeface="Georgia" pitchFamily="34" charset="-122"/>
                <a:cs typeface="Georgia" pitchFamily="34" charset="-120"/>
              </a:rPr>
              <a:t>Problem-based versus use-case AI</a:t>
            </a:r>
            <a:endParaRPr lang="en-US" sz="2500" dirty="0"/>
          </a:p>
        </p:txBody>
      </p:sp>
      <p:sp>
        <p:nvSpPr>
          <p:cNvPr id="5" name="Shape 3"/>
          <p:cNvSpPr/>
          <p:nvPr/>
        </p:nvSpPr>
        <p:spPr>
          <a:xfrm>
            <a:off x="457200" y="1463040"/>
            <a:ext cx="3977640" cy="2286000"/>
          </a:xfrm>
          <a:prstGeom prst="roundRect">
            <a:avLst>
              <a:gd name="adj" fmla="val 2000"/>
            </a:avLst>
          </a:prstGeom>
          <a:solidFill>
            <a:srgbClr val="FFFFFF"/>
          </a:solidFill>
          <a:ln w="12700">
            <a:solidFill>
              <a:srgbClr val="D8DEE6"/>
            </a:solidFill>
            <a:prstDash val="solid"/>
          </a:ln>
          <a:effectLst>
            <a:outerShdw sx="100000" sy="100000" kx="0" ky="0" algn="bl" rotWithShape="0" blurRad="88900" dist="25400" dir="8100000">
              <a:srgbClr val="000000">
                <a:alpha val="12000"/>
              </a:srgbClr>
            </a:outerShdw>
          </a:effectLst>
        </p:spPr>
      </p:sp>
      <p:sp>
        <p:nvSpPr>
          <p:cNvPr id="6" name="Shape 4"/>
          <p:cNvSpPr/>
          <p:nvPr/>
        </p:nvSpPr>
        <p:spPr>
          <a:xfrm>
            <a:off x="457200" y="1463040"/>
            <a:ext cx="3977640" cy="457200"/>
          </a:xfrm>
          <a:prstGeom prst="rect">
            <a:avLst/>
          </a:prstGeom>
          <a:solidFill>
            <a:srgbClr val="102A54"/>
          </a:solidFill>
          <a:ln/>
        </p:spPr>
      </p:sp>
      <p:sp>
        <p:nvSpPr>
          <p:cNvPr id="7" name="Text 5"/>
          <p:cNvSpPr/>
          <p:nvPr/>
        </p:nvSpPr>
        <p:spPr>
          <a:xfrm>
            <a:off x="621792" y="1463040"/>
            <a:ext cx="3703320" cy="457200"/>
          </a:xfrm>
          <a:prstGeom prst="rect">
            <a:avLst/>
          </a:prstGeom>
          <a:noFill/>
          <a:ln/>
        </p:spPr>
        <p:txBody>
          <a:bodyPr wrap="square" rtlCol="0" anchor="ctr"/>
          <a:lstStyle/>
          <a:p>
            <a:pPr indent="0" marL="0">
              <a:buNone/>
            </a:pPr>
            <a:r>
              <a:rPr lang="en-US" sz="1500" b="1" dirty="0">
                <a:solidFill>
                  <a:srgbClr val="FFFFFF"/>
                </a:solidFill>
                <a:latin typeface="Georgia" pitchFamily="34" charset="0"/>
                <a:ea typeface="Georgia" pitchFamily="34" charset="-122"/>
                <a:cs typeface="Georgia" pitchFamily="34" charset="-120"/>
              </a:rPr>
              <a:t>🎯 Problem-based model</a:t>
            </a:r>
            <a:endParaRPr lang="en-US" sz="1500" dirty="0"/>
          </a:p>
        </p:txBody>
      </p:sp>
      <p:sp>
        <p:nvSpPr>
          <p:cNvPr id="8" name="Text 6"/>
          <p:cNvSpPr/>
          <p:nvPr/>
        </p:nvSpPr>
        <p:spPr>
          <a:xfrm>
            <a:off x="640080" y="2029968"/>
            <a:ext cx="3611880" cy="320040"/>
          </a:xfrm>
          <a:prstGeom prst="rect">
            <a:avLst/>
          </a:prstGeom>
          <a:noFill/>
          <a:ln/>
        </p:spPr>
        <p:txBody>
          <a:bodyPr wrap="square" rtlCol="0" anchor="t"/>
          <a:lstStyle/>
          <a:p>
            <a:pPr indent="0" marL="0">
              <a:buNone/>
            </a:pPr>
            <a:r>
              <a:rPr lang="en-US" sz="1250" b="1" dirty="0">
                <a:solidFill>
                  <a:srgbClr val="22303C"/>
                </a:solidFill>
                <a:latin typeface="Calibri" pitchFamily="34" charset="0"/>
                <a:ea typeface="Calibri" pitchFamily="34" charset="-122"/>
                <a:cs typeface="Calibri" pitchFamily="34" charset="-120"/>
              </a:rPr>
              <a:t>Start with </a:t>
            </a:r>
            <a:pPr indent="0" marL="0">
              <a:buNone/>
            </a:pPr>
            <a:r>
              <a:rPr lang="en-US" sz="1250" b="1" dirty="0">
                <a:solidFill>
                  <a:srgbClr val="102A54"/>
                </a:solidFill>
                <a:latin typeface="Calibri" pitchFamily="34" charset="0"/>
                <a:ea typeface="Calibri" pitchFamily="34" charset="-122"/>
                <a:cs typeface="Calibri" pitchFamily="34" charset="-120"/>
              </a:rPr>
              <a:t>why</a:t>
            </a:r>
            <a:pPr indent="0" marL="0">
              <a:buNone/>
            </a:pPr>
            <a:r>
              <a:rPr lang="en-US" sz="1250" b="1" dirty="0">
                <a:solidFill>
                  <a:srgbClr val="22303C"/>
                </a:solidFill>
                <a:latin typeface="Calibri" pitchFamily="34" charset="0"/>
                <a:ea typeface="Calibri" pitchFamily="34" charset="-122"/>
                <a:cs typeface="Calibri" pitchFamily="34" charset="-120"/>
              </a:rPr>
              <a:t>. Solve real pain points.</a:t>
            </a:r>
            <a:endParaRPr lang="en-US" sz="1250" dirty="0"/>
          </a:p>
        </p:txBody>
      </p:sp>
      <p:sp>
        <p:nvSpPr>
          <p:cNvPr id="9" name="Text 7"/>
          <p:cNvSpPr/>
          <p:nvPr/>
        </p:nvSpPr>
        <p:spPr>
          <a:xfrm>
            <a:off x="640080" y="2377440"/>
            <a:ext cx="3611880" cy="640080"/>
          </a:xfrm>
          <a:prstGeom prst="rect">
            <a:avLst/>
          </a:prstGeom>
          <a:noFill/>
          <a:ln/>
        </p:spPr>
        <p:txBody>
          <a:bodyPr wrap="square" rtlCol="0" anchor="t"/>
          <a:lstStyle/>
          <a:p>
            <a:pPr indent="0" marL="0">
              <a:lnSpc>
                <a:spcPts val="1400"/>
              </a:lnSpc>
              <a:buNone/>
            </a:pPr>
            <a:r>
              <a:rPr lang="en-US" sz="1150" dirty="0">
                <a:solidFill>
                  <a:srgbClr val="4F6072"/>
                </a:solidFill>
                <a:latin typeface="Calibri" pitchFamily="34" charset="0"/>
                <a:ea typeface="Calibri" pitchFamily="34" charset="-122"/>
                <a:cs typeface="Calibri" pitchFamily="34" charset="-120"/>
              </a:rPr>
              <a:t>Deep practice challenges with real stakes, where getting it right matters and the payoff is measurable.</a:t>
            </a:r>
            <a:endParaRPr lang="en-US" sz="1150" dirty="0"/>
          </a:p>
        </p:txBody>
      </p:sp>
      <p:sp>
        <p:nvSpPr>
          <p:cNvPr id="10" name="Shape 8"/>
          <p:cNvSpPr/>
          <p:nvPr/>
        </p:nvSpPr>
        <p:spPr>
          <a:xfrm>
            <a:off x="640080" y="3035808"/>
            <a:ext cx="45720" cy="566928"/>
          </a:xfrm>
          <a:prstGeom prst="rect">
            <a:avLst/>
          </a:prstGeom>
          <a:solidFill>
            <a:srgbClr val="6F8FAF"/>
          </a:solidFill>
          <a:ln/>
        </p:spPr>
      </p:sp>
      <p:sp>
        <p:nvSpPr>
          <p:cNvPr id="11" name="Text 9"/>
          <p:cNvSpPr/>
          <p:nvPr/>
        </p:nvSpPr>
        <p:spPr>
          <a:xfrm>
            <a:off x="768096" y="3035808"/>
            <a:ext cx="3502152" cy="603504"/>
          </a:xfrm>
          <a:prstGeom prst="rect">
            <a:avLst/>
          </a:prstGeom>
          <a:solidFill>
            <a:srgbClr val="F7F9FC"/>
          </a:solidFill>
          <a:ln/>
        </p:spPr>
        <p:txBody>
          <a:bodyPr wrap="square" rtlCol="0" anchor="t"/>
          <a:lstStyle/>
          <a:p>
            <a:pPr indent="0" marL="0">
              <a:lnSpc>
                <a:spcPts val="1300"/>
              </a:lnSpc>
              <a:buNone/>
            </a:pPr>
            <a:pPr indent="0" marL="0">
              <a:lnSpc>
                <a:spcPts val="1300"/>
              </a:lnSpc>
              <a:buNone/>
            </a:pPr>
            <a:r>
              <a:rPr lang="en-US" sz="1050" b="1" dirty="0">
                <a:solidFill>
                  <a:srgbClr val="102A54"/>
                </a:solidFill>
                <a:latin typeface="Calibri" pitchFamily="34" charset="0"/>
                <a:ea typeface="Calibri" pitchFamily="34" charset="-122"/>
                <a:cs typeface="Calibri" pitchFamily="34" charset="-120"/>
              </a:rPr>
              <a:t>Defense example.</a:t>
            </a:r>
            <a:pPr indent="0" marL="0">
              <a:lnSpc>
                <a:spcPts val="1300"/>
              </a:lnSpc>
              <a:buNone/>
            </a:pPr>
            <a:r>
              <a:rPr lang="en-US" sz="1050" dirty="0">
                <a:solidFill>
                  <a:srgbClr val="22303C"/>
                </a:solidFill>
                <a:latin typeface="Calibri" pitchFamily="34" charset="0"/>
                <a:ea typeface="Calibri" pitchFamily="34" charset="-122"/>
                <a:cs typeface="Calibri" pitchFamily="34" charset="-120"/>
              </a:rPr>
              <a:t> Suppression motions eat hours each week, and a bad citation risks sanctions. Structure and grounding cut both the time and the error rate.</a:t>
            </a:r>
            <a:endParaRPr lang="en-US" sz="1050" dirty="0"/>
          </a:p>
        </p:txBody>
      </p:sp>
      <p:sp>
        <p:nvSpPr>
          <p:cNvPr id="12" name="Shape 10"/>
          <p:cNvSpPr/>
          <p:nvPr/>
        </p:nvSpPr>
        <p:spPr>
          <a:xfrm>
            <a:off x="4709160" y="1463040"/>
            <a:ext cx="3977640" cy="2286000"/>
          </a:xfrm>
          <a:prstGeom prst="roundRect">
            <a:avLst>
              <a:gd name="adj" fmla="val 2000"/>
            </a:avLst>
          </a:prstGeom>
          <a:solidFill>
            <a:srgbClr val="FFFFFF"/>
          </a:solidFill>
          <a:ln w="12700">
            <a:solidFill>
              <a:srgbClr val="D8DEE6"/>
            </a:solidFill>
            <a:prstDash val="solid"/>
          </a:ln>
          <a:effectLst>
            <a:outerShdw sx="100000" sy="100000" kx="0" ky="0" algn="bl" rotWithShape="0" blurRad="88900" dist="25400" dir="8100000">
              <a:srgbClr val="000000">
                <a:alpha val="12000"/>
              </a:srgbClr>
            </a:outerShdw>
          </a:effectLst>
        </p:spPr>
      </p:sp>
      <p:sp>
        <p:nvSpPr>
          <p:cNvPr id="13" name="Shape 11"/>
          <p:cNvSpPr/>
          <p:nvPr/>
        </p:nvSpPr>
        <p:spPr>
          <a:xfrm>
            <a:off x="4709160" y="1463040"/>
            <a:ext cx="3977640" cy="457200"/>
          </a:xfrm>
          <a:prstGeom prst="rect">
            <a:avLst/>
          </a:prstGeom>
          <a:solidFill>
            <a:srgbClr val="2F5F8F"/>
          </a:solidFill>
          <a:ln/>
        </p:spPr>
      </p:sp>
      <p:sp>
        <p:nvSpPr>
          <p:cNvPr id="14" name="Text 12"/>
          <p:cNvSpPr/>
          <p:nvPr/>
        </p:nvSpPr>
        <p:spPr>
          <a:xfrm>
            <a:off x="4873752" y="1463040"/>
            <a:ext cx="3703320" cy="457200"/>
          </a:xfrm>
          <a:prstGeom prst="rect">
            <a:avLst/>
          </a:prstGeom>
          <a:noFill/>
          <a:ln/>
        </p:spPr>
        <p:txBody>
          <a:bodyPr wrap="square" rtlCol="0" anchor="ctr"/>
          <a:lstStyle/>
          <a:p>
            <a:pPr indent="0" marL="0">
              <a:buNone/>
            </a:pPr>
            <a:r>
              <a:rPr lang="en-US" sz="1500" b="1" dirty="0">
                <a:solidFill>
                  <a:srgbClr val="FFFFFF"/>
                </a:solidFill>
                <a:latin typeface="Georgia" pitchFamily="34" charset="0"/>
                <a:ea typeface="Georgia" pitchFamily="34" charset="-122"/>
                <a:cs typeface="Georgia" pitchFamily="34" charset="-120"/>
              </a:rPr>
              <a:t>⚡ Use-case model</a:t>
            </a:r>
            <a:endParaRPr lang="en-US" sz="1500" dirty="0"/>
          </a:p>
        </p:txBody>
      </p:sp>
      <p:sp>
        <p:nvSpPr>
          <p:cNvPr id="15" name="Text 13"/>
          <p:cNvSpPr/>
          <p:nvPr/>
        </p:nvSpPr>
        <p:spPr>
          <a:xfrm>
            <a:off x="4892040" y="2029968"/>
            <a:ext cx="3611880" cy="320040"/>
          </a:xfrm>
          <a:prstGeom prst="rect">
            <a:avLst/>
          </a:prstGeom>
          <a:noFill/>
          <a:ln/>
        </p:spPr>
        <p:txBody>
          <a:bodyPr wrap="square" rtlCol="0" anchor="t"/>
          <a:lstStyle/>
          <a:p>
            <a:pPr indent="0" marL="0">
              <a:buNone/>
            </a:pPr>
            <a:r>
              <a:rPr lang="en-US" sz="1250" b="1" dirty="0">
                <a:solidFill>
                  <a:srgbClr val="22303C"/>
                </a:solidFill>
                <a:latin typeface="Calibri" pitchFamily="34" charset="0"/>
                <a:ea typeface="Calibri" pitchFamily="34" charset="-122"/>
                <a:cs typeface="Calibri" pitchFamily="34" charset="-120"/>
              </a:rPr>
              <a:t>Start with </a:t>
            </a:r>
            <a:pPr indent="0" marL="0">
              <a:buNone/>
            </a:pPr>
            <a:r>
              <a:rPr lang="en-US" sz="1250" b="1" dirty="0">
                <a:solidFill>
                  <a:srgbClr val="102A54"/>
                </a:solidFill>
                <a:latin typeface="Calibri" pitchFamily="34" charset="0"/>
                <a:ea typeface="Calibri" pitchFamily="34" charset="-122"/>
                <a:cs typeface="Calibri" pitchFamily="34" charset="-120"/>
              </a:rPr>
              <a:t>what</a:t>
            </a:r>
            <a:pPr indent="0" marL="0">
              <a:buNone/>
            </a:pPr>
            <a:r>
              <a:rPr lang="en-US" sz="1250" b="1" dirty="0">
                <a:solidFill>
                  <a:srgbClr val="22303C"/>
                </a:solidFill>
                <a:latin typeface="Calibri" pitchFamily="34" charset="0"/>
                <a:ea typeface="Calibri" pitchFamily="34" charset="-122"/>
                <a:cs typeface="Calibri" pitchFamily="34" charset="-120"/>
              </a:rPr>
              <a:t>. Bank quick wins.</a:t>
            </a:r>
            <a:endParaRPr lang="en-US" sz="1250" dirty="0"/>
          </a:p>
        </p:txBody>
      </p:sp>
      <p:sp>
        <p:nvSpPr>
          <p:cNvPr id="16" name="Text 14"/>
          <p:cNvSpPr/>
          <p:nvPr/>
        </p:nvSpPr>
        <p:spPr>
          <a:xfrm>
            <a:off x="4892040" y="2377440"/>
            <a:ext cx="3611880" cy="640080"/>
          </a:xfrm>
          <a:prstGeom prst="rect">
            <a:avLst/>
          </a:prstGeom>
          <a:noFill/>
          <a:ln/>
        </p:spPr>
        <p:txBody>
          <a:bodyPr wrap="square" rtlCol="0" anchor="t"/>
          <a:lstStyle/>
          <a:p>
            <a:pPr indent="0" marL="0">
              <a:lnSpc>
                <a:spcPts val="1400"/>
              </a:lnSpc>
              <a:buNone/>
            </a:pPr>
            <a:r>
              <a:rPr lang="en-US" sz="1150" dirty="0">
                <a:solidFill>
                  <a:srgbClr val="4F6072"/>
                </a:solidFill>
                <a:latin typeface="Calibri" pitchFamily="34" charset="0"/>
                <a:ea typeface="Calibri" pitchFamily="34" charset="-122"/>
                <a:cs typeface="Calibri" pitchFamily="34" charset="-120"/>
              </a:rPr>
              <a:t>Specific tasks that are repetitive, data-heavy, or generative, where a fast first draft saves minutes.</a:t>
            </a:r>
            <a:endParaRPr lang="en-US" sz="1150" dirty="0"/>
          </a:p>
        </p:txBody>
      </p:sp>
      <p:sp>
        <p:nvSpPr>
          <p:cNvPr id="17" name="Shape 15"/>
          <p:cNvSpPr/>
          <p:nvPr/>
        </p:nvSpPr>
        <p:spPr>
          <a:xfrm>
            <a:off x="4892040" y="3035808"/>
            <a:ext cx="45720" cy="566928"/>
          </a:xfrm>
          <a:prstGeom prst="rect">
            <a:avLst/>
          </a:prstGeom>
          <a:solidFill>
            <a:srgbClr val="6F8FAF"/>
          </a:solidFill>
          <a:ln/>
        </p:spPr>
      </p:sp>
      <p:sp>
        <p:nvSpPr>
          <p:cNvPr id="18" name="Text 16"/>
          <p:cNvSpPr/>
          <p:nvPr/>
        </p:nvSpPr>
        <p:spPr>
          <a:xfrm>
            <a:off x="5020056" y="3035808"/>
            <a:ext cx="3502152" cy="603504"/>
          </a:xfrm>
          <a:prstGeom prst="rect">
            <a:avLst/>
          </a:prstGeom>
          <a:solidFill>
            <a:srgbClr val="F7F9FC"/>
          </a:solidFill>
          <a:ln/>
        </p:spPr>
        <p:txBody>
          <a:bodyPr wrap="square" rtlCol="0" anchor="t"/>
          <a:lstStyle/>
          <a:p>
            <a:pPr indent="0" marL="0">
              <a:lnSpc>
                <a:spcPts val="1300"/>
              </a:lnSpc>
              <a:buNone/>
            </a:pPr>
            <a:pPr indent="0" marL="0">
              <a:lnSpc>
                <a:spcPts val="1300"/>
              </a:lnSpc>
              <a:buNone/>
            </a:pPr>
            <a:r>
              <a:rPr lang="en-US" sz="1050" b="1" dirty="0">
                <a:solidFill>
                  <a:srgbClr val="102A54"/>
                </a:solidFill>
                <a:latin typeface="Calibri" pitchFamily="34" charset="0"/>
                <a:ea typeface="Calibri" pitchFamily="34" charset="-122"/>
                <a:cs typeface="Calibri" pitchFamily="34" charset="-120"/>
              </a:rPr>
              <a:t>Defense examples.</a:t>
            </a:r>
            <a:pPr indent="0" marL="0">
              <a:lnSpc>
                <a:spcPts val="1300"/>
              </a:lnSpc>
              <a:buNone/>
            </a:pPr>
            <a:r>
              <a:rPr lang="en-US" sz="1050" dirty="0">
                <a:solidFill>
                  <a:srgbClr val="22303C"/>
                </a:solidFill>
                <a:latin typeface="Calibri" pitchFamily="34" charset="0"/>
                <a:ea typeface="Calibri" pitchFamily="34" charset="-122"/>
                <a:cs typeface="Calibri" pitchFamily="34" charset="-120"/>
              </a:rPr>
              <a:t> Summarize a transcript (repetitive), compare two plea offers (data-driven), draft a client update (generative).</a:t>
            </a:r>
            <a:endParaRPr lang="en-US" sz="1050" dirty="0"/>
          </a:p>
        </p:txBody>
      </p:sp>
      <p:sp>
        <p:nvSpPr>
          <p:cNvPr id="19" name="Shape 17"/>
          <p:cNvSpPr/>
          <p:nvPr/>
        </p:nvSpPr>
        <p:spPr>
          <a:xfrm>
            <a:off x="457200" y="3895344"/>
            <a:ext cx="8229600" cy="640080"/>
          </a:xfrm>
          <a:prstGeom prst="roundRect">
            <a:avLst>
              <a:gd name="adj" fmla="val 7143"/>
            </a:avLst>
          </a:prstGeom>
          <a:solidFill>
            <a:srgbClr val="102A54"/>
          </a:solidFill>
          <a:ln/>
        </p:spPr>
      </p:sp>
      <p:sp>
        <p:nvSpPr>
          <p:cNvPr id="20" name="Text 18"/>
          <p:cNvSpPr/>
          <p:nvPr/>
        </p:nvSpPr>
        <p:spPr>
          <a:xfrm>
            <a:off x="731520" y="3968496"/>
            <a:ext cx="7680960" cy="493776"/>
          </a:xfrm>
          <a:prstGeom prst="rect">
            <a:avLst/>
          </a:prstGeom>
          <a:noFill/>
          <a:ln/>
        </p:spPr>
        <p:txBody>
          <a:bodyPr wrap="square" rtlCol="0" anchor="ctr"/>
          <a:lstStyle/>
          <a:p>
            <a:pPr indent="0" marL="0">
              <a:lnSpc>
                <a:spcPts val="1700"/>
              </a:lnSpc>
              <a:buNone/>
            </a:pPr>
            <a:pPr indent="0" marL="0">
              <a:lnSpc>
                <a:spcPts val="1700"/>
              </a:lnSpc>
              <a:buNone/>
            </a:pPr>
            <a:r>
              <a:rPr lang="en-US" sz="1350" b="1" i="1" dirty="0">
                <a:solidFill>
                  <a:srgbClr val="FFFFFF"/>
                </a:solidFill>
                <a:latin typeface="Calibri" pitchFamily="34" charset="0"/>
                <a:ea typeface="Calibri" pitchFamily="34" charset="-122"/>
                <a:cs typeface="Calibri" pitchFamily="34" charset="-120"/>
              </a:rPr>
              <a:t>Today leans problem-based.</a:t>
            </a:r>
            <a:pPr indent="0" marL="0">
              <a:lnSpc>
                <a:spcPts val="1700"/>
              </a:lnSpc>
              <a:buNone/>
            </a:pPr>
            <a:r>
              <a:rPr lang="en-US" sz="1350" i="1" dirty="0">
                <a:solidFill>
                  <a:srgbClr val="C8D2DC"/>
                </a:solidFill>
                <a:latin typeface="Calibri" pitchFamily="34" charset="0"/>
                <a:ea typeface="Calibri" pitchFamily="34" charset="-122"/>
                <a:cs typeface="Calibri" pitchFamily="34" charset="-120"/>
              </a:rPr>
              <a:t> We start from a defense problem worth solving, use AI toward it, and judge the result against the problem.</a:t>
            </a:r>
            <a:endParaRPr lang="en-US" sz="1350" dirty="0"/>
          </a:p>
        </p:txBody>
      </p:sp>
      <p:sp>
        <p:nvSpPr>
          <p:cNvPr id="21" name="Shape 19"/>
          <p:cNvSpPr/>
          <p:nvPr/>
        </p:nvSpPr>
        <p:spPr>
          <a:xfrm>
            <a:off x="0" y="4686300"/>
            <a:ext cx="9144000" cy="457200"/>
          </a:xfrm>
          <a:prstGeom prst="rect">
            <a:avLst/>
          </a:prstGeom>
          <a:solidFill>
            <a:srgbClr val="102A54"/>
          </a:solidFill>
          <a:ln/>
        </p:spPr>
      </p:sp>
      <p:sp>
        <p:nvSpPr>
          <p:cNvPr id="22" name="Shape 20"/>
          <p:cNvSpPr/>
          <p:nvPr/>
        </p:nvSpPr>
        <p:spPr>
          <a:xfrm>
            <a:off x="0" y="4654296"/>
            <a:ext cx="9144000" cy="32004"/>
          </a:xfrm>
          <a:prstGeom prst="rect">
            <a:avLst/>
          </a:prstGeom>
          <a:solidFill>
            <a:srgbClr val="6F8FAF"/>
          </a:solidFill>
          <a:ln/>
        </p:spPr>
      </p:sp>
      <p:sp>
        <p:nvSpPr>
          <p:cNvPr id="23" name="Text 21"/>
          <p:cNvSpPr/>
          <p:nvPr/>
        </p:nvSpPr>
        <p:spPr>
          <a:xfrm>
            <a:off x="457200" y="4686300"/>
            <a:ext cx="2194560" cy="457200"/>
          </a:xfrm>
          <a:prstGeom prst="rect">
            <a:avLst/>
          </a:prstGeom>
          <a:noFill/>
          <a:ln/>
        </p:spPr>
        <p:txBody>
          <a:bodyPr wrap="square" rtlCol="0" anchor="ctr"/>
          <a:lstStyle/>
          <a:p>
            <a:pPr algn="l" indent="0" marL="0">
              <a:buNone/>
            </a:pPr>
            <a:r>
              <a:rPr lang="en-US" sz="900" b="1" spc="200" kern="0" dirty="0">
                <a:solidFill>
                  <a:srgbClr val="6F8FAF"/>
                </a:solidFill>
                <a:latin typeface="Calibri" pitchFamily="34" charset="0"/>
                <a:ea typeface="Calibri" pitchFamily="34" charset="-122"/>
                <a:cs typeface="Calibri" pitchFamily="34" charset="-120"/>
              </a:rPr>
              <a:t>✦ </a:t>
            </a:r>
            <a:pPr algn="l" indent="0" marL="0">
              <a:buNone/>
            </a:pPr>
            <a:r>
              <a:rPr lang="en-US" sz="900" b="1" spc="200" kern="0" dirty="0">
                <a:solidFill>
                  <a:srgbClr val="6F8FAF"/>
                </a:solidFill>
                <a:latin typeface="Calibri" pitchFamily="34" charset="0"/>
                <a:ea typeface="Calibri" pitchFamily="34" charset="-122"/>
                <a:cs typeface="Calibri" pitchFamily="34" charset="-120"/>
              </a:rPr>
              <a:t>TCDLAi</a:t>
            </a:r>
            <a:endParaRPr lang="en-US" sz="900" dirty="0"/>
          </a:p>
        </p:txBody>
      </p:sp>
      <p:sp>
        <p:nvSpPr>
          <p:cNvPr id="24" name="Text 22"/>
          <p:cNvSpPr/>
          <p:nvPr/>
        </p:nvSpPr>
        <p:spPr>
          <a:xfrm>
            <a:off x="2743200" y="4686300"/>
            <a:ext cx="3657600" cy="457200"/>
          </a:xfrm>
          <a:prstGeom prst="rect">
            <a:avLst/>
          </a:prstGeom>
          <a:noFill/>
          <a:ln/>
        </p:spPr>
        <p:txBody>
          <a:bodyPr wrap="square" rtlCol="0" anchor="ctr"/>
          <a:lstStyle/>
          <a:p>
            <a:pPr algn="ctr" indent="0" marL="0">
              <a:buNone/>
            </a:pPr>
            <a:r>
              <a:rPr lang="en-US" sz="900" i="1" dirty="0">
                <a:solidFill>
                  <a:srgbClr val="C6D4EC"/>
                </a:solidFill>
                <a:latin typeface="Calibri" pitchFamily="34" charset="0"/>
                <a:ea typeface="Calibri" pitchFamily="34" charset="-122"/>
                <a:cs typeface="Calibri" pitchFamily="34" charset="-120"/>
              </a:rPr>
              <a:t>Facilitator: Miguel Guhlin</a:t>
            </a:r>
            <a:endParaRPr lang="en-US" sz="900" dirty="0"/>
          </a:p>
        </p:txBody>
      </p:sp>
      <p:sp>
        <p:nvSpPr>
          <p:cNvPr id="25" name="Text 23"/>
          <p:cNvSpPr/>
          <p:nvPr/>
        </p:nvSpPr>
        <p:spPr>
          <a:xfrm>
            <a:off x="6035040" y="4686300"/>
            <a:ext cx="2651760" cy="457200"/>
          </a:xfrm>
          <a:prstGeom prst="rect">
            <a:avLst/>
          </a:prstGeom>
          <a:noFill/>
          <a:ln/>
        </p:spPr>
        <p:txBody>
          <a:bodyPr wrap="square" rtlCol="0" anchor="ctr"/>
          <a:lstStyle/>
          <a:p>
            <a:pPr algn="r" indent="0" marL="0">
              <a:buNone/>
            </a:pPr>
            <a:r>
              <a:rPr lang="en-US" sz="900" b="1" dirty="0">
                <a:solidFill>
                  <a:srgbClr val="C8D2DC"/>
                </a:solidFill>
                <a:latin typeface="Calibri" pitchFamily="34" charset="0"/>
                <a:ea typeface="Calibri" pitchFamily="34" charset="-122"/>
                <a:cs typeface="Calibri" pitchFamily="34" charset="-120"/>
              </a:rPr>
              <a:t>mglearn.github.io/legalai</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8229600" cy="256032"/>
          </a:xfrm>
          <a:prstGeom prst="rect">
            <a:avLst/>
          </a:prstGeom>
          <a:noFill/>
          <a:ln/>
        </p:spPr>
        <p:txBody>
          <a:bodyPr wrap="square" rtlCol="0" anchor="ctr"/>
          <a:lstStyle/>
          <a:p>
            <a:pPr indent="0" marL="0">
              <a:buNone/>
            </a:pPr>
            <a:r>
              <a:rPr lang="en-US" sz="1100" b="1" spc="200" kern="0" dirty="0">
                <a:solidFill>
                  <a:srgbClr val="2F5F8F"/>
                </a:solidFill>
                <a:latin typeface="Calibri" pitchFamily="34" charset="0"/>
                <a:ea typeface="Calibri" pitchFamily="34" charset="-122"/>
                <a:cs typeface="Calibri" pitchFamily="34" charset="-120"/>
              </a:rPr>
              <a:t>THE ROOT PROBLEM</a:t>
            </a:r>
            <a:endParaRPr lang="en-US" sz="1100" dirty="0"/>
          </a:p>
        </p:txBody>
      </p:sp>
      <p:sp>
        <p:nvSpPr>
          <p:cNvPr id="3" name="Shape 1"/>
          <p:cNvSpPr/>
          <p:nvPr/>
        </p:nvSpPr>
        <p:spPr>
          <a:xfrm>
            <a:off x="457200" y="758952"/>
            <a:ext cx="8229600" cy="0"/>
          </a:xfrm>
          <a:prstGeom prst="line">
            <a:avLst/>
          </a:prstGeom>
          <a:noFill/>
          <a:ln w="12700">
            <a:solidFill>
              <a:srgbClr val="D8DEE6"/>
            </a:solidFill>
            <a:prstDash val="solid"/>
          </a:ln>
        </p:spPr>
      </p:sp>
      <p:sp>
        <p:nvSpPr>
          <p:cNvPr id="4" name="Text 2"/>
          <p:cNvSpPr/>
          <p:nvPr/>
        </p:nvSpPr>
        <p:spPr>
          <a:xfrm>
            <a:off x="457200" y="658368"/>
            <a:ext cx="8229600" cy="640080"/>
          </a:xfrm>
          <a:prstGeom prst="rect">
            <a:avLst/>
          </a:prstGeom>
          <a:noFill/>
          <a:ln/>
        </p:spPr>
        <p:txBody>
          <a:bodyPr wrap="square" rtlCol="0" anchor="ctr"/>
          <a:lstStyle/>
          <a:p>
            <a:pPr indent="0" marL="0">
              <a:lnSpc>
                <a:spcPts val="2700"/>
              </a:lnSpc>
              <a:buNone/>
            </a:pPr>
            <a:r>
              <a:rPr lang="en-US" sz="2500" b="1" dirty="0">
                <a:solidFill>
                  <a:srgbClr val="102A54"/>
                </a:solidFill>
                <a:latin typeface="Georgia" pitchFamily="34" charset="0"/>
                <a:ea typeface="Georgia" pitchFamily="34" charset="-122"/>
                <a:cs typeface="Georgia" pitchFamily="34" charset="-120"/>
              </a:rPr>
              <a:t>Vague prompts raise ethical risk, not just poor quality</a:t>
            </a:r>
            <a:endParaRPr lang="en-US" sz="2500" dirty="0"/>
          </a:p>
        </p:txBody>
      </p:sp>
      <p:sp>
        <p:nvSpPr>
          <p:cNvPr id="5" name="Shape 3"/>
          <p:cNvSpPr/>
          <p:nvPr/>
        </p:nvSpPr>
        <p:spPr>
          <a:xfrm>
            <a:off x="457200" y="1463040"/>
            <a:ext cx="3977640" cy="2286000"/>
          </a:xfrm>
          <a:prstGeom prst="roundRect">
            <a:avLst>
              <a:gd name="adj" fmla="val 2000"/>
            </a:avLst>
          </a:prstGeom>
          <a:solidFill>
            <a:srgbClr val="F7F9FC"/>
          </a:solidFill>
          <a:ln w="12700">
            <a:solidFill>
              <a:srgbClr val="D8DEE6"/>
            </a:solidFill>
            <a:prstDash val="solid"/>
          </a:ln>
        </p:spPr>
      </p:sp>
      <p:sp>
        <p:nvSpPr>
          <p:cNvPr id="6" name="Shape 4"/>
          <p:cNvSpPr/>
          <p:nvPr/>
        </p:nvSpPr>
        <p:spPr>
          <a:xfrm>
            <a:off x="457200" y="1463040"/>
            <a:ext cx="3977640" cy="64008"/>
          </a:xfrm>
          <a:prstGeom prst="rect">
            <a:avLst/>
          </a:prstGeom>
          <a:solidFill>
            <a:srgbClr val="102A54"/>
          </a:solidFill>
          <a:ln/>
        </p:spPr>
      </p:sp>
      <p:sp>
        <p:nvSpPr>
          <p:cNvPr id="7" name="Text 5"/>
          <p:cNvSpPr/>
          <p:nvPr/>
        </p:nvSpPr>
        <p:spPr>
          <a:xfrm>
            <a:off x="640080" y="1609344"/>
            <a:ext cx="3611880" cy="365760"/>
          </a:xfrm>
          <a:prstGeom prst="rect">
            <a:avLst/>
          </a:prstGeom>
          <a:noFill/>
          <a:ln/>
        </p:spPr>
        <p:txBody>
          <a:bodyPr wrap="square" rtlCol="0" anchor="ctr"/>
          <a:lstStyle/>
          <a:p>
            <a:pPr indent="0" marL="0">
              <a:buNone/>
            </a:pPr>
            <a:r>
              <a:rPr lang="en-US" sz="1500" b="1" dirty="0">
                <a:solidFill>
                  <a:srgbClr val="102A54"/>
                </a:solidFill>
                <a:latin typeface="Georgia" pitchFamily="34" charset="0"/>
                <a:ea typeface="Georgia" pitchFamily="34" charset="-122"/>
                <a:cs typeface="Georgia" pitchFamily="34" charset="-120"/>
              </a:rPr>
              <a:t>Unstructured prompt</a:t>
            </a:r>
            <a:endParaRPr lang="en-US" sz="1500" dirty="0"/>
          </a:p>
        </p:txBody>
      </p:sp>
      <p:sp>
        <p:nvSpPr>
          <p:cNvPr id="8" name="Text 6"/>
          <p:cNvSpPr/>
          <p:nvPr/>
        </p:nvSpPr>
        <p:spPr>
          <a:xfrm>
            <a:off x="713232" y="2029968"/>
            <a:ext cx="3520440" cy="1600200"/>
          </a:xfrm>
          <a:prstGeom prst="rect">
            <a:avLst/>
          </a:prstGeom>
          <a:noFill/>
          <a:ln/>
        </p:spPr>
        <p:txBody>
          <a:bodyPr wrap="square" rtlCol="0" anchor="t"/>
          <a:lstStyle/>
          <a:p>
            <a:pPr marL="342900" indent="-342900">
              <a:lnSpc>
                <a:spcPts val="1500"/>
              </a:lnSpc>
              <a:spcAft>
                <a:spcPts val="400"/>
              </a:spcAft>
              <a:buSzPct val="100000"/>
              <a:buChar char="•"/>
            </a:pPr>
            <a:r>
              <a:rPr lang="en-US" sz="1250" dirty="0">
                <a:solidFill>
                  <a:srgbClr val="22303C"/>
                </a:solidFill>
                <a:latin typeface="Calibri" pitchFamily="34" charset="0"/>
                <a:ea typeface="Calibri" pitchFamily="34" charset="-122"/>
                <a:cs typeface="Calibri" pitchFamily="34" charset="-120"/>
              </a:rPr>
              <a:t>"Write me a motion to suppress"</a:t>
            </a:r>
            <a:endParaRPr lang="en-US" sz="1250" dirty="0"/>
          </a:p>
          <a:p>
            <a:pPr marL="342900" indent="-342900">
              <a:lnSpc>
                <a:spcPts val="1500"/>
              </a:lnSpc>
              <a:spcAft>
                <a:spcPts val="400"/>
              </a:spcAft>
              <a:buSzPct val="100000"/>
              <a:buChar char="•"/>
            </a:pPr>
            <a:r>
              <a:rPr lang="en-US" sz="1250" dirty="0">
                <a:solidFill>
                  <a:srgbClr val="22303C"/>
                </a:solidFill>
                <a:latin typeface="Calibri" pitchFamily="34" charset="0"/>
                <a:ea typeface="Calibri" pitchFamily="34" charset="-122"/>
                <a:cs typeface="Calibri" pitchFamily="34" charset="-120"/>
              </a:rPr>
              <a:t>No issue, no facts, no jurisdiction, no sources</a:t>
            </a:r>
            <a:endParaRPr lang="en-US" sz="1250" dirty="0"/>
          </a:p>
          <a:p>
            <a:pPr marL="342900" indent="-342900">
              <a:lnSpc>
                <a:spcPts val="1500"/>
              </a:lnSpc>
              <a:spcAft>
                <a:spcPts val="400"/>
              </a:spcAft>
              <a:buSzPct val="100000"/>
              <a:buChar char="•"/>
            </a:pPr>
            <a:r>
              <a:rPr lang="en-US" sz="1250" dirty="0">
                <a:solidFill>
                  <a:srgbClr val="22303C"/>
                </a:solidFill>
                <a:latin typeface="Calibri" pitchFamily="34" charset="0"/>
                <a:ea typeface="Calibri" pitchFamily="34" charset="-122"/>
                <a:cs typeface="Calibri" pitchFamily="34" charset="-120"/>
              </a:rPr>
              <a:t>Model fills the gaps by inventing</a:t>
            </a:r>
            <a:endParaRPr lang="en-US" sz="1250" dirty="0"/>
          </a:p>
          <a:p>
            <a:pPr marL="342900" indent="-342900">
              <a:lnSpc>
                <a:spcPts val="1500"/>
              </a:lnSpc>
              <a:spcAft>
                <a:spcPts val="400"/>
              </a:spcAft>
              <a:buSzPct val="100000"/>
              <a:buChar char="•"/>
            </a:pPr>
            <a:r>
              <a:rPr lang="en-US" sz="1250" dirty="0">
                <a:solidFill>
                  <a:srgbClr val="22303C"/>
                </a:solidFill>
                <a:latin typeface="Calibri" pitchFamily="34" charset="0"/>
                <a:ea typeface="Calibri" pitchFamily="34" charset="-122"/>
                <a:cs typeface="Calibri" pitchFamily="34" charset="-120"/>
              </a:rPr>
              <a:t>Confident, generic, and often wrong</a:t>
            </a:r>
            <a:endParaRPr lang="en-US" sz="1250" dirty="0"/>
          </a:p>
        </p:txBody>
      </p:sp>
      <p:sp>
        <p:nvSpPr>
          <p:cNvPr id="9" name="Shape 7"/>
          <p:cNvSpPr/>
          <p:nvPr/>
        </p:nvSpPr>
        <p:spPr>
          <a:xfrm>
            <a:off x="4709160" y="1463040"/>
            <a:ext cx="3977640" cy="2286000"/>
          </a:xfrm>
          <a:prstGeom prst="roundRect">
            <a:avLst>
              <a:gd name="adj" fmla="val 2000"/>
            </a:avLst>
          </a:prstGeom>
          <a:solidFill>
            <a:srgbClr val="F7F9FC"/>
          </a:solidFill>
          <a:ln w="12700">
            <a:solidFill>
              <a:srgbClr val="D8DEE6"/>
            </a:solidFill>
            <a:prstDash val="solid"/>
          </a:ln>
        </p:spPr>
      </p:sp>
      <p:sp>
        <p:nvSpPr>
          <p:cNvPr id="10" name="Shape 8"/>
          <p:cNvSpPr/>
          <p:nvPr/>
        </p:nvSpPr>
        <p:spPr>
          <a:xfrm>
            <a:off x="4709160" y="1463040"/>
            <a:ext cx="3977640" cy="64008"/>
          </a:xfrm>
          <a:prstGeom prst="rect">
            <a:avLst/>
          </a:prstGeom>
          <a:solidFill>
            <a:srgbClr val="6F8FAF"/>
          </a:solidFill>
          <a:ln/>
        </p:spPr>
      </p:sp>
      <p:sp>
        <p:nvSpPr>
          <p:cNvPr id="11" name="Text 9"/>
          <p:cNvSpPr/>
          <p:nvPr/>
        </p:nvSpPr>
        <p:spPr>
          <a:xfrm>
            <a:off x="4892040" y="1609344"/>
            <a:ext cx="3611880" cy="365760"/>
          </a:xfrm>
          <a:prstGeom prst="rect">
            <a:avLst/>
          </a:prstGeom>
          <a:noFill/>
          <a:ln/>
        </p:spPr>
        <p:txBody>
          <a:bodyPr wrap="square" rtlCol="0" anchor="ctr"/>
          <a:lstStyle/>
          <a:p>
            <a:pPr indent="0" marL="0">
              <a:buNone/>
            </a:pPr>
            <a:r>
              <a:rPr lang="en-US" sz="1500" b="1" dirty="0">
                <a:solidFill>
                  <a:srgbClr val="102A54"/>
                </a:solidFill>
                <a:latin typeface="Georgia" pitchFamily="34" charset="0"/>
                <a:ea typeface="Georgia" pitchFamily="34" charset="-122"/>
                <a:cs typeface="Georgia" pitchFamily="34" charset="-120"/>
              </a:rPr>
              <a:t>Structured prompt</a:t>
            </a:r>
            <a:endParaRPr lang="en-US" sz="1500" dirty="0"/>
          </a:p>
        </p:txBody>
      </p:sp>
      <p:sp>
        <p:nvSpPr>
          <p:cNvPr id="12" name="Text 10"/>
          <p:cNvSpPr/>
          <p:nvPr/>
        </p:nvSpPr>
        <p:spPr>
          <a:xfrm>
            <a:off x="4965192" y="2029968"/>
            <a:ext cx="3520440" cy="1600200"/>
          </a:xfrm>
          <a:prstGeom prst="rect">
            <a:avLst/>
          </a:prstGeom>
          <a:noFill/>
          <a:ln/>
        </p:spPr>
        <p:txBody>
          <a:bodyPr wrap="square" rtlCol="0" anchor="t"/>
          <a:lstStyle/>
          <a:p>
            <a:pPr marL="342900" indent="-342900">
              <a:lnSpc>
                <a:spcPts val="1500"/>
              </a:lnSpc>
              <a:spcAft>
                <a:spcPts val="400"/>
              </a:spcAft>
              <a:buSzPct val="100000"/>
              <a:buChar char="•"/>
            </a:pPr>
            <a:r>
              <a:rPr lang="en-US" sz="1250" dirty="0">
                <a:solidFill>
                  <a:srgbClr val="22303C"/>
                </a:solidFill>
                <a:latin typeface="Calibri" pitchFamily="34" charset="0"/>
                <a:ea typeface="Calibri" pitchFamily="34" charset="-122"/>
                <a:cs typeface="Calibri" pitchFamily="34" charset="-120"/>
              </a:rPr>
              <a:t>Names the issue, facts, court, and required sources</a:t>
            </a:r>
            <a:endParaRPr lang="en-US" sz="1250" dirty="0"/>
          </a:p>
          <a:p>
            <a:pPr marL="342900" indent="-342900">
              <a:lnSpc>
                <a:spcPts val="1500"/>
              </a:lnSpc>
              <a:spcAft>
                <a:spcPts val="400"/>
              </a:spcAft>
              <a:buSzPct val="100000"/>
              <a:buChar char="•"/>
            </a:pPr>
            <a:r>
              <a:rPr lang="en-US" sz="1250" dirty="0">
                <a:solidFill>
                  <a:srgbClr val="22303C"/>
                </a:solidFill>
                <a:latin typeface="Calibri" pitchFamily="34" charset="0"/>
                <a:ea typeface="Calibri" pitchFamily="34" charset="-122"/>
                <a:cs typeface="Calibri" pitchFamily="34" charset="-120"/>
              </a:rPr>
              <a:t>Tells the model what it may not assume</a:t>
            </a:r>
            <a:endParaRPr lang="en-US" sz="1250" dirty="0"/>
          </a:p>
          <a:p>
            <a:pPr marL="342900" indent="-342900">
              <a:lnSpc>
                <a:spcPts val="1500"/>
              </a:lnSpc>
              <a:spcAft>
                <a:spcPts val="400"/>
              </a:spcAft>
              <a:buSzPct val="100000"/>
              <a:buChar char="•"/>
            </a:pPr>
            <a:r>
              <a:rPr lang="en-US" sz="1250" dirty="0">
                <a:solidFill>
                  <a:srgbClr val="22303C"/>
                </a:solidFill>
                <a:latin typeface="Calibri" pitchFamily="34" charset="0"/>
                <a:ea typeface="Calibri" pitchFamily="34" charset="-122"/>
                <a:cs typeface="Calibri" pitchFamily="34" charset="-120"/>
              </a:rPr>
              <a:t>Asks for gaps and uncertainty to be flagged</a:t>
            </a:r>
            <a:endParaRPr lang="en-US" sz="1250" dirty="0"/>
          </a:p>
          <a:p>
            <a:pPr marL="342900" indent="-342900">
              <a:lnSpc>
                <a:spcPts val="1500"/>
              </a:lnSpc>
              <a:spcAft>
                <a:spcPts val="400"/>
              </a:spcAft>
              <a:buSzPct val="100000"/>
              <a:buChar char="•"/>
            </a:pPr>
            <a:r>
              <a:rPr lang="en-US" sz="1250" dirty="0">
                <a:solidFill>
                  <a:srgbClr val="22303C"/>
                </a:solidFill>
                <a:latin typeface="Calibri" pitchFamily="34" charset="0"/>
                <a:ea typeface="Calibri" pitchFamily="34" charset="-122"/>
                <a:cs typeface="Calibri" pitchFamily="34" charset="-120"/>
              </a:rPr>
              <a:t>Produces a checkable draft, not a guess</a:t>
            </a:r>
            <a:endParaRPr lang="en-US" sz="1250" dirty="0"/>
          </a:p>
        </p:txBody>
      </p:sp>
      <p:sp>
        <p:nvSpPr>
          <p:cNvPr id="13" name="Shape 11"/>
          <p:cNvSpPr/>
          <p:nvPr/>
        </p:nvSpPr>
        <p:spPr>
          <a:xfrm>
            <a:off x="457200" y="3895344"/>
            <a:ext cx="8229600" cy="640080"/>
          </a:xfrm>
          <a:prstGeom prst="roundRect">
            <a:avLst>
              <a:gd name="adj" fmla="val 7143"/>
            </a:avLst>
          </a:prstGeom>
          <a:solidFill>
            <a:srgbClr val="102A54"/>
          </a:solidFill>
          <a:ln/>
        </p:spPr>
      </p:sp>
      <p:sp>
        <p:nvSpPr>
          <p:cNvPr id="14" name="Text 12"/>
          <p:cNvSpPr/>
          <p:nvPr/>
        </p:nvSpPr>
        <p:spPr>
          <a:xfrm>
            <a:off x="731520" y="3968496"/>
            <a:ext cx="7680960" cy="493776"/>
          </a:xfrm>
          <a:prstGeom prst="rect">
            <a:avLst/>
          </a:prstGeom>
          <a:noFill/>
          <a:ln/>
        </p:spPr>
        <p:txBody>
          <a:bodyPr wrap="square" rtlCol="0" anchor="ctr"/>
          <a:lstStyle/>
          <a:p>
            <a:pPr indent="0" marL="0">
              <a:lnSpc>
                <a:spcPts val="1700"/>
              </a:lnSpc>
              <a:buNone/>
            </a:pPr>
            <a:pPr indent="0" marL="0">
              <a:lnSpc>
                <a:spcPts val="1700"/>
              </a:lnSpc>
              <a:buNone/>
            </a:pPr>
            <a:r>
              <a:rPr lang="en-US" sz="1350" b="1" i="1" dirty="0">
                <a:solidFill>
                  <a:srgbClr val="FFFFFF"/>
                </a:solidFill>
                <a:latin typeface="Calibri" pitchFamily="34" charset="0"/>
                <a:ea typeface="Calibri" pitchFamily="34" charset="-122"/>
                <a:cs typeface="Calibri" pitchFamily="34" charset="-120"/>
              </a:rPr>
              <a:t>The link to ethics.</a:t>
            </a:r>
            <a:pPr indent="0" marL="0">
              <a:lnSpc>
                <a:spcPts val="1700"/>
              </a:lnSpc>
              <a:buNone/>
            </a:pPr>
            <a:r>
              <a:rPr lang="en-US" sz="1350" i="1" dirty="0">
                <a:solidFill>
                  <a:srgbClr val="C8D2DC"/>
                </a:solidFill>
                <a:latin typeface="Calibri" pitchFamily="34" charset="0"/>
                <a:ea typeface="Calibri" pitchFamily="34" charset="-122"/>
                <a:cs typeface="Calibri" pitchFamily="34" charset="-120"/>
              </a:rPr>
              <a:t> The less you specify, the more the model invents. Structure is not about polish. It is about shrinking the room for fabrication.</a:t>
            </a:r>
            <a:endParaRPr lang="en-US" sz="1350" dirty="0"/>
          </a:p>
        </p:txBody>
      </p:sp>
      <p:sp>
        <p:nvSpPr>
          <p:cNvPr id="15" name="Shape 13"/>
          <p:cNvSpPr/>
          <p:nvPr/>
        </p:nvSpPr>
        <p:spPr>
          <a:xfrm>
            <a:off x="0" y="4686300"/>
            <a:ext cx="9144000" cy="457200"/>
          </a:xfrm>
          <a:prstGeom prst="rect">
            <a:avLst/>
          </a:prstGeom>
          <a:solidFill>
            <a:srgbClr val="102A54"/>
          </a:solidFill>
          <a:ln/>
        </p:spPr>
      </p:sp>
      <p:sp>
        <p:nvSpPr>
          <p:cNvPr id="16" name="Shape 14"/>
          <p:cNvSpPr/>
          <p:nvPr/>
        </p:nvSpPr>
        <p:spPr>
          <a:xfrm>
            <a:off x="0" y="4654296"/>
            <a:ext cx="9144000" cy="32004"/>
          </a:xfrm>
          <a:prstGeom prst="rect">
            <a:avLst/>
          </a:prstGeom>
          <a:solidFill>
            <a:srgbClr val="6F8FAF"/>
          </a:solidFill>
          <a:ln/>
        </p:spPr>
      </p:sp>
      <p:sp>
        <p:nvSpPr>
          <p:cNvPr id="17" name="Text 15"/>
          <p:cNvSpPr/>
          <p:nvPr/>
        </p:nvSpPr>
        <p:spPr>
          <a:xfrm>
            <a:off x="457200" y="4686300"/>
            <a:ext cx="2194560" cy="457200"/>
          </a:xfrm>
          <a:prstGeom prst="rect">
            <a:avLst/>
          </a:prstGeom>
          <a:noFill/>
          <a:ln/>
        </p:spPr>
        <p:txBody>
          <a:bodyPr wrap="square" rtlCol="0" anchor="ctr"/>
          <a:lstStyle/>
          <a:p>
            <a:pPr algn="l" indent="0" marL="0">
              <a:buNone/>
            </a:pPr>
            <a:r>
              <a:rPr lang="en-US" sz="900" b="1" spc="200" kern="0" dirty="0">
                <a:solidFill>
                  <a:srgbClr val="6F8FAF"/>
                </a:solidFill>
                <a:latin typeface="Calibri" pitchFamily="34" charset="0"/>
                <a:ea typeface="Calibri" pitchFamily="34" charset="-122"/>
                <a:cs typeface="Calibri" pitchFamily="34" charset="-120"/>
              </a:rPr>
              <a:t>✦ </a:t>
            </a:r>
            <a:pPr algn="l" indent="0" marL="0">
              <a:buNone/>
            </a:pPr>
            <a:r>
              <a:rPr lang="en-US" sz="900" b="1" spc="200" kern="0" dirty="0">
                <a:solidFill>
                  <a:srgbClr val="6F8FAF"/>
                </a:solidFill>
                <a:latin typeface="Calibri" pitchFamily="34" charset="0"/>
                <a:ea typeface="Calibri" pitchFamily="34" charset="-122"/>
                <a:cs typeface="Calibri" pitchFamily="34" charset="-120"/>
              </a:rPr>
              <a:t>TCDLAi</a:t>
            </a:r>
            <a:endParaRPr lang="en-US" sz="900" dirty="0"/>
          </a:p>
        </p:txBody>
      </p:sp>
      <p:sp>
        <p:nvSpPr>
          <p:cNvPr id="18" name="Text 16"/>
          <p:cNvSpPr/>
          <p:nvPr/>
        </p:nvSpPr>
        <p:spPr>
          <a:xfrm>
            <a:off x="2743200" y="4686300"/>
            <a:ext cx="3657600" cy="457200"/>
          </a:xfrm>
          <a:prstGeom prst="rect">
            <a:avLst/>
          </a:prstGeom>
          <a:noFill/>
          <a:ln/>
        </p:spPr>
        <p:txBody>
          <a:bodyPr wrap="square" rtlCol="0" anchor="ctr"/>
          <a:lstStyle/>
          <a:p>
            <a:pPr algn="ctr" indent="0" marL="0">
              <a:buNone/>
            </a:pPr>
            <a:r>
              <a:rPr lang="en-US" sz="900" i="1" dirty="0">
                <a:solidFill>
                  <a:srgbClr val="C6D4EC"/>
                </a:solidFill>
                <a:latin typeface="Calibri" pitchFamily="34" charset="0"/>
                <a:ea typeface="Calibri" pitchFamily="34" charset="-122"/>
                <a:cs typeface="Calibri" pitchFamily="34" charset="-120"/>
              </a:rPr>
              <a:t>Facilitator: Miguel Guhlin</a:t>
            </a:r>
            <a:endParaRPr lang="en-US" sz="900" dirty="0"/>
          </a:p>
        </p:txBody>
      </p:sp>
      <p:sp>
        <p:nvSpPr>
          <p:cNvPr id="19" name="Text 17"/>
          <p:cNvSpPr/>
          <p:nvPr/>
        </p:nvSpPr>
        <p:spPr>
          <a:xfrm>
            <a:off x="6035040" y="4686300"/>
            <a:ext cx="2651760" cy="457200"/>
          </a:xfrm>
          <a:prstGeom prst="rect">
            <a:avLst/>
          </a:prstGeom>
          <a:noFill/>
          <a:ln/>
        </p:spPr>
        <p:txBody>
          <a:bodyPr wrap="square" rtlCol="0" anchor="ctr"/>
          <a:lstStyle/>
          <a:p>
            <a:pPr algn="r" indent="0" marL="0">
              <a:buNone/>
            </a:pPr>
            <a:r>
              <a:rPr lang="en-US" sz="900" b="1" dirty="0">
                <a:solidFill>
                  <a:srgbClr val="C8D2DC"/>
                </a:solidFill>
                <a:latin typeface="Calibri" pitchFamily="34" charset="0"/>
                <a:ea typeface="Calibri" pitchFamily="34" charset="-122"/>
                <a:cs typeface="Calibri" pitchFamily="34" charset="-120"/>
              </a:rPr>
              <a:t>mglearn.github.io/legalai</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8229600" cy="256032"/>
          </a:xfrm>
          <a:prstGeom prst="rect">
            <a:avLst/>
          </a:prstGeom>
          <a:noFill/>
          <a:ln/>
        </p:spPr>
        <p:txBody>
          <a:bodyPr wrap="square" rtlCol="0" anchor="ctr"/>
          <a:lstStyle/>
          <a:p>
            <a:pPr indent="0" marL="0">
              <a:buNone/>
            </a:pPr>
            <a:r>
              <a:rPr lang="en-US" sz="1100" b="1" spc="200" kern="0" dirty="0">
                <a:solidFill>
                  <a:srgbClr val="2F5F8F"/>
                </a:solidFill>
                <a:latin typeface="Calibri" pitchFamily="34" charset="0"/>
                <a:ea typeface="Calibri" pitchFamily="34" charset="-122"/>
                <a:cs typeface="Calibri" pitchFamily="34" charset="-120"/>
              </a:rPr>
              <a:t>THE FOUNDATION</a:t>
            </a:r>
            <a:endParaRPr lang="en-US" sz="1100" dirty="0"/>
          </a:p>
        </p:txBody>
      </p:sp>
      <p:sp>
        <p:nvSpPr>
          <p:cNvPr id="3" name="Shape 1"/>
          <p:cNvSpPr/>
          <p:nvPr/>
        </p:nvSpPr>
        <p:spPr>
          <a:xfrm>
            <a:off x="457200" y="758952"/>
            <a:ext cx="8229600" cy="0"/>
          </a:xfrm>
          <a:prstGeom prst="line">
            <a:avLst/>
          </a:prstGeom>
          <a:noFill/>
          <a:ln w="12700">
            <a:solidFill>
              <a:srgbClr val="D8DEE6"/>
            </a:solidFill>
            <a:prstDash val="solid"/>
          </a:ln>
        </p:spPr>
      </p:sp>
      <p:sp>
        <p:nvSpPr>
          <p:cNvPr id="4" name="Text 2"/>
          <p:cNvSpPr/>
          <p:nvPr/>
        </p:nvSpPr>
        <p:spPr>
          <a:xfrm>
            <a:off x="457200" y="658368"/>
            <a:ext cx="8229600" cy="640080"/>
          </a:xfrm>
          <a:prstGeom prst="rect">
            <a:avLst/>
          </a:prstGeom>
          <a:noFill/>
          <a:ln/>
        </p:spPr>
        <p:txBody>
          <a:bodyPr wrap="square" rtlCol="0" anchor="ctr"/>
          <a:lstStyle/>
          <a:p>
            <a:pPr indent="0" marL="0">
              <a:lnSpc>
                <a:spcPts val="2700"/>
              </a:lnSpc>
              <a:buNone/>
            </a:pPr>
            <a:r>
              <a:rPr lang="en-US" sz="2500" b="1" dirty="0">
                <a:solidFill>
                  <a:srgbClr val="102A54"/>
                </a:solidFill>
                <a:latin typeface="Georgia" pitchFamily="34" charset="0"/>
                <a:ea typeface="Georgia" pitchFamily="34" charset="-122"/>
                <a:cs typeface="Georgia" pitchFamily="34" charset="-120"/>
              </a:rPr>
              <a:t>Four parts every serious prompt should carry</a:t>
            </a:r>
            <a:endParaRPr lang="en-US" sz="2500" dirty="0"/>
          </a:p>
        </p:txBody>
      </p:sp>
      <p:sp>
        <p:nvSpPr>
          <p:cNvPr id="5" name="Shape 3"/>
          <p:cNvSpPr/>
          <p:nvPr/>
        </p:nvSpPr>
        <p:spPr>
          <a:xfrm>
            <a:off x="457200" y="1463040"/>
            <a:ext cx="4014216" cy="1325880"/>
          </a:xfrm>
          <a:prstGeom prst="roundRect">
            <a:avLst>
              <a:gd name="adj" fmla="val 3448"/>
            </a:avLst>
          </a:prstGeom>
          <a:solidFill>
            <a:srgbClr val="F7F9FC"/>
          </a:solidFill>
          <a:ln w="12700">
            <a:solidFill>
              <a:srgbClr val="D8DEE6"/>
            </a:solidFill>
            <a:prstDash val="solid"/>
          </a:ln>
          <a:effectLst>
            <a:outerShdw sx="100000" sy="100000" kx="0" ky="0" algn="bl" rotWithShape="0" blurRad="88900" dist="25400" dir="8100000">
              <a:srgbClr val="000000">
                <a:alpha val="12000"/>
              </a:srgbClr>
            </a:outerShdw>
          </a:effectLst>
        </p:spPr>
      </p:sp>
      <p:sp>
        <p:nvSpPr>
          <p:cNvPr id="6" name="Shape 4"/>
          <p:cNvSpPr/>
          <p:nvPr/>
        </p:nvSpPr>
        <p:spPr>
          <a:xfrm>
            <a:off x="457200" y="1463040"/>
            <a:ext cx="54864" cy="1325880"/>
          </a:xfrm>
          <a:prstGeom prst="rect">
            <a:avLst/>
          </a:prstGeom>
          <a:solidFill>
            <a:srgbClr val="102A54"/>
          </a:solidFill>
          <a:ln/>
        </p:spPr>
      </p:sp>
      <p:sp>
        <p:nvSpPr>
          <p:cNvPr id="7" name="Text 5"/>
          <p:cNvSpPr/>
          <p:nvPr/>
        </p:nvSpPr>
        <p:spPr>
          <a:xfrm>
            <a:off x="621792" y="1572768"/>
            <a:ext cx="3739896" cy="365760"/>
          </a:xfrm>
          <a:prstGeom prst="rect">
            <a:avLst/>
          </a:prstGeom>
          <a:noFill/>
          <a:ln/>
        </p:spPr>
        <p:txBody>
          <a:bodyPr wrap="square" rtlCol="0" anchor="t"/>
          <a:lstStyle/>
          <a:p>
            <a:pPr indent="0" marL="0">
              <a:buNone/>
            </a:pPr>
            <a:r>
              <a:rPr lang="en-US" sz="1350" b="1" dirty="0">
                <a:solidFill>
                  <a:srgbClr val="102A54"/>
                </a:solidFill>
                <a:latin typeface="Georgia" pitchFamily="34" charset="0"/>
                <a:ea typeface="Georgia" pitchFamily="34" charset="-122"/>
                <a:cs typeface="Georgia" pitchFamily="34" charset="-120"/>
              </a:rPr>
              <a:t>Role</a:t>
            </a:r>
            <a:endParaRPr lang="en-US" sz="1350" dirty="0"/>
          </a:p>
        </p:txBody>
      </p:sp>
      <p:sp>
        <p:nvSpPr>
          <p:cNvPr id="8" name="Text 6"/>
          <p:cNvSpPr/>
          <p:nvPr/>
        </p:nvSpPr>
        <p:spPr>
          <a:xfrm>
            <a:off x="621792" y="1965960"/>
            <a:ext cx="3703320" cy="758952"/>
          </a:xfrm>
          <a:prstGeom prst="rect">
            <a:avLst/>
          </a:prstGeom>
          <a:noFill/>
          <a:ln/>
        </p:spPr>
        <p:txBody>
          <a:bodyPr wrap="square" rtlCol="0" anchor="t"/>
          <a:lstStyle/>
          <a:p>
            <a:pPr indent="0" marL="0">
              <a:lnSpc>
                <a:spcPts val="1400"/>
              </a:lnSpc>
              <a:buNone/>
            </a:pPr>
            <a:r>
              <a:rPr lang="en-US" sz="1100" dirty="0">
                <a:solidFill>
                  <a:srgbClr val="4F6072"/>
                </a:solidFill>
                <a:latin typeface="Calibri" pitchFamily="34" charset="0"/>
                <a:ea typeface="Calibri" pitchFamily="34" charset="-122"/>
                <a:cs typeface="Calibri" pitchFamily="34" charset="-120"/>
              </a:rPr>
              <a:t>Tell the model who to be. "Act as a Texas criminal defense attorney preparing for a suppression hearing."</a:t>
            </a:r>
            <a:endParaRPr lang="en-US" sz="1100" dirty="0"/>
          </a:p>
        </p:txBody>
      </p:sp>
      <p:sp>
        <p:nvSpPr>
          <p:cNvPr id="9" name="Shape 7"/>
          <p:cNvSpPr/>
          <p:nvPr/>
        </p:nvSpPr>
        <p:spPr>
          <a:xfrm>
            <a:off x="4672584" y="1463040"/>
            <a:ext cx="4014216" cy="1325880"/>
          </a:xfrm>
          <a:prstGeom prst="roundRect">
            <a:avLst>
              <a:gd name="adj" fmla="val 3448"/>
            </a:avLst>
          </a:prstGeom>
          <a:solidFill>
            <a:srgbClr val="F7F9FC"/>
          </a:solidFill>
          <a:ln w="12700">
            <a:solidFill>
              <a:srgbClr val="D8DEE6"/>
            </a:solidFill>
            <a:prstDash val="solid"/>
          </a:ln>
          <a:effectLst>
            <a:outerShdw sx="100000" sy="100000" kx="0" ky="0" algn="bl" rotWithShape="0" blurRad="88900" dist="25400" dir="8100000">
              <a:srgbClr val="000000">
                <a:alpha val="12000"/>
              </a:srgbClr>
            </a:outerShdw>
          </a:effectLst>
        </p:spPr>
      </p:sp>
      <p:sp>
        <p:nvSpPr>
          <p:cNvPr id="10" name="Shape 8"/>
          <p:cNvSpPr/>
          <p:nvPr/>
        </p:nvSpPr>
        <p:spPr>
          <a:xfrm>
            <a:off x="4672584" y="1463040"/>
            <a:ext cx="54864" cy="1325880"/>
          </a:xfrm>
          <a:prstGeom prst="rect">
            <a:avLst/>
          </a:prstGeom>
          <a:solidFill>
            <a:srgbClr val="102A54"/>
          </a:solidFill>
          <a:ln/>
        </p:spPr>
      </p:sp>
      <p:sp>
        <p:nvSpPr>
          <p:cNvPr id="11" name="Text 9"/>
          <p:cNvSpPr/>
          <p:nvPr/>
        </p:nvSpPr>
        <p:spPr>
          <a:xfrm>
            <a:off x="4837176" y="1572768"/>
            <a:ext cx="3739896" cy="365760"/>
          </a:xfrm>
          <a:prstGeom prst="rect">
            <a:avLst/>
          </a:prstGeom>
          <a:noFill/>
          <a:ln/>
        </p:spPr>
        <p:txBody>
          <a:bodyPr wrap="square" rtlCol="0" anchor="t"/>
          <a:lstStyle/>
          <a:p>
            <a:pPr indent="0" marL="0">
              <a:buNone/>
            </a:pPr>
            <a:r>
              <a:rPr lang="en-US" sz="1350" b="1" dirty="0">
                <a:solidFill>
                  <a:srgbClr val="102A54"/>
                </a:solidFill>
                <a:latin typeface="Georgia" pitchFamily="34" charset="0"/>
                <a:ea typeface="Georgia" pitchFamily="34" charset="-122"/>
                <a:cs typeface="Georgia" pitchFamily="34" charset="-120"/>
              </a:rPr>
              <a:t>Context</a:t>
            </a:r>
            <a:endParaRPr lang="en-US" sz="1350" dirty="0"/>
          </a:p>
        </p:txBody>
      </p:sp>
      <p:sp>
        <p:nvSpPr>
          <p:cNvPr id="12" name="Text 10"/>
          <p:cNvSpPr/>
          <p:nvPr/>
        </p:nvSpPr>
        <p:spPr>
          <a:xfrm>
            <a:off x="4837176" y="1965960"/>
            <a:ext cx="3703320" cy="758952"/>
          </a:xfrm>
          <a:prstGeom prst="rect">
            <a:avLst/>
          </a:prstGeom>
          <a:noFill/>
          <a:ln/>
        </p:spPr>
        <p:txBody>
          <a:bodyPr wrap="square" rtlCol="0" anchor="t"/>
          <a:lstStyle/>
          <a:p>
            <a:pPr indent="0" marL="0">
              <a:lnSpc>
                <a:spcPts val="1400"/>
              </a:lnSpc>
              <a:buNone/>
            </a:pPr>
            <a:r>
              <a:rPr lang="en-US" sz="1100" dirty="0">
                <a:solidFill>
                  <a:srgbClr val="4F6072"/>
                </a:solidFill>
                <a:latin typeface="Calibri" pitchFamily="34" charset="0"/>
                <a:ea typeface="Calibri" pitchFamily="34" charset="-122"/>
                <a:cs typeface="Calibri" pitchFamily="34" charset="-120"/>
              </a:rPr>
              <a:t>Give the facts, the jurisdiction, and the constraints. The fictional stand-in facts go here.</a:t>
            </a:r>
            <a:endParaRPr lang="en-US" sz="1100" dirty="0"/>
          </a:p>
        </p:txBody>
      </p:sp>
      <p:sp>
        <p:nvSpPr>
          <p:cNvPr id="13" name="Shape 11"/>
          <p:cNvSpPr/>
          <p:nvPr/>
        </p:nvSpPr>
        <p:spPr>
          <a:xfrm>
            <a:off x="457200" y="2953512"/>
            <a:ext cx="4014216" cy="1325880"/>
          </a:xfrm>
          <a:prstGeom prst="roundRect">
            <a:avLst>
              <a:gd name="adj" fmla="val 3448"/>
            </a:avLst>
          </a:prstGeom>
          <a:solidFill>
            <a:srgbClr val="F7F9FC"/>
          </a:solidFill>
          <a:ln w="12700">
            <a:solidFill>
              <a:srgbClr val="D8DEE6"/>
            </a:solidFill>
            <a:prstDash val="solid"/>
          </a:ln>
          <a:effectLst>
            <a:outerShdw sx="100000" sy="100000" kx="0" ky="0" algn="bl" rotWithShape="0" blurRad="88900" dist="25400" dir="8100000">
              <a:srgbClr val="000000">
                <a:alpha val="12000"/>
              </a:srgbClr>
            </a:outerShdw>
          </a:effectLst>
        </p:spPr>
      </p:sp>
      <p:sp>
        <p:nvSpPr>
          <p:cNvPr id="14" name="Shape 12"/>
          <p:cNvSpPr/>
          <p:nvPr/>
        </p:nvSpPr>
        <p:spPr>
          <a:xfrm>
            <a:off x="457200" y="2953512"/>
            <a:ext cx="54864" cy="1325880"/>
          </a:xfrm>
          <a:prstGeom prst="rect">
            <a:avLst/>
          </a:prstGeom>
          <a:solidFill>
            <a:srgbClr val="6F8FAF"/>
          </a:solidFill>
          <a:ln/>
        </p:spPr>
      </p:sp>
      <p:sp>
        <p:nvSpPr>
          <p:cNvPr id="15" name="Text 13"/>
          <p:cNvSpPr/>
          <p:nvPr/>
        </p:nvSpPr>
        <p:spPr>
          <a:xfrm>
            <a:off x="621792" y="3063240"/>
            <a:ext cx="3739896" cy="365760"/>
          </a:xfrm>
          <a:prstGeom prst="rect">
            <a:avLst/>
          </a:prstGeom>
          <a:noFill/>
          <a:ln/>
        </p:spPr>
        <p:txBody>
          <a:bodyPr wrap="square" rtlCol="0" anchor="t"/>
          <a:lstStyle/>
          <a:p>
            <a:pPr indent="0" marL="0">
              <a:buNone/>
            </a:pPr>
            <a:r>
              <a:rPr lang="en-US" sz="1350" b="1" dirty="0">
                <a:solidFill>
                  <a:srgbClr val="102A54"/>
                </a:solidFill>
                <a:latin typeface="Georgia" pitchFamily="34" charset="0"/>
                <a:ea typeface="Georgia" pitchFamily="34" charset="-122"/>
                <a:cs typeface="Georgia" pitchFamily="34" charset="-120"/>
              </a:rPr>
              <a:t>Task</a:t>
            </a:r>
            <a:endParaRPr lang="en-US" sz="1350" dirty="0"/>
          </a:p>
        </p:txBody>
      </p:sp>
      <p:sp>
        <p:nvSpPr>
          <p:cNvPr id="16" name="Text 14"/>
          <p:cNvSpPr/>
          <p:nvPr/>
        </p:nvSpPr>
        <p:spPr>
          <a:xfrm>
            <a:off x="621792" y="3456432"/>
            <a:ext cx="3703320" cy="758952"/>
          </a:xfrm>
          <a:prstGeom prst="rect">
            <a:avLst/>
          </a:prstGeom>
          <a:noFill/>
          <a:ln/>
        </p:spPr>
        <p:txBody>
          <a:bodyPr wrap="square" rtlCol="0" anchor="t"/>
          <a:lstStyle/>
          <a:p>
            <a:pPr indent="0" marL="0">
              <a:lnSpc>
                <a:spcPts val="1400"/>
              </a:lnSpc>
              <a:buNone/>
            </a:pPr>
            <a:r>
              <a:rPr lang="en-US" sz="1100" dirty="0">
                <a:solidFill>
                  <a:srgbClr val="4F6072"/>
                </a:solidFill>
                <a:latin typeface="Calibri" pitchFamily="34" charset="0"/>
                <a:ea typeface="Calibri" pitchFamily="34" charset="-122"/>
                <a:cs typeface="Calibri" pitchFamily="34" charset="-120"/>
              </a:rPr>
              <a:t>State exactly what you want produced, and how long or detailed it should be.</a:t>
            </a:r>
            <a:endParaRPr lang="en-US" sz="1100" dirty="0"/>
          </a:p>
        </p:txBody>
      </p:sp>
      <p:sp>
        <p:nvSpPr>
          <p:cNvPr id="17" name="Shape 15"/>
          <p:cNvSpPr/>
          <p:nvPr/>
        </p:nvSpPr>
        <p:spPr>
          <a:xfrm>
            <a:off x="4672584" y="2953512"/>
            <a:ext cx="4014216" cy="1325880"/>
          </a:xfrm>
          <a:prstGeom prst="roundRect">
            <a:avLst>
              <a:gd name="adj" fmla="val 3448"/>
            </a:avLst>
          </a:prstGeom>
          <a:solidFill>
            <a:srgbClr val="F7F9FC"/>
          </a:solidFill>
          <a:ln w="12700">
            <a:solidFill>
              <a:srgbClr val="D8DEE6"/>
            </a:solidFill>
            <a:prstDash val="solid"/>
          </a:ln>
          <a:effectLst>
            <a:outerShdw sx="100000" sy="100000" kx="0" ky="0" algn="bl" rotWithShape="0" blurRad="88900" dist="25400" dir="8100000">
              <a:srgbClr val="000000">
                <a:alpha val="12000"/>
              </a:srgbClr>
            </a:outerShdw>
          </a:effectLst>
        </p:spPr>
      </p:sp>
      <p:sp>
        <p:nvSpPr>
          <p:cNvPr id="18" name="Shape 16"/>
          <p:cNvSpPr/>
          <p:nvPr/>
        </p:nvSpPr>
        <p:spPr>
          <a:xfrm>
            <a:off x="4672584" y="2953512"/>
            <a:ext cx="54864" cy="1325880"/>
          </a:xfrm>
          <a:prstGeom prst="rect">
            <a:avLst/>
          </a:prstGeom>
          <a:solidFill>
            <a:srgbClr val="6F8FAF"/>
          </a:solidFill>
          <a:ln/>
        </p:spPr>
      </p:sp>
      <p:sp>
        <p:nvSpPr>
          <p:cNvPr id="19" name="Text 17"/>
          <p:cNvSpPr/>
          <p:nvPr/>
        </p:nvSpPr>
        <p:spPr>
          <a:xfrm>
            <a:off x="4837176" y="3063240"/>
            <a:ext cx="3739896" cy="365760"/>
          </a:xfrm>
          <a:prstGeom prst="rect">
            <a:avLst/>
          </a:prstGeom>
          <a:noFill/>
          <a:ln/>
        </p:spPr>
        <p:txBody>
          <a:bodyPr wrap="square" rtlCol="0" anchor="t"/>
          <a:lstStyle/>
          <a:p>
            <a:pPr indent="0" marL="0">
              <a:buNone/>
            </a:pPr>
            <a:r>
              <a:rPr lang="en-US" sz="1350" b="1" dirty="0">
                <a:solidFill>
                  <a:srgbClr val="102A54"/>
                </a:solidFill>
                <a:latin typeface="Georgia" pitchFamily="34" charset="0"/>
                <a:ea typeface="Georgia" pitchFamily="34" charset="-122"/>
                <a:cs typeface="Georgia" pitchFamily="34" charset="-120"/>
              </a:rPr>
              <a:t>Format and limits</a:t>
            </a:r>
            <a:endParaRPr lang="en-US" sz="1350" dirty="0"/>
          </a:p>
        </p:txBody>
      </p:sp>
      <p:sp>
        <p:nvSpPr>
          <p:cNvPr id="20" name="Text 18"/>
          <p:cNvSpPr/>
          <p:nvPr/>
        </p:nvSpPr>
        <p:spPr>
          <a:xfrm>
            <a:off x="4837176" y="3456432"/>
            <a:ext cx="3703320" cy="758952"/>
          </a:xfrm>
          <a:prstGeom prst="rect">
            <a:avLst/>
          </a:prstGeom>
          <a:noFill/>
          <a:ln/>
        </p:spPr>
        <p:txBody>
          <a:bodyPr wrap="square" rtlCol="0" anchor="t"/>
          <a:lstStyle/>
          <a:p>
            <a:pPr indent="0" marL="0">
              <a:lnSpc>
                <a:spcPts val="1400"/>
              </a:lnSpc>
              <a:buNone/>
            </a:pPr>
            <a:r>
              <a:rPr lang="en-US" sz="1100" dirty="0">
                <a:solidFill>
                  <a:srgbClr val="4F6072"/>
                </a:solidFill>
                <a:latin typeface="Calibri" pitchFamily="34" charset="0"/>
                <a:ea typeface="Calibri" pitchFamily="34" charset="-122"/>
                <a:cs typeface="Calibri" pitchFamily="34" charset="-120"/>
              </a:rPr>
              <a:t>Set the output shape, and add the guardrail. Cite only sources I provide. Flag anything you are unsure of.</a:t>
            </a:r>
            <a:endParaRPr lang="en-US" sz="1100" dirty="0"/>
          </a:p>
        </p:txBody>
      </p:sp>
      <p:sp>
        <p:nvSpPr>
          <p:cNvPr id="21" name="Shape 19"/>
          <p:cNvSpPr/>
          <p:nvPr/>
        </p:nvSpPr>
        <p:spPr>
          <a:xfrm>
            <a:off x="0" y="4686300"/>
            <a:ext cx="9144000" cy="457200"/>
          </a:xfrm>
          <a:prstGeom prst="rect">
            <a:avLst/>
          </a:prstGeom>
          <a:solidFill>
            <a:srgbClr val="102A54"/>
          </a:solidFill>
          <a:ln/>
        </p:spPr>
      </p:sp>
      <p:sp>
        <p:nvSpPr>
          <p:cNvPr id="22" name="Shape 20"/>
          <p:cNvSpPr/>
          <p:nvPr/>
        </p:nvSpPr>
        <p:spPr>
          <a:xfrm>
            <a:off x="0" y="4654296"/>
            <a:ext cx="9144000" cy="32004"/>
          </a:xfrm>
          <a:prstGeom prst="rect">
            <a:avLst/>
          </a:prstGeom>
          <a:solidFill>
            <a:srgbClr val="6F8FAF"/>
          </a:solidFill>
          <a:ln/>
        </p:spPr>
      </p:sp>
      <p:sp>
        <p:nvSpPr>
          <p:cNvPr id="23" name="Text 21"/>
          <p:cNvSpPr/>
          <p:nvPr/>
        </p:nvSpPr>
        <p:spPr>
          <a:xfrm>
            <a:off x="457200" y="4686300"/>
            <a:ext cx="2194560" cy="457200"/>
          </a:xfrm>
          <a:prstGeom prst="rect">
            <a:avLst/>
          </a:prstGeom>
          <a:noFill/>
          <a:ln/>
        </p:spPr>
        <p:txBody>
          <a:bodyPr wrap="square" rtlCol="0" anchor="ctr"/>
          <a:lstStyle/>
          <a:p>
            <a:pPr algn="l" indent="0" marL="0">
              <a:buNone/>
            </a:pPr>
            <a:r>
              <a:rPr lang="en-US" sz="900" b="1" spc="200" kern="0" dirty="0">
                <a:solidFill>
                  <a:srgbClr val="6F8FAF"/>
                </a:solidFill>
                <a:latin typeface="Calibri" pitchFamily="34" charset="0"/>
                <a:ea typeface="Calibri" pitchFamily="34" charset="-122"/>
                <a:cs typeface="Calibri" pitchFamily="34" charset="-120"/>
              </a:rPr>
              <a:t>✦ </a:t>
            </a:r>
            <a:pPr algn="l" indent="0" marL="0">
              <a:buNone/>
            </a:pPr>
            <a:r>
              <a:rPr lang="en-US" sz="900" b="1" spc="200" kern="0" dirty="0">
                <a:solidFill>
                  <a:srgbClr val="6F8FAF"/>
                </a:solidFill>
                <a:latin typeface="Calibri" pitchFamily="34" charset="0"/>
                <a:ea typeface="Calibri" pitchFamily="34" charset="-122"/>
                <a:cs typeface="Calibri" pitchFamily="34" charset="-120"/>
              </a:rPr>
              <a:t>TCDLAi</a:t>
            </a:r>
            <a:endParaRPr lang="en-US" sz="900" dirty="0"/>
          </a:p>
        </p:txBody>
      </p:sp>
      <p:sp>
        <p:nvSpPr>
          <p:cNvPr id="24" name="Text 22"/>
          <p:cNvSpPr/>
          <p:nvPr/>
        </p:nvSpPr>
        <p:spPr>
          <a:xfrm>
            <a:off x="2743200" y="4686300"/>
            <a:ext cx="3657600" cy="457200"/>
          </a:xfrm>
          <a:prstGeom prst="rect">
            <a:avLst/>
          </a:prstGeom>
          <a:noFill/>
          <a:ln/>
        </p:spPr>
        <p:txBody>
          <a:bodyPr wrap="square" rtlCol="0" anchor="ctr"/>
          <a:lstStyle/>
          <a:p>
            <a:pPr algn="ctr" indent="0" marL="0">
              <a:buNone/>
            </a:pPr>
            <a:r>
              <a:rPr lang="en-US" sz="900" i="1" dirty="0">
                <a:solidFill>
                  <a:srgbClr val="C6D4EC"/>
                </a:solidFill>
                <a:latin typeface="Calibri" pitchFamily="34" charset="0"/>
                <a:ea typeface="Calibri" pitchFamily="34" charset="-122"/>
                <a:cs typeface="Calibri" pitchFamily="34" charset="-120"/>
              </a:rPr>
              <a:t>Facilitator: Miguel Guhlin</a:t>
            </a:r>
            <a:endParaRPr lang="en-US" sz="900" dirty="0"/>
          </a:p>
        </p:txBody>
      </p:sp>
      <p:sp>
        <p:nvSpPr>
          <p:cNvPr id="25" name="Text 23"/>
          <p:cNvSpPr/>
          <p:nvPr/>
        </p:nvSpPr>
        <p:spPr>
          <a:xfrm>
            <a:off x="6035040" y="4686300"/>
            <a:ext cx="2651760" cy="457200"/>
          </a:xfrm>
          <a:prstGeom prst="rect">
            <a:avLst/>
          </a:prstGeom>
          <a:noFill/>
          <a:ln/>
        </p:spPr>
        <p:txBody>
          <a:bodyPr wrap="square" rtlCol="0" anchor="ctr"/>
          <a:lstStyle/>
          <a:p>
            <a:pPr algn="r" indent="0" marL="0">
              <a:buNone/>
            </a:pPr>
            <a:r>
              <a:rPr lang="en-US" sz="900" b="1" dirty="0">
                <a:solidFill>
                  <a:srgbClr val="C8D2DC"/>
                </a:solidFill>
                <a:latin typeface="Calibri" pitchFamily="34" charset="0"/>
                <a:ea typeface="Calibri" pitchFamily="34" charset="-122"/>
                <a:cs typeface="Calibri" pitchFamily="34" charset="-120"/>
              </a:rPr>
              <a:t>mglearn.github.io/legalai</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8229600" cy="256032"/>
          </a:xfrm>
          <a:prstGeom prst="rect">
            <a:avLst/>
          </a:prstGeom>
          <a:noFill/>
          <a:ln/>
        </p:spPr>
        <p:txBody>
          <a:bodyPr wrap="square" rtlCol="0" anchor="ctr"/>
          <a:lstStyle/>
          <a:p>
            <a:pPr indent="0" marL="0">
              <a:buNone/>
            </a:pPr>
            <a:r>
              <a:rPr lang="en-US" sz="1100" b="1" spc="200" kern="0" dirty="0">
                <a:solidFill>
                  <a:srgbClr val="2F5F8F"/>
                </a:solidFill>
                <a:latin typeface="Calibri" pitchFamily="34" charset="0"/>
                <a:ea typeface="Calibri" pitchFamily="34" charset="-122"/>
                <a:cs typeface="Calibri" pitchFamily="34" charset="-120"/>
              </a:rPr>
              <a:t>GOOD, BETTER, BEST</a:t>
            </a:r>
            <a:endParaRPr lang="en-US" sz="1100" dirty="0"/>
          </a:p>
        </p:txBody>
      </p:sp>
      <p:sp>
        <p:nvSpPr>
          <p:cNvPr id="3" name="Shape 1"/>
          <p:cNvSpPr/>
          <p:nvPr/>
        </p:nvSpPr>
        <p:spPr>
          <a:xfrm>
            <a:off x="457200" y="758952"/>
            <a:ext cx="8229600" cy="0"/>
          </a:xfrm>
          <a:prstGeom prst="line">
            <a:avLst/>
          </a:prstGeom>
          <a:noFill/>
          <a:ln w="12700">
            <a:solidFill>
              <a:srgbClr val="D8DEE6"/>
            </a:solidFill>
            <a:prstDash val="solid"/>
          </a:ln>
        </p:spPr>
      </p:sp>
      <p:sp>
        <p:nvSpPr>
          <p:cNvPr id="4" name="Text 2"/>
          <p:cNvSpPr/>
          <p:nvPr/>
        </p:nvSpPr>
        <p:spPr>
          <a:xfrm>
            <a:off x="457200" y="658368"/>
            <a:ext cx="8229600" cy="640080"/>
          </a:xfrm>
          <a:prstGeom prst="rect">
            <a:avLst/>
          </a:prstGeom>
          <a:noFill/>
          <a:ln/>
        </p:spPr>
        <p:txBody>
          <a:bodyPr wrap="square" rtlCol="0" anchor="ctr"/>
          <a:lstStyle/>
          <a:p>
            <a:pPr indent="0" marL="0">
              <a:lnSpc>
                <a:spcPts val="2700"/>
              </a:lnSpc>
              <a:buNone/>
            </a:pPr>
            <a:r>
              <a:rPr lang="en-US" sz="2500" b="1" dirty="0">
                <a:solidFill>
                  <a:srgbClr val="102A54"/>
                </a:solidFill>
                <a:latin typeface="Georgia" pitchFamily="34" charset="0"/>
                <a:ea typeface="Georgia" pitchFamily="34" charset="-122"/>
                <a:cs typeface="Georgia" pitchFamily="34" charset="-120"/>
              </a:rPr>
              <a:t>Watch one task climb three tiers</a:t>
            </a:r>
            <a:endParaRPr lang="en-US" sz="2500" dirty="0"/>
          </a:p>
        </p:txBody>
      </p:sp>
      <p:sp>
        <p:nvSpPr>
          <p:cNvPr id="5" name="Text 3"/>
          <p:cNvSpPr/>
          <p:nvPr/>
        </p:nvSpPr>
        <p:spPr>
          <a:xfrm>
            <a:off x="457200" y="1463040"/>
            <a:ext cx="8229600" cy="640080"/>
          </a:xfrm>
          <a:prstGeom prst="rect">
            <a:avLst/>
          </a:prstGeom>
          <a:noFill/>
          <a:ln/>
        </p:spPr>
        <p:txBody>
          <a:bodyPr wrap="square" rtlCol="0" anchor="ctr"/>
          <a:lstStyle/>
          <a:p>
            <a:pPr indent="0" marL="0">
              <a:lnSpc>
                <a:spcPts val="2100"/>
              </a:lnSpc>
              <a:buNone/>
            </a:pPr>
            <a:r>
              <a:rPr lang="en-US" sz="1500" dirty="0">
                <a:solidFill>
                  <a:srgbClr val="4F6072"/>
                </a:solidFill>
                <a:latin typeface="Calibri" pitchFamily="34" charset="0"/>
                <a:ea typeface="Calibri" pitchFamily="34" charset="-122"/>
                <a:cs typeface="Calibri" pitchFamily="34" charset="-120"/>
              </a:rPr>
              <a:t>Task: identify defenses for a fictional driving-while-intoxicated stop.</a:t>
            </a:r>
            <a:endParaRPr lang="en-US" sz="1500" dirty="0"/>
          </a:p>
        </p:txBody>
      </p:sp>
      <p:sp>
        <p:nvSpPr>
          <p:cNvPr id="6" name="Shape 4"/>
          <p:cNvSpPr/>
          <p:nvPr/>
        </p:nvSpPr>
        <p:spPr>
          <a:xfrm>
            <a:off x="457200" y="2121408"/>
            <a:ext cx="2621280" cy="2148840"/>
          </a:xfrm>
          <a:prstGeom prst="roundRect">
            <a:avLst>
              <a:gd name="adj" fmla="val 1702"/>
            </a:avLst>
          </a:prstGeom>
          <a:solidFill>
            <a:srgbClr val="FFFFFF"/>
          </a:solidFill>
          <a:ln w="16510">
            <a:solidFill>
              <a:srgbClr val="6B7A8C"/>
            </a:solidFill>
            <a:prstDash val="solid"/>
          </a:ln>
        </p:spPr>
      </p:sp>
      <p:sp>
        <p:nvSpPr>
          <p:cNvPr id="7" name="Shape 5"/>
          <p:cNvSpPr/>
          <p:nvPr/>
        </p:nvSpPr>
        <p:spPr>
          <a:xfrm>
            <a:off x="457200" y="2121408"/>
            <a:ext cx="2621280" cy="384048"/>
          </a:xfrm>
          <a:prstGeom prst="rect">
            <a:avLst/>
          </a:prstGeom>
          <a:solidFill>
            <a:srgbClr val="6B7A8C"/>
          </a:solidFill>
          <a:ln/>
        </p:spPr>
      </p:sp>
      <p:sp>
        <p:nvSpPr>
          <p:cNvPr id="8" name="Text 6"/>
          <p:cNvSpPr/>
          <p:nvPr/>
        </p:nvSpPr>
        <p:spPr>
          <a:xfrm>
            <a:off x="585216" y="2121408"/>
            <a:ext cx="2365248" cy="384048"/>
          </a:xfrm>
          <a:prstGeom prst="rect">
            <a:avLst/>
          </a:prstGeom>
          <a:noFill/>
          <a:ln/>
        </p:spPr>
        <p:txBody>
          <a:bodyPr wrap="square" rtlCol="0" anchor="ctr"/>
          <a:lstStyle/>
          <a:p>
            <a:pPr indent="0" marL="0">
              <a:buNone/>
            </a:pPr>
            <a:r>
              <a:rPr lang="en-US" sz="950" b="1" spc="100" kern="0" dirty="0">
                <a:solidFill>
                  <a:srgbClr val="FFFFFF"/>
                </a:solidFill>
                <a:latin typeface="Calibri" pitchFamily="34" charset="0"/>
                <a:ea typeface="Calibri" pitchFamily="34" charset="-122"/>
                <a:cs typeface="Calibri" pitchFamily="34" charset="-120"/>
              </a:rPr>
              <a:t>GOOD · FAST DRAFT</a:t>
            </a:r>
            <a:endParaRPr lang="en-US" sz="950" dirty="0"/>
          </a:p>
        </p:txBody>
      </p:sp>
      <p:sp>
        <p:nvSpPr>
          <p:cNvPr id="9" name="Text 7"/>
          <p:cNvSpPr/>
          <p:nvPr/>
        </p:nvSpPr>
        <p:spPr>
          <a:xfrm>
            <a:off x="603504" y="2615184"/>
            <a:ext cx="2328672" cy="1545336"/>
          </a:xfrm>
          <a:prstGeom prst="rect">
            <a:avLst/>
          </a:prstGeom>
          <a:noFill/>
          <a:ln/>
        </p:spPr>
        <p:txBody>
          <a:bodyPr wrap="square" rtlCol="0" anchor="t"/>
          <a:lstStyle/>
          <a:p>
            <a:pPr indent="0" marL="0">
              <a:lnSpc>
                <a:spcPts val="1300"/>
              </a:lnSpc>
              <a:buNone/>
            </a:pPr>
            <a:r>
              <a:rPr lang="en-US" sz="1000" dirty="0">
                <a:solidFill>
                  <a:srgbClr val="22303C"/>
                </a:solidFill>
                <a:latin typeface="Consolas" pitchFamily="34" charset="0"/>
                <a:ea typeface="Consolas" pitchFamily="34" charset="-122"/>
                <a:cs typeface="Consolas" pitchFamily="34" charset="-120"/>
              </a:rPr>
              <a:t>"What are some defenses to a DWI?"</a:t>
            </a:r>
            <a:endParaRPr lang="en-US" sz="1000" dirty="0"/>
          </a:p>
        </p:txBody>
      </p:sp>
      <p:sp>
        <p:nvSpPr>
          <p:cNvPr id="10" name="Shape 8"/>
          <p:cNvSpPr/>
          <p:nvPr/>
        </p:nvSpPr>
        <p:spPr>
          <a:xfrm>
            <a:off x="3261360" y="2121408"/>
            <a:ext cx="2621280" cy="2148840"/>
          </a:xfrm>
          <a:prstGeom prst="roundRect">
            <a:avLst>
              <a:gd name="adj" fmla="val 1702"/>
            </a:avLst>
          </a:prstGeom>
          <a:solidFill>
            <a:srgbClr val="FFFFFF"/>
          </a:solidFill>
          <a:ln w="16510">
            <a:solidFill>
              <a:srgbClr val="2F5F8F"/>
            </a:solidFill>
            <a:prstDash val="solid"/>
          </a:ln>
        </p:spPr>
      </p:sp>
      <p:sp>
        <p:nvSpPr>
          <p:cNvPr id="11" name="Shape 9"/>
          <p:cNvSpPr/>
          <p:nvPr/>
        </p:nvSpPr>
        <p:spPr>
          <a:xfrm>
            <a:off x="3261360" y="2121408"/>
            <a:ext cx="2621280" cy="384048"/>
          </a:xfrm>
          <a:prstGeom prst="rect">
            <a:avLst/>
          </a:prstGeom>
          <a:solidFill>
            <a:srgbClr val="2F5F8F"/>
          </a:solidFill>
          <a:ln/>
        </p:spPr>
      </p:sp>
      <p:sp>
        <p:nvSpPr>
          <p:cNvPr id="12" name="Text 10"/>
          <p:cNvSpPr/>
          <p:nvPr/>
        </p:nvSpPr>
        <p:spPr>
          <a:xfrm>
            <a:off x="3389376" y="2121408"/>
            <a:ext cx="2365248" cy="384048"/>
          </a:xfrm>
          <a:prstGeom prst="rect">
            <a:avLst/>
          </a:prstGeom>
          <a:noFill/>
          <a:ln/>
        </p:spPr>
        <p:txBody>
          <a:bodyPr wrap="square" rtlCol="0" anchor="ctr"/>
          <a:lstStyle/>
          <a:p>
            <a:pPr indent="0" marL="0">
              <a:buNone/>
            </a:pPr>
            <a:r>
              <a:rPr lang="en-US" sz="950" b="1" spc="100" kern="0" dirty="0">
                <a:solidFill>
                  <a:srgbClr val="FFFFFF"/>
                </a:solidFill>
                <a:latin typeface="Calibri" pitchFamily="34" charset="0"/>
                <a:ea typeface="Calibri" pitchFamily="34" charset="-122"/>
                <a:cs typeface="Calibri" pitchFamily="34" charset="-120"/>
              </a:rPr>
              <a:t>BETTER · STRUCTURED</a:t>
            </a:r>
            <a:endParaRPr lang="en-US" sz="950" dirty="0"/>
          </a:p>
        </p:txBody>
      </p:sp>
      <p:sp>
        <p:nvSpPr>
          <p:cNvPr id="13" name="Text 11"/>
          <p:cNvSpPr/>
          <p:nvPr/>
        </p:nvSpPr>
        <p:spPr>
          <a:xfrm>
            <a:off x="3407664" y="2615184"/>
            <a:ext cx="2328672" cy="1545336"/>
          </a:xfrm>
          <a:prstGeom prst="rect">
            <a:avLst/>
          </a:prstGeom>
          <a:noFill/>
          <a:ln/>
        </p:spPr>
        <p:txBody>
          <a:bodyPr wrap="square" rtlCol="0" anchor="t"/>
          <a:lstStyle/>
          <a:p>
            <a:pPr indent="0" marL="0">
              <a:lnSpc>
                <a:spcPts val="1300"/>
              </a:lnSpc>
              <a:buNone/>
            </a:pPr>
            <a:r>
              <a:rPr lang="en-US" sz="1000" dirty="0">
                <a:solidFill>
                  <a:srgbClr val="22303C"/>
                </a:solidFill>
                <a:latin typeface="Consolas" pitchFamily="34" charset="0"/>
                <a:ea typeface="Consolas" pitchFamily="34" charset="-122"/>
                <a:cs typeface="Consolas" pitchFamily="34" charset="-120"/>
              </a:rPr>
              <a:t>"Act as a Texas criminal defense attorney. For a first DWI stop with a refused breath test, list five defense angles with the legal basis for each. Texas law only."</a:t>
            </a:r>
            <a:endParaRPr lang="en-US" sz="1000" dirty="0"/>
          </a:p>
        </p:txBody>
      </p:sp>
      <p:sp>
        <p:nvSpPr>
          <p:cNvPr id="14" name="Shape 12"/>
          <p:cNvSpPr/>
          <p:nvPr/>
        </p:nvSpPr>
        <p:spPr>
          <a:xfrm>
            <a:off x="6065520" y="2121408"/>
            <a:ext cx="2621280" cy="2148840"/>
          </a:xfrm>
          <a:prstGeom prst="roundRect">
            <a:avLst>
              <a:gd name="adj" fmla="val 1702"/>
            </a:avLst>
          </a:prstGeom>
          <a:solidFill>
            <a:srgbClr val="F5F8FD"/>
          </a:solidFill>
          <a:ln w="16510">
            <a:solidFill>
              <a:srgbClr val="102A54"/>
            </a:solidFill>
            <a:prstDash val="solid"/>
          </a:ln>
        </p:spPr>
      </p:sp>
      <p:sp>
        <p:nvSpPr>
          <p:cNvPr id="15" name="Shape 13"/>
          <p:cNvSpPr/>
          <p:nvPr/>
        </p:nvSpPr>
        <p:spPr>
          <a:xfrm>
            <a:off x="6065520" y="2121408"/>
            <a:ext cx="2621280" cy="384048"/>
          </a:xfrm>
          <a:prstGeom prst="rect">
            <a:avLst/>
          </a:prstGeom>
          <a:solidFill>
            <a:srgbClr val="102A54"/>
          </a:solidFill>
          <a:ln/>
        </p:spPr>
      </p:sp>
      <p:sp>
        <p:nvSpPr>
          <p:cNvPr id="16" name="Text 14"/>
          <p:cNvSpPr/>
          <p:nvPr/>
        </p:nvSpPr>
        <p:spPr>
          <a:xfrm>
            <a:off x="6193536" y="2121408"/>
            <a:ext cx="2365248" cy="384048"/>
          </a:xfrm>
          <a:prstGeom prst="rect">
            <a:avLst/>
          </a:prstGeom>
          <a:noFill/>
          <a:ln/>
        </p:spPr>
        <p:txBody>
          <a:bodyPr wrap="square" rtlCol="0" anchor="ctr"/>
          <a:lstStyle/>
          <a:p>
            <a:pPr indent="0" marL="0">
              <a:buNone/>
            </a:pPr>
            <a:r>
              <a:rPr lang="en-US" sz="950" b="1" spc="100" kern="0" dirty="0">
                <a:solidFill>
                  <a:srgbClr val="FFFFFF"/>
                </a:solidFill>
                <a:latin typeface="Calibri" pitchFamily="34" charset="0"/>
                <a:ea typeface="Calibri" pitchFamily="34" charset="-122"/>
                <a:cs typeface="Calibri" pitchFamily="34" charset="-120"/>
              </a:rPr>
              <a:t>BEST · GROUNDED, CHECKED</a:t>
            </a:r>
            <a:endParaRPr lang="en-US" sz="950" dirty="0"/>
          </a:p>
        </p:txBody>
      </p:sp>
      <p:sp>
        <p:nvSpPr>
          <p:cNvPr id="17" name="Text 15"/>
          <p:cNvSpPr/>
          <p:nvPr/>
        </p:nvSpPr>
        <p:spPr>
          <a:xfrm>
            <a:off x="6211824" y="2615184"/>
            <a:ext cx="2328672" cy="1545336"/>
          </a:xfrm>
          <a:prstGeom prst="rect">
            <a:avLst/>
          </a:prstGeom>
          <a:noFill/>
          <a:ln/>
        </p:spPr>
        <p:txBody>
          <a:bodyPr wrap="square" rtlCol="0" anchor="t"/>
          <a:lstStyle/>
          <a:p>
            <a:pPr indent="0" marL="0">
              <a:lnSpc>
                <a:spcPts val="1300"/>
              </a:lnSpc>
              <a:buNone/>
            </a:pPr>
            <a:r>
              <a:rPr lang="en-US" sz="1000" dirty="0">
                <a:solidFill>
                  <a:srgbClr val="22303C"/>
                </a:solidFill>
                <a:latin typeface="Consolas" pitchFamily="34" charset="0"/>
                <a:ea typeface="Consolas" pitchFamily="34" charset="-122"/>
                <a:cs typeface="Consolas" pitchFamily="34" charset="-120"/>
              </a:rPr>
              <a:t>"...Using only the statutes and cases I paste below, list five defense angles, each with its basis and the fact that supports it. Flag any angle the sources do not support. Do not cite outside sources."</a:t>
            </a:r>
            <a:endParaRPr lang="en-US" sz="1000" dirty="0"/>
          </a:p>
        </p:txBody>
      </p:sp>
      <p:sp>
        <p:nvSpPr>
          <p:cNvPr id="18" name="Shape 16"/>
          <p:cNvSpPr/>
          <p:nvPr/>
        </p:nvSpPr>
        <p:spPr>
          <a:xfrm>
            <a:off x="0" y="4686300"/>
            <a:ext cx="9144000" cy="457200"/>
          </a:xfrm>
          <a:prstGeom prst="rect">
            <a:avLst/>
          </a:prstGeom>
          <a:solidFill>
            <a:srgbClr val="102A54"/>
          </a:solidFill>
          <a:ln/>
        </p:spPr>
      </p:sp>
      <p:sp>
        <p:nvSpPr>
          <p:cNvPr id="19" name="Shape 17"/>
          <p:cNvSpPr/>
          <p:nvPr/>
        </p:nvSpPr>
        <p:spPr>
          <a:xfrm>
            <a:off x="0" y="4654296"/>
            <a:ext cx="9144000" cy="32004"/>
          </a:xfrm>
          <a:prstGeom prst="rect">
            <a:avLst/>
          </a:prstGeom>
          <a:solidFill>
            <a:srgbClr val="6F8FAF"/>
          </a:solidFill>
          <a:ln/>
        </p:spPr>
      </p:sp>
      <p:sp>
        <p:nvSpPr>
          <p:cNvPr id="20" name="Text 18"/>
          <p:cNvSpPr/>
          <p:nvPr/>
        </p:nvSpPr>
        <p:spPr>
          <a:xfrm>
            <a:off x="457200" y="4686300"/>
            <a:ext cx="2194560" cy="457200"/>
          </a:xfrm>
          <a:prstGeom prst="rect">
            <a:avLst/>
          </a:prstGeom>
          <a:noFill/>
          <a:ln/>
        </p:spPr>
        <p:txBody>
          <a:bodyPr wrap="square" rtlCol="0" anchor="ctr"/>
          <a:lstStyle/>
          <a:p>
            <a:pPr algn="l" indent="0" marL="0">
              <a:buNone/>
            </a:pPr>
            <a:r>
              <a:rPr lang="en-US" sz="900" b="1" spc="200" kern="0" dirty="0">
                <a:solidFill>
                  <a:srgbClr val="6F8FAF"/>
                </a:solidFill>
                <a:latin typeface="Calibri" pitchFamily="34" charset="0"/>
                <a:ea typeface="Calibri" pitchFamily="34" charset="-122"/>
                <a:cs typeface="Calibri" pitchFamily="34" charset="-120"/>
              </a:rPr>
              <a:t>✦ </a:t>
            </a:r>
            <a:pPr algn="l" indent="0" marL="0">
              <a:buNone/>
            </a:pPr>
            <a:r>
              <a:rPr lang="en-US" sz="900" b="1" spc="200" kern="0" dirty="0">
                <a:solidFill>
                  <a:srgbClr val="6F8FAF"/>
                </a:solidFill>
                <a:latin typeface="Calibri" pitchFamily="34" charset="0"/>
                <a:ea typeface="Calibri" pitchFamily="34" charset="-122"/>
                <a:cs typeface="Calibri" pitchFamily="34" charset="-120"/>
              </a:rPr>
              <a:t>TCDLAi</a:t>
            </a:r>
            <a:endParaRPr lang="en-US" sz="900" dirty="0"/>
          </a:p>
        </p:txBody>
      </p:sp>
      <p:sp>
        <p:nvSpPr>
          <p:cNvPr id="21" name="Text 19"/>
          <p:cNvSpPr/>
          <p:nvPr/>
        </p:nvSpPr>
        <p:spPr>
          <a:xfrm>
            <a:off x="2743200" y="4686300"/>
            <a:ext cx="3657600" cy="457200"/>
          </a:xfrm>
          <a:prstGeom prst="rect">
            <a:avLst/>
          </a:prstGeom>
          <a:noFill/>
          <a:ln/>
        </p:spPr>
        <p:txBody>
          <a:bodyPr wrap="square" rtlCol="0" anchor="ctr"/>
          <a:lstStyle/>
          <a:p>
            <a:pPr algn="ctr" indent="0" marL="0">
              <a:buNone/>
            </a:pPr>
            <a:r>
              <a:rPr lang="en-US" sz="900" i="1" dirty="0">
                <a:solidFill>
                  <a:srgbClr val="C6D4EC"/>
                </a:solidFill>
                <a:latin typeface="Calibri" pitchFamily="34" charset="0"/>
                <a:ea typeface="Calibri" pitchFamily="34" charset="-122"/>
                <a:cs typeface="Calibri" pitchFamily="34" charset="-120"/>
              </a:rPr>
              <a:t>Facilitator: Miguel Guhlin</a:t>
            </a:r>
            <a:endParaRPr lang="en-US" sz="900" dirty="0"/>
          </a:p>
        </p:txBody>
      </p:sp>
      <p:sp>
        <p:nvSpPr>
          <p:cNvPr id="22" name="Text 20"/>
          <p:cNvSpPr/>
          <p:nvPr/>
        </p:nvSpPr>
        <p:spPr>
          <a:xfrm>
            <a:off x="6035040" y="4686300"/>
            <a:ext cx="2651760" cy="457200"/>
          </a:xfrm>
          <a:prstGeom prst="rect">
            <a:avLst/>
          </a:prstGeom>
          <a:noFill/>
          <a:ln/>
        </p:spPr>
        <p:txBody>
          <a:bodyPr wrap="square" rtlCol="0" anchor="ctr"/>
          <a:lstStyle/>
          <a:p>
            <a:pPr algn="r" indent="0" marL="0">
              <a:buNone/>
            </a:pPr>
            <a:r>
              <a:rPr lang="en-US" sz="900" b="1" dirty="0">
                <a:solidFill>
                  <a:srgbClr val="C8D2DC"/>
                </a:solidFill>
                <a:latin typeface="Calibri" pitchFamily="34" charset="0"/>
                <a:ea typeface="Calibri" pitchFamily="34" charset="-122"/>
                <a:cs typeface="Calibri" pitchFamily="34" charset="-120"/>
              </a:rPr>
              <a:t>mglearn.github.io/legalai</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8229600" cy="256032"/>
          </a:xfrm>
          <a:prstGeom prst="rect">
            <a:avLst/>
          </a:prstGeom>
          <a:noFill/>
          <a:ln/>
        </p:spPr>
        <p:txBody>
          <a:bodyPr wrap="square" rtlCol="0" anchor="ctr"/>
          <a:lstStyle/>
          <a:p>
            <a:pPr indent="0" marL="0">
              <a:buNone/>
            </a:pPr>
            <a:r>
              <a:rPr lang="en-US" sz="1100" b="1" spc="200" kern="0" dirty="0">
                <a:solidFill>
                  <a:srgbClr val="2F5F8F"/>
                </a:solidFill>
                <a:latin typeface="Calibri" pitchFamily="34" charset="0"/>
                <a:ea typeface="Calibri" pitchFamily="34" charset="-122"/>
                <a:cs typeface="Calibri" pitchFamily="34" charset="-120"/>
              </a:rPr>
              <a:t>A FRAMEWORK FOR THIS ROOM</a:t>
            </a:r>
            <a:endParaRPr lang="en-US" sz="1100" dirty="0"/>
          </a:p>
        </p:txBody>
      </p:sp>
      <p:sp>
        <p:nvSpPr>
          <p:cNvPr id="3" name="Shape 1"/>
          <p:cNvSpPr/>
          <p:nvPr/>
        </p:nvSpPr>
        <p:spPr>
          <a:xfrm>
            <a:off x="457200" y="758952"/>
            <a:ext cx="8229600" cy="0"/>
          </a:xfrm>
          <a:prstGeom prst="line">
            <a:avLst/>
          </a:prstGeom>
          <a:noFill/>
          <a:ln w="12700">
            <a:solidFill>
              <a:srgbClr val="D8DEE6"/>
            </a:solidFill>
            <a:prstDash val="solid"/>
          </a:ln>
        </p:spPr>
      </p:sp>
      <p:sp>
        <p:nvSpPr>
          <p:cNvPr id="4" name="Text 2"/>
          <p:cNvSpPr/>
          <p:nvPr/>
        </p:nvSpPr>
        <p:spPr>
          <a:xfrm>
            <a:off x="457200" y="658368"/>
            <a:ext cx="8229600" cy="640080"/>
          </a:xfrm>
          <a:prstGeom prst="rect">
            <a:avLst/>
          </a:prstGeom>
          <a:noFill/>
          <a:ln/>
        </p:spPr>
        <p:txBody>
          <a:bodyPr wrap="square" rtlCol="0" anchor="ctr"/>
          <a:lstStyle/>
          <a:p>
            <a:pPr indent="0" marL="0">
              <a:lnSpc>
                <a:spcPts val="2700"/>
              </a:lnSpc>
              <a:buNone/>
            </a:pPr>
            <a:r>
              <a:rPr lang="en-US" sz="2500" b="1" dirty="0">
                <a:solidFill>
                  <a:srgbClr val="102A54"/>
                </a:solidFill>
                <a:latin typeface="Georgia" pitchFamily="34" charset="0"/>
                <a:ea typeface="Georgia" pitchFamily="34" charset="-122"/>
                <a:cs typeface="Georgia" pitchFamily="34" charset="-120"/>
              </a:rPr>
              <a:t>The TCDLAi Prompt Design Guide</a:t>
            </a:r>
            <a:endParaRPr lang="en-US" sz="2500" dirty="0"/>
          </a:p>
        </p:txBody>
      </p:sp>
      <p:sp>
        <p:nvSpPr>
          <p:cNvPr id="5" name="Shape 3"/>
          <p:cNvSpPr/>
          <p:nvPr/>
        </p:nvSpPr>
        <p:spPr>
          <a:xfrm>
            <a:off x="457200" y="1463040"/>
            <a:ext cx="2609088" cy="1417320"/>
          </a:xfrm>
          <a:prstGeom prst="roundRect">
            <a:avLst>
              <a:gd name="adj" fmla="val 3226"/>
            </a:avLst>
          </a:prstGeom>
          <a:solidFill>
            <a:srgbClr val="F7F9FC"/>
          </a:solidFill>
          <a:ln w="12700">
            <a:solidFill>
              <a:srgbClr val="D8DEE6"/>
            </a:solidFill>
            <a:prstDash val="solid"/>
          </a:ln>
          <a:effectLst>
            <a:outerShdw sx="100000" sy="100000" kx="0" ky="0" algn="bl" rotWithShape="0" blurRad="88900" dist="25400" dir="8100000">
              <a:srgbClr val="000000">
                <a:alpha val="12000"/>
              </a:srgbClr>
            </a:outerShdw>
          </a:effectLst>
        </p:spPr>
      </p:sp>
      <p:sp>
        <p:nvSpPr>
          <p:cNvPr id="6" name="Shape 4"/>
          <p:cNvSpPr/>
          <p:nvPr/>
        </p:nvSpPr>
        <p:spPr>
          <a:xfrm>
            <a:off x="457200" y="1463040"/>
            <a:ext cx="54864" cy="1417320"/>
          </a:xfrm>
          <a:prstGeom prst="rect">
            <a:avLst/>
          </a:prstGeom>
          <a:solidFill>
            <a:srgbClr val="102A54"/>
          </a:solidFill>
          <a:ln/>
        </p:spPr>
      </p:sp>
      <p:sp>
        <p:nvSpPr>
          <p:cNvPr id="7" name="Text 5"/>
          <p:cNvSpPr/>
          <p:nvPr/>
        </p:nvSpPr>
        <p:spPr>
          <a:xfrm>
            <a:off x="621792" y="1572768"/>
            <a:ext cx="2334768" cy="365760"/>
          </a:xfrm>
          <a:prstGeom prst="rect">
            <a:avLst/>
          </a:prstGeom>
          <a:noFill/>
          <a:ln/>
        </p:spPr>
        <p:txBody>
          <a:bodyPr wrap="square" rtlCol="0" anchor="t"/>
          <a:lstStyle/>
          <a:p>
            <a:pPr indent="0" marL="0">
              <a:buNone/>
            </a:pPr>
            <a:r>
              <a:rPr lang="en-US" sz="1350" b="1" dirty="0">
                <a:solidFill>
                  <a:srgbClr val="102A54"/>
                </a:solidFill>
                <a:latin typeface="Georgia" pitchFamily="34" charset="0"/>
                <a:ea typeface="Georgia" pitchFamily="34" charset="-122"/>
                <a:cs typeface="Georgia" pitchFamily="34" charset="-120"/>
              </a:rPr>
              <a:t>T · Target the issue</a:t>
            </a:r>
            <a:endParaRPr lang="en-US" sz="1350" dirty="0"/>
          </a:p>
        </p:txBody>
      </p:sp>
      <p:sp>
        <p:nvSpPr>
          <p:cNvPr id="8" name="Text 6"/>
          <p:cNvSpPr/>
          <p:nvPr/>
        </p:nvSpPr>
        <p:spPr>
          <a:xfrm>
            <a:off x="621792" y="1965960"/>
            <a:ext cx="2298192" cy="850392"/>
          </a:xfrm>
          <a:prstGeom prst="rect">
            <a:avLst/>
          </a:prstGeom>
          <a:noFill/>
          <a:ln/>
        </p:spPr>
        <p:txBody>
          <a:bodyPr wrap="square" rtlCol="0" anchor="t"/>
          <a:lstStyle/>
          <a:p>
            <a:pPr indent="0" marL="0">
              <a:lnSpc>
                <a:spcPts val="1400"/>
              </a:lnSpc>
              <a:buNone/>
            </a:pPr>
            <a:r>
              <a:rPr lang="en-US" sz="1100" dirty="0">
                <a:solidFill>
                  <a:srgbClr val="4F6072"/>
                </a:solidFill>
                <a:latin typeface="Calibri" pitchFamily="34" charset="0"/>
                <a:ea typeface="Calibri" pitchFamily="34" charset="-122"/>
                <a:cs typeface="Calibri" pitchFamily="34" charset="-120"/>
              </a:rPr>
              <a:t>Frame the precise legal question, charge, and jurisdiction for the model.</a:t>
            </a:r>
            <a:endParaRPr lang="en-US" sz="1100" dirty="0"/>
          </a:p>
        </p:txBody>
      </p:sp>
      <p:sp>
        <p:nvSpPr>
          <p:cNvPr id="9" name="Shape 7"/>
          <p:cNvSpPr/>
          <p:nvPr/>
        </p:nvSpPr>
        <p:spPr>
          <a:xfrm>
            <a:off x="3267456" y="1463040"/>
            <a:ext cx="2609088" cy="1417320"/>
          </a:xfrm>
          <a:prstGeom prst="roundRect">
            <a:avLst>
              <a:gd name="adj" fmla="val 3226"/>
            </a:avLst>
          </a:prstGeom>
          <a:solidFill>
            <a:srgbClr val="F7F9FC"/>
          </a:solidFill>
          <a:ln w="12700">
            <a:solidFill>
              <a:srgbClr val="D8DEE6"/>
            </a:solidFill>
            <a:prstDash val="solid"/>
          </a:ln>
          <a:effectLst>
            <a:outerShdw sx="100000" sy="100000" kx="0" ky="0" algn="bl" rotWithShape="0" blurRad="88900" dist="25400" dir="8100000">
              <a:srgbClr val="000000">
                <a:alpha val="12000"/>
              </a:srgbClr>
            </a:outerShdw>
          </a:effectLst>
        </p:spPr>
      </p:sp>
      <p:sp>
        <p:nvSpPr>
          <p:cNvPr id="10" name="Shape 8"/>
          <p:cNvSpPr/>
          <p:nvPr/>
        </p:nvSpPr>
        <p:spPr>
          <a:xfrm>
            <a:off x="3267456" y="1463040"/>
            <a:ext cx="54864" cy="1417320"/>
          </a:xfrm>
          <a:prstGeom prst="rect">
            <a:avLst/>
          </a:prstGeom>
          <a:solidFill>
            <a:srgbClr val="6F8FAF"/>
          </a:solidFill>
          <a:ln/>
        </p:spPr>
      </p:sp>
      <p:sp>
        <p:nvSpPr>
          <p:cNvPr id="11" name="Text 9"/>
          <p:cNvSpPr/>
          <p:nvPr/>
        </p:nvSpPr>
        <p:spPr>
          <a:xfrm>
            <a:off x="3432048" y="1572768"/>
            <a:ext cx="2334768" cy="365760"/>
          </a:xfrm>
          <a:prstGeom prst="rect">
            <a:avLst/>
          </a:prstGeom>
          <a:noFill/>
          <a:ln/>
        </p:spPr>
        <p:txBody>
          <a:bodyPr wrap="square" rtlCol="0" anchor="t"/>
          <a:lstStyle/>
          <a:p>
            <a:pPr indent="0" marL="0">
              <a:buNone/>
            </a:pPr>
            <a:r>
              <a:rPr lang="en-US" sz="1350" b="1" dirty="0">
                <a:solidFill>
                  <a:srgbClr val="102A54"/>
                </a:solidFill>
                <a:latin typeface="Georgia" pitchFamily="34" charset="0"/>
                <a:ea typeface="Georgia" pitchFamily="34" charset="-122"/>
                <a:cs typeface="Georgia" pitchFamily="34" charset="-120"/>
              </a:rPr>
              <a:t>C · Compile facts</a:t>
            </a:r>
            <a:endParaRPr lang="en-US" sz="1350" dirty="0"/>
          </a:p>
        </p:txBody>
      </p:sp>
      <p:sp>
        <p:nvSpPr>
          <p:cNvPr id="12" name="Text 10"/>
          <p:cNvSpPr/>
          <p:nvPr/>
        </p:nvSpPr>
        <p:spPr>
          <a:xfrm>
            <a:off x="3432048" y="1965960"/>
            <a:ext cx="2298192" cy="850392"/>
          </a:xfrm>
          <a:prstGeom prst="rect">
            <a:avLst/>
          </a:prstGeom>
          <a:noFill/>
          <a:ln/>
        </p:spPr>
        <p:txBody>
          <a:bodyPr wrap="square" rtlCol="0" anchor="t"/>
          <a:lstStyle/>
          <a:p>
            <a:pPr indent="0" marL="0">
              <a:lnSpc>
                <a:spcPts val="1400"/>
              </a:lnSpc>
              <a:buNone/>
            </a:pPr>
            <a:r>
              <a:rPr lang="en-US" sz="1100" dirty="0">
                <a:solidFill>
                  <a:srgbClr val="4F6072"/>
                </a:solidFill>
                <a:latin typeface="Calibri" pitchFamily="34" charset="0"/>
                <a:ea typeface="Calibri" pitchFamily="34" charset="-122"/>
                <a:cs typeface="Calibri" pitchFamily="34" charset="-120"/>
              </a:rPr>
              <a:t>Give the model the facts and evidence to organize and prioritize.</a:t>
            </a:r>
            <a:endParaRPr lang="en-US" sz="1100" dirty="0"/>
          </a:p>
        </p:txBody>
      </p:sp>
      <p:sp>
        <p:nvSpPr>
          <p:cNvPr id="13" name="Shape 11"/>
          <p:cNvSpPr/>
          <p:nvPr/>
        </p:nvSpPr>
        <p:spPr>
          <a:xfrm>
            <a:off x="6077712" y="1463040"/>
            <a:ext cx="2609088" cy="1417320"/>
          </a:xfrm>
          <a:prstGeom prst="roundRect">
            <a:avLst>
              <a:gd name="adj" fmla="val 3226"/>
            </a:avLst>
          </a:prstGeom>
          <a:solidFill>
            <a:srgbClr val="F7F9FC"/>
          </a:solidFill>
          <a:ln w="12700">
            <a:solidFill>
              <a:srgbClr val="D8DEE6"/>
            </a:solidFill>
            <a:prstDash val="solid"/>
          </a:ln>
          <a:effectLst>
            <a:outerShdw sx="100000" sy="100000" kx="0" ky="0" algn="bl" rotWithShape="0" blurRad="88900" dist="25400" dir="8100000">
              <a:srgbClr val="000000">
                <a:alpha val="12000"/>
              </a:srgbClr>
            </a:outerShdw>
          </a:effectLst>
        </p:spPr>
      </p:sp>
      <p:sp>
        <p:nvSpPr>
          <p:cNvPr id="14" name="Shape 12"/>
          <p:cNvSpPr/>
          <p:nvPr/>
        </p:nvSpPr>
        <p:spPr>
          <a:xfrm>
            <a:off x="6077712" y="1463040"/>
            <a:ext cx="54864" cy="1417320"/>
          </a:xfrm>
          <a:prstGeom prst="rect">
            <a:avLst/>
          </a:prstGeom>
          <a:solidFill>
            <a:srgbClr val="102A54"/>
          </a:solidFill>
          <a:ln/>
        </p:spPr>
      </p:sp>
      <p:sp>
        <p:nvSpPr>
          <p:cNvPr id="15" name="Text 13"/>
          <p:cNvSpPr/>
          <p:nvPr/>
        </p:nvSpPr>
        <p:spPr>
          <a:xfrm>
            <a:off x="6242304" y="1572768"/>
            <a:ext cx="2334768" cy="365760"/>
          </a:xfrm>
          <a:prstGeom prst="rect">
            <a:avLst/>
          </a:prstGeom>
          <a:noFill/>
          <a:ln/>
        </p:spPr>
        <p:txBody>
          <a:bodyPr wrap="square" rtlCol="0" anchor="t"/>
          <a:lstStyle/>
          <a:p>
            <a:pPr indent="0" marL="0">
              <a:buNone/>
            </a:pPr>
            <a:r>
              <a:rPr lang="en-US" sz="1350" b="1" dirty="0">
                <a:solidFill>
                  <a:srgbClr val="102A54"/>
                </a:solidFill>
                <a:latin typeface="Georgia" pitchFamily="34" charset="0"/>
                <a:ea typeface="Georgia" pitchFamily="34" charset="-122"/>
                <a:cs typeface="Georgia" pitchFamily="34" charset="-120"/>
              </a:rPr>
              <a:t>D · Define the law</a:t>
            </a:r>
            <a:endParaRPr lang="en-US" sz="1350" dirty="0"/>
          </a:p>
        </p:txBody>
      </p:sp>
      <p:sp>
        <p:nvSpPr>
          <p:cNvPr id="16" name="Text 14"/>
          <p:cNvSpPr/>
          <p:nvPr/>
        </p:nvSpPr>
        <p:spPr>
          <a:xfrm>
            <a:off x="6242304" y="1965960"/>
            <a:ext cx="2298192" cy="850392"/>
          </a:xfrm>
          <a:prstGeom prst="rect">
            <a:avLst/>
          </a:prstGeom>
          <a:noFill/>
          <a:ln/>
        </p:spPr>
        <p:txBody>
          <a:bodyPr wrap="square" rtlCol="0" anchor="t"/>
          <a:lstStyle/>
          <a:p>
            <a:pPr indent="0" marL="0">
              <a:lnSpc>
                <a:spcPts val="1400"/>
              </a:lnSpc>
              <a:buNone/>
            </a:pPr>
            <a:r>
              <a:rPr lang="en-US" sz="1100" dirty="0">
                <a:solidFill>
                  <a:srgbClr val="4F6072"/>
                </a:solidFill>
                <a:latin typeface="Calibri" pitchFamily="34" charset="0"/>
                <a:ea typeface="Calibri" pitchFamily="34" charset="-122"/>
                <a:cs typeface="Calibri" pitchFamily="34" charset="-120"/>
              </a:rPr>
              <a:t>Point it to the statutes and precedents it must work from, not its memory.</a:t>
            </a:r>
            <a:endParaRPr lang="en-US" sz="1100" dirty="0"/>
          </a:p>
        </p:txBody>
      </p:sp>
      <p:sp>
        <p:nvSpPr>
          <p:cNvPr id="17" name="Shape 15"/>
          <p:cNvSpPr/>
          <p:nvPr/>
        </p:nvSpPr>
        <p:spPr>
          <a:xfrm>
            <a:off x="457200" y="3044952"/>
            <a:ext cx="2609088" cy="1417320"/>
          </a:xfrm>
          <a:prstGeom prst="roundRect">
            <a:avLst>
              <a:gd name="adj" fmla="val 3226"/>
            </a:avLst>
          </a:prstGeom>
          <a:solidFill>
            <a:srgbClr val="F7F9FC"/>
          </a:solidFill>
          <a:ln w="12700">
            <a:solidFill>
              <a:srgbClr val="D8DEE6"/>
            </a:solidFill>
            <a:prstDash val="solid"/>
          </a:ln>
          <a:effectLst>
            <a:outerShdw sx="100000" sy="100000" kx="0" ky="0" algn="bl" rotWithShape="0" blurRad="88900" dist="25400" dir="8100000">
              <a:srgbClr val="000000">
                <a:alpha val="12000"/>
              </a:srgbClr>
            </a:outerShdw>
          </a:effectLst>
        </p:spPr>
      </p:sp>
      <p:sp>
        <p:nvSpPr>
          <p:cNvPr id="18" name="Shape 16"/>
          <p:cNvSpPr/>
          <p:nvPr/>
        </p:nvSpPr>
        <p:spPr>
          <a:xfrm>
            <a:off x="457200" y="3044952"/>
            <a:ext cx="54864" cy="1417320"/>
          </a:xfrm>
          <a:prstGeom prst="rect">
            <a:avLst/>
          </a:prstGeom>
          <a:solidFill>
            <a:srgbClr val="6F8FAF"/>
          </a:solidFill>
          <a:ln/>
        </p:spPr>
      </p:sp>
      <p:sp>
        <p:nvSpPr>
          <p:cNvPr id="19" name="Text 17"/>
          <p:cNvSpPr/>
          <p:nvPr/>
        </p:nvSpPr>
        <p:spPr>
          <a:xfrm>
            <a:off x="621792" y="3154680"/>
            <a:ext cx="2334768" cy="365760"/>
          </a:xfrm>
          <a:prstGeom prst="rect">
            <a:avLst/>
          </a:prstGeom>
          <a:noFill/>
          <a:ln/>
        </p:spPr>
        <p:txBody>
          <a:bodyPr wrap="square" rtlCol="0" anchor="t"/>
          <a:lstStyle/>
          <a:p>
            <a:pPr indent="0" marL="0">
              <a:buNone/>
            </a:pPr>
            <a:r>
              <a:rPr lang="en-US" sz="1350" b="1" dirty="0">
                <a:solidFill>
                  <a:srgbClr val="102A54"/>
                </a:solidFill>
                <a:latin typeface="Georgia" pitchFamily="34" charset="0"/>
                <a:ea typeface="Georgia" pitchFamily="34" charset="-122"/>
                <a:cs typeface="Georgia" pitchFamily="34" charset="-120"/>
              </a:rPr>
              <a:t>L · List strategies</a:t>
            </a:r>
            <a:endParaRPr lang="en-US" sz="1350" dirty="0"/>
          </a:p>
        </p:txBody>
      </p:sp>
      <p:sp>
        <p:nvSpPr>
          <p:cNvPr id="20" name="Text 18"/>
          <p:cNvSpPr/>
          <p:nvPr/>
        </p:nvSpPr>
        <p:spPr>
          <a:xfrm>
            <a:off x="621792" y="3547872"/>
            <a:ext cx="2298192" cy="850392"/>
          </a:xfrm>
          <a:prstGeom prst="rect">
            <a:avLst/>
          </a:prstGeom>
          <a:noFill/>
          <a:ln/>
        </p:spPr>
        <p:txBody>
          <a:bodyPr wrap="square" rtlCol="0" anchor="t"/>
          <a:lstStyle/>
          <a:p>
            <a:pPr indent="0" marL="0">
              <a:lnSpc>
                <a:spcPts val="1400"/>
              </a:lnSpc>
              <a:buNone/>
            </a:pPr>
            <a:r>
              <a:rPr lang="en-US" sz="1100" dirty="0">
                <a:solidFill>
                  <a:srgbClr val="4F6072"/>
                </a:solidFill>
                <a:latin typeface="Calibri" pitchFamily="34" charset="0"/>
                <a:ea typeface="Calibri" pitchFamily="34" charset="-122"/>
                <a:cs typeface="Calibri" pitchFamily="34" charset="-120"/>
              </a:rPr>
              <a:t>Ask for defense approaches, each tied to a fact and a basis.</a:t>
            </a:r>
            <a:endParaRPr lang="en-US" sz="1100" dirty="0"/>
          </a:p>
        </p:txBody>
      </p:sp>
      <p:sp>
        <p:nvSpPr>
          <p:cNvPr id="21" name="Shape 19"/>
          <p:cNvSpPr/>
          <p:nvPr/>
        </p:nvSpPr>
        <p:spPr>
          <a:xfrm>
            <a:off x="3267456" y="3044952"/>
            <a:ext cx="2609088" cy="1417320"/>
          </a:xfrm>
          <a:prstGeom prst="roundRect">
            <a:avLst>
              <a:gd name="adj" fmla="val 3226"/>
            </a:avLst>
          </a:prstGeom>
          <a:solidFill>
            <a:srgbClr val="F7F9FC"/>
          </a:solidFill>
          <a:ln w="12700">
            <a:solidFill>
              <a:srgbClr val="D8DEE6"/>
            </a:solidFill>
            <a:prstDash val="solid"/>
          </a:ln>
          <a:effectLst>
            <a:outerShdw sx="100000" sy="100000" kx="0" ky="0" algn="bl" rotWithShape="0" blurRad="88900" dist="25400" dir="8100000">
              <a:srgbClr val="000000">
                <a:alpha val="12000"/>
              </a:srgbClr>
            </a:outerShdw>
          </a:effectLst>
        </p:spPr>
      </p:sp>
      <p:sp>
        <p:nvSpPr>
          <p:cNvPr id="22" name="Shape 20"/>
          <p:cNvSpPr/>
          <p:nvPr/>
        </p:nvSpPr>
        <p:spPr>
          <a:xfrm>
            <a:off x="3267456" y="3044952"/>
            <a:ext cx="54864" cy="1417320"/>
          </a:xfrm>
          <a:prstGeom prst="rect">
            <a:avLst/>
          </a:prstGeom>
          <a:solidFill>
            <a:srgbClr val="102A54"/>
          </a:solidFill>
          <a:ln/>
        </p:spPr>
      </p:sp>
      <p:sp>
        <p:nvSpPr>
          <p:cNvPr id="23" name="Text 21"/>
          <p:cNvSpPr/>
          <p:nvPr/>
        </p:nvSpPr>
        <p:spPr>
          <a:xfrm>
            <a:off x="3432048" y="3154680"/>
            <a:ext cx="2334768" cy="365760"/>
          </a:xfrm>
          <a:prstGeom prst="rect">
            <a:avLst/>
          </a:prstGeom>
          <a:noFill/>
          <a:ln/>
        </p:spPr>
        <p:txBody>
          <a:bodyPr wrap="square" rtlCol="0" anchor="t"/>
          <a:lstStyle/>
          <a:p>
            <a:pPr indent="0" marL="0">
              <a:buNone/>
            </a:pPr>
            <a:r>
              <a:rPr lang="en-US" sz="1350" b="1" dirty="0">
                <a:solidFill>
                  <a:srgbClr val="102A54"/>
                </a:solidFill>
                <a:latin typeface="Georgia" pitchFamily="34" charset="0"/>
                <a:ea typeface="Georgia" pitchFamily="34" charset="-122"/>
                <a:cs typeface="Georgia" pitchFamily="34" charset="-120"/>
              </a:rPr>
              <a:t>A · Analyze arguments</a:t>
            </a:r>
            <a:endParaRPr lang="en-US" sz="1350" dirty="0"/>
          </a:p>
        </p:txBody>
      </p:sp>
      <p:sp>
        <p:nvSpPr>
          <p:cNvPr id="24" name="Text 22"/>
          <p:cNvSpPr/>
          <p:nvPr/>
        </p:nvSpPr>
        <p:spPr>
          <a:xfrm>
            <a:off x="3432048" y="3547872"/>
            <a:ext cx="2298192" cy="850392"/>
          </a:xfrm>
          <a:prstGeom prst="rect">
            <a:avLst/>
          </a:prstGeom>
          <a:noFill/>
          <a:ln/>
        </p:spPr>
        <p:txBody>
          <a:bodyPr wrap="square" rtlCol="0" anchor="t"/>
          <a:lstStyle/>
          <a:p>
            <a:pPr indent="0" marL="0">
              <a:lnSpc>
                <a:spcPts val="1400"/>
              </a:lnSpc>
              <a:buNone/>
            </a:pPr>
            <a:r>
              <a:rPr lang="en-US" sz="1100" dirty="0">
                <a:solidFill>
                  <a:srgbClr val="4F6072"/>
                </a:solidFill>
                <a:latin typeface="Calibri" pitchFamily="34" charset="0"/>
                <a:ea typeface="Calibri" pitchFamily="34" charset="-122"/>
                <a:cs typeface="Calibri" pitchFamily="34" charset="-120"/>
              </a:rPr>
              <a:t>Have it stress-test strategies and anticipate the prosecution.</a:t>
            </a:r>
            <a:endParaRPr lang="en-US" sz="1100" dirty="0"/>
          </a:p>
        </p:txBody>
      </p:sp>
      <p:sp>
        <p:nvSpPr>
          <p:cNvPr id="25" name="Shape 23"/>
          <p:cNvSpPr/>
          <p:nvPr/>
        </p:nvSpPr>
        <p:spPr>
          <a:xfrm>
            <a:off x="6077712" y="3044952"/>
            <a:ext cx="2609088" cy="1417320"/>
          </a:xfrm>
          <a:prstGeom prst="roundRect">
            <a:avLst>
              <a:gd name="adj" fmla="val 3226"/>
            </a:avLst>
          </a:prstGeom>
          <a:solidFill>
            <a:srgbClr val="F7F9FC"/>
          </a:solidFill>
          <a:ln w="12700">
            <a:solidFill>
              <a:srgbClr val="D8DEE6"/>
            </a:solidFill>
            <a:prstDash val="solid"/>
          </a:ln>
          <a:effectLst>
            <a:outerShdw sx="100000" sy="100000" kx="0" ky="0" algn="bl" rotWithShape="0" blurRad="88900" dist="25400" dir="8100000">
              <a:srgbClr val="000000">
                <a:alpha val="12000"/>
              </a:srgbClr>
            </a:outerShdw>
          </a:effectLst>
        </p:spPr>
      </p:sp>
      <p:sp>
        <p:nvSpPr>
          <p:cNvPr id="26" name="Shape 24"/>
          <p:cNvSpPr/>
          <p:nvPr/>
        </p:nvSpPr>
        <p:spPr>
          <a:xfrm>
            <a:off x="6077712" y="3044952"/>
            <a:ext cx="54864" cy="1417320"/>
          </a:xfrm>
          <a:prstGeom prst="rect">
            <a:avLst/>
          </a:prstGeom>
          <a:solidFill>
            <a:srgbClr val="6F8FAF"/>
          </a:solidFill>
          <a:ln/>
        </p:spPr>
      </p:sp>
      <p:sp>
        <p:nvSpPr>
          <p:cNvPr id="27" name="Text 25"/>
          <p:cNvSpPr/>
          <p:nvPr/>
        </p:nvSpPr>
        <p:spPr>
          <a:xfrm>
            <a:off x="6242304" y="3154680"/>
            <a:ext cx="2334768" cy="365760"/>
          </a:xfrm>
          <a:prstGeom prst="rect">
            <a:avLst/>
          </a:prstGeom>
          <a:noFill/>
          <a:ln/>
        </p:spPr>
        <p:txBody>
          <a:bodyPr wrap="square" rtlCol="0" anchor="t"/>
          <a:lstStyle/>
          <a:p>
            <a:pPr indent="0" marL="0">
              <a:buNone/>
            </a:pPr>
            <a:r>
              <a:rPr lang="en-US" sz="1350" b="1" dirty="0">
                <a:solidFill>
                  <a:srgbClr val="102A54"/>
                </a:solidFill>
                <a:latin typeface="Georgia" pitchFamily="34" charset="0"/>
                <a:ea typeface="Georgia" pitchFamily="34" charset="-122"/>
                <a:cs typeface="Georgia" pitchFamily="34" charset="-120"/>
              </a:rPr>
              <a:t>i · inspect results</a:t>
            </a:r>
            <a:endParaRPr lang="en-US" sz="1350" dirty="0"/>
          </a:p>
        </p:txBody>
      </p:sp>
      <p:sp>
        <p:nvSpPr>
          <p:cNvPr id="28" name="Text 26"/>
          <p:cNvSpPr/>
          <p:nvPr/>
        </p:nvSpPr>
        <p:spPr>
          <a:xfrm>
            <a:off x="6242304" y="3547872"/>
            <a:ext cx="2298192" cy="850392"/>
          </a:xfrm>
          <a:prstGeom prst="rect">
            <a:avLst/>
          </a:prstGeom>
          <a:noFill/>
          <a:ln/>
        </p:spPr>
        <p:txBody>
          <a:bodyPr wrap="square" rtlCol="0" anchor="t"/>
          <a:lstStyle/>
          <a:p>
            <a:pPr indent="0" marL="0">
              <a:lnSpc>
                <a:spcPts val="1400"/>
              </a:lnSpc>
              <a:buNone/>
            </a:pPr>
            <a:r>
              <a:rPr lang="en-US" sz="1100" dirty="0">
                <a:solidFill>
                  <a:srgbClr val="4F6072"/>
                </a:solidFill>
                <a:latin typeface="Calibri" pitchFamily="34" charset="0"/>
                <a:ea typeface="Calibri" pitchFamily="34" charset="-122"/>
                <a:cs typeface="Calibri" pitchFamily="34" charset="-120"/>
              </a:rPr>
              <a:t>Critically review, hunt bias and gaps, and refine. This step is yours.</a:t>
            </a:r>
            <a:endParaRPr lang="en-US" sz="1100" dirty="0"/>
          </a:p>
        </p:txBody>
      </p:sp>
      <p:sp>
        <p:nvSpPr>
          <p:cNvPr id="29" name="Shape 27"/>
          <p:cNvSpPr/>
          <p:nvPr/>
        </p:nvSpPr>
        <p:spPr>
          <a:xfrm>
            <a:off x="0" y="4686300"/>
            <a:ext cx="9144000" cy="457200"/>
          </a:xfrm>
          <a:prstGeom prst="rect">
            <a:avLst/>
          </a:prstGeom>
          <a:solidFill>
            <a:srgbClr val="102A54"/>
          </a:solidFill>
          <a:ln/>
        </p:spPr>
      </p:sp>
      <p:sp>
        <p:nvSpPr>
          <p:cNvPr id="30" name="Shape 28"/>
          <p:cNvSpPr/>
          <p:nvPr/>
        </p:nvSpPr>
        <p:spPr>
          <a:xfrm>
            <a:off x="0" y="4654296"/>
            <a:ext cx="9144000" cy="32004"/>
          </a:xfrm>
          <a:prstGeom prst="rect">
            <a:avLst/>
          </a:prstGeom>
          <a:solidFill>
            <a:srgbClr val="6F8FAF"/>
          </a:solidFill>
          <a:ln/>
        </p:spPr>
      </p:sp>
      <p:sp>
        <p:nvSpPr>
          <p:cNvPr id="31" name="Text 29"/>
          <p:cNvSpPr/>
          <p:nvPr/>
        </p:nvSpPr>
        <p:spPr>
          <a:xfrm>
            <a:off x="457200" y="4686300"/>
            <a:ext cx="2194560" cy="457200"/>
          </a:xfrm>
          <a:prstGeom prst="rect">
            <a:avLst/>
          </a:prstGeom>
          <a:noFill/>
          <a:ln/>
        </p:spPr>
        <p:txBody>
          <a:bodyPr wrap="square" rtlCol="0" anchor="ctr"/>
          <a:lstStyle/>
          <a:p>
            <a:pPr algn="l" indent="0" marL="0">
              <a:buNone/>
            </a:pPr>
            <a:r>
              <a:rPr lang="en-US" sz="900" b="1" spc="200" kern="0" dirty="0">
                <a:solidFill>
                  <a:srgbClr val="6F8FAF"/>
                </a:solidFill>
                <a:latin typeface="Calibri" pitchFamily="34" charset="0"/>
                <a:ea typeface="Calibri" pitchFamily="34" charset="-122"/>
                <a:cs typeface="Calibri" pitchFamily="34" charset="-120"/>
              </a:rPr>
              <a:t>✦ </a:t>
            </a:r>
            <a:pPr algn="l" indent="0" marL="0">
              <a:buNone/>
            </a:pPr>
            <a:r>
              <a:rPr lang="en-US" sz="900" b="1" spc="200" kern="0" dirty="0">
                <a:solidFill>
                  <a:srgbClr val="6F8FAF"/>
                </a:solidFill>
                <a:latin typeface="Calibri" pitchFamily="34" charset="0"/>
                <a:ea typeface="Calibri" pitchFamily="34" charset="-122"/>
                <a:cs typeface="Calibri" pitchFamily="34" charset="-120"/>
              </a:rPr>
              <a:t>TCDLAi</a:t>
            </a:r>
            <a:endParaRPr lang="en-US" sz="900" dirty="0"/>
          </a:p>
        </p:txBody>
      </p:sp>
      <p:sp>
        <p:nvSpPr>
          <p:cNvPr id="32" name="Text 30"/>
          <p:cNvSpPr/>
          <p:nvPr/>
        </p:nvSpPr>
        <p:spPr>
          <a:xfrm>
            <a:off x="2743200" y="4686300"/>
            <a:ext cx="3657600" cy="457200"/>
          </a:xfrm>
          <a:prstGeom prst="rect">
            <a:avLst/>
          </a:prstGeom>
          <a:noFill/>
          <a:ln/>
        </p:spPr>
        <p:txBody>
          <a:bodyPr wrap="square" rtlCol="0" anchor="ctr"/>
          <a:lstStyle/>
          <a:p>
            <a:pPr algn="ctr" indent="0" marL="0">
              <a:buNone/>
            </a:pPr>
            <a:r>
              <a:rPr lang="en-US" sz="900" i="1" dirty="0">
                <a:solidFill>
                  <a:srgbClr val="C6D4EC"/>
                </a:solidFill>
                <a:latin typeface="Calibri" pitchFamily="34" charset="0"/>
                <a:ea typeface="Calibri" pitchFamily="34" charset="-122"/>
                <a:cs typeface="Calibri" pitchFamily="34" charset="-120"/>
              </a:rPr>
              <a:t>Facilitator: Miguel Guhlin</a:t>
            </a:r>
            <a:endParaRPr lang="en-US" sz="900" dirty="0"/>
          </a:p>
        </p:txBody>
      </p:sp>
      <p:sp>
        <p:nvSpPr>
          <p:cNvPr id="33" name="Text 31"/>
          <p:cNvSpPr/>
          <p:nvPr/>
        </p:nvSpPr>
        <p:spPr>
          <a:xfrm>
            <a:off x="6035040" y="4686300"/>
            <a:ext cx="2651760" cy="457200"/>
          </a:xfrm>
          <a:prstGeom prst="rect">
            <a:avLst/>
          </a:prstGeom>
          <a:noFill/>
          <a:ln/>
        </p:spPr>
        <p:txBody>
          <a:bodyPr wrap="square" rtlCol="0" anchor="ctr"/>
          <a:lstStyle/>
          <a:p>
            <a:pPr algn="r" indent="0" marL="0">
              <a:buNone/>
            </a:pPr>
            <a:r>
              <a:rPr lang="en-US" sz="900" b="1" dirty="0">
                <a:solidFill>
                  <a:srgbClr val="C8D2DC"/>
                </a:solidFill>
                <a:latin typeface="Calibri" pitchFamily="34" charset="0"/>
                <a:ea typeface="Calibri" pitchFamily="34" charset="-122"/>
                <a:cs typeface="Calibri" pitchFamily="34" charset="-120"/>
              </a:rPr>
              <a:t>mglearn.github.io/legalai</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8229600" cy="256032"/>
          </a:xfrm>
          <a:prstGeom prst="rect">
            <a:avLst/>
          </a:prstGeom>
          <a:noFill/>
          <a:ln/>
        </p:spPr>
        <p:txBody>
          <a:bodyPr wrap="square" rtlCol="0" anchor="ctr"/>
          <a:lstStyle/>
          <a:p>
            <a:pPr indent="0" marL="0">
              <a:buNone/>
            </a:pPr>
            <a:r>
              <a:rPr lang="en-US" sz="1100" b="1" spc="200" kern="0" dirty="0">
                <a:solidFill>
                  <a:srgbClr val="2F5F8F"/>
                </a:solidFill>
                <a:latin typeface="Calibri" pitchFamily="34" charset="0"/>
                <a:ea typeface="Calibri" pitchFamily="34" charset="-122"/>
                <a:cs typeface="Calibri" pitchFamily="34" charset="-120"/>
              </a:rPr>
              <a:t>GROUNDING · THE D IN PRACTICE</a:t>
            </a:r>
            <a:endParaRPr lang="en-US" sz="1100" dirty="0"/>
          </a:p>
        </p:txBody>
      </p:sp>
      <p:sp>
        <p:nvSpPr>
          <p:cNvPr id="3" name="Shape 1"/>
          <p:cNvSpPr/>
          <p:nvPr/>
        </p:nvSpPr>
        <p:spPr>
          <a:xfrm>
            <a:off x="457200" y="758952"/>
            <a:ext cx="8229600" cy="0"/>
          </a:xfrm>
          <a:prstGeom prst="line">
            <a:avLst/>
          </a:prstGeom>
          <a:noFill/>
          <a:ln w="12700">
            <a:solidFill>
              <a:srgbClr val="D8DEE6"/>
            </a:solidFill>
            <a:prstDash val="solid"/>
          </a:ln>
        </p:spPr>
      </p:sp>
      <p:sp>
        <p:nvSpPr>
          <p:cNvPr id="4" name="Text 2"/>
          <p:cNvSpPr/>
          <p:nvPr/>
        </p:nvSpPr>
        <p:spPr>
          <a:xfrm>
            <a:off x="457200" y="658368"/>
            <a:ext cx="8229600" cy="640080"/>
          </a:xfrm>
          <a:prstGeom prst="rect">
            <a:avLst/>
          </a:prstGeom>
          <a:noFill/>
          <a:ln/>
        </p:spPr>
        <p:txBody>
          <a:bodyPr wrap="square" rtlCol="0" anchor="ctr"/>
          <a:lstStyle/>
          <a:p>
            <a:pPr indent="0" marL="0">
              <a:lnSpc>
                <a:spcPts val="2700"/>
              </a:lnSpc>
              <a:buNone/>
            </a:pPr>
            <a:r>
              <a:rPr lang="en-US" sz="2500" b="1" dirty="0">
                <a:solidFill>
                  <a:srgbClr val="102A54"/>
                </a:solidFill>
                <a:latin typeface="Georgia" pitchFamily="34" charset="0"/>
                <a:ea typeface="Georgia" pitchFamily="34" charset="-122"/>
                <a:cs typeface="Georgia" pitchFamily="34" charset="-120"/>
              </a:rPr>
              <a:t>Hold the AI to sources you trust</a:t>
            </a:r>
            <a:endParaRPr lang="en-US" sz="2500" dirty="0"/>
          </a:p>
        </p:txBody>
      </p:sp>
      <p:sp>
        <p:nvSpPr>
          <p:cNvPr id="5" name="Text 3"/>
          <p:cNvSpPr/>
          <p:nvPr/>
        </p:nvSpPr>
        <p:spPr>
          <a:xfrm>
            <a:off x="457200" y="1463040"/>
            <a:ext cx="8229600" cy="640080"/>
          </a:xfrm>
          <a:prstGeom prst="rect">
            <a:avLst/>
          </a:prstGeom>
          <a:noFill/>
          <a:ln/>
        </p:spPr>
        <p:txBody>
          <a:bodyPr wrap="square" rtlCol="0" anchor="ctr"/>
          <a:lstStyle/>
          <a:p>
            <a:pPr indent="0" marL="0">
              <a:lnSpc>
                <a:spcPts val="2100"/>
              </a:lnSpc>
              <a:buNone/>
            </a:pPr>
            <a:r>
              <a:rPr lang="en-US" sz="1500" dirty="0">
                <a:solidFill>
                  <a:srgbClr val="4F6072"/>
                </a:solidFill>
                <a:latin typeface="Calibri" pitchFamily="34" charset="0"/>
                <a:ea typeface="Calibri" pitchFamily="34" charset="-122"/>
                <a:cs typeface="Calibri" pitchFamily="34" charset="-120"/>
              </a:rPr>
              <a:t>Retrieval-augmented generation, or grounding, means the model answers from documents you provide instead of its training memory. For defense work, that is the difference between a guess and a citation.</a:t>
            </a:r>
            <a:endParaRPr lang="en-US" sz="1500" dirty="0"/>
          </a:p>
        </p:txBody>
      </p:sp>
      <p:sp>
        <p:nvSpPr>
          <p:cNvPr id="6" name="Shape 4"/>
          <p:cNvSpPr/>
          <p:nvPr/>
        </p:nvSpPr>
        <p:spPr>
          <a:xfrm>
            <a:off x="457200" y="2121408"/>
            <a:ext cx="4014216" cy="1325880"/>
          </a:xfrm>
          <a:prstGeom prst="roundRect">
            <a:avLst>
              <a:gd name="adj" fmla="val 3448"/>
            </a:avLst>
          </a:prstGeom>
          <a:solidFill>
            <a:srgbClr val="F7F9FC"/>
          </a:solidFill>
          <a:ln w="12700">
            <a:solidFill>
              <a:srgbClr val="D8DEE6"/>
            </a:solidFill>
            <a:prstDash val="solid"/>
          </a:ln>
          <a:effectLst>
            <a:outerShdw sx="100000" sy="100000" kx="0" ky="0" algn="bl" rotWithShape="0" blurRad="88900" dist="25400" dir="8100000">
              <a:srgbClr val="000000">
                <a:alpha val="12000"/>
              </a:srgbClr>
            </a:outerShdw>
          </a:effectLst>
        </p:spPr>
      </p:sp>
      <p:sp>
        <p:nvSpPr>
          <p:cNvPr id="7" name="Shape 5"/>
          <p:cNvSpPr/>
          <p:nvPr/>
        </p:nvSpPr>
        <p:spPr>
          <a:xfrm>
            <a:off x="457200" y="2121408"/>
            <a:ext cx="54864" cy="1325880"/>
          </a:xfrm>
          <a:prstGeom prst="rect">
            <a:avLst/>
          </a:prstGeom>
          <a:solidFill>
            <a:srgbClr val="102A54"/>
          </a:solidFill>
          <a:ln/>
        </p:spPr>
      </p:sp>
      <p:sp>
        <p:nvSpPr>
          <p:cNvPr id="8" name="Text 6"/>
          <p:cNvSpPr/>
          <p:nvPr/>
        </p:nvSpPr>
        <p:spPr>
          <a:xfrm>
            <a:off x="621792" y="2231136"/>
            <a:ext cx="3739896" cy="365760"/>
          </a:xfrm>
          <a:prstGeom prst="rect">
            <a:avLst/>
          </a:prstGeom>
          <a:noFill/>
          <a:ln/>
        </p:spPr>
        <p:txBody>
          <a:bodyPr wrap="square" rtlCol="0" anchor="t"/>
          <a:lstStyle/>
          <a:p>
            <a:pPr indent="0" marL="0">
              <a:buNone/>
            </a:pPr>
            <a:r>
              <a:rPr lang="en-US" sz="1350" b="1" dirty="0">
                <a:solidFill>
                  <a:srgbClr val="102A54"/>
                </a:solidFill>
                <a:latin typeface="Georgia" pitchFamily="34" charset="0"/>
                <a:ea typeface="Georgia" pitchFamily="34" charset="-122"/>
                <a:cs typeface="Georgia" pitchFamily="34" charset="-120"/>
              </a:rPr>
              <a:t>Without grounding</a:t>
            </a:r>
            <a:endParaRPr lang="en-US" sz="1350" dirty="0"/>
          </a:p>
        </p:txBody>
      </p:sp>
      <p:sp>
        <p:nvSpPr>
          <p:cNvPr id="9" name="Text 7"/>
          <p:cNvSpPr/>
          <p:nvPr/>
        </p:nvSpPr>
        <p:spPr>
          <a:xfrm>
            <a:off x="621792" y="2624328"/>
            <a:ext cx="3703320" cy="758952"/>
          </a:xfrm>
          <a:prstGeom prst="rect">
            <a:avLst/>
          </a:prstGeom>
          <a:noFill/>
          <a:ln/>
        </p:spPr>
        <p:txBody>
          <a:bodyPr wrap="square" rtlCol="0" anchor="t"/>
          <a:lstStyle/>
          <a:p>
            <a:pPr indent="0" marL="0">
              <a:lnSpc>
                <a:spcPts val="1400"/>
              </a:lnSpc>
              <a:buNone/>
            </a:pPr>
            <a:r>
              <a:rPr lang="en-US" sz="1100" dirty="0">
                <a:solidFill>
                  <a:srgbClr val="4F6072"/>
                </a:solidFill>
                <a:latin typeface="Calibri" pitchFamily="34" charset="0"/>
                <a:ea typeface="Calibri" pitchFamily="34" charset="-122"/>
                <a:cs typeface="Calibri" pitchFamily="34" charset="-120"/>
              </a:rPr>
              <a:t>The model recalls a blurry average of everything it read. Citations may be invented, and Texas specifics blur into general law.</a:t>
            </a:r>
            <a:endParaRPr lang="en-US" sz="1100" dirty="0"/>
          </a:p>
        </p:txBody>
      </p:sp>
      <p:sp>
        <p:nvSpPr>
          <p:cNvPr id="10" name="Shape 8"/>
          <p:cNvSpPr/>
          <p:nvPr/>
        </p:nvSpPr>
        <p:spPr>
          <a:xfrm>
            <a:off x="4672584" y="2121408"/>
            <a:ext cx="4014216" cy="1325880"/>
          </a:xfrm>
          <a:prstGeom prst="roundRect">
            <a:avLst>
              <a:gd name="adj" fmla="val 3448"/>
            </a:avLst>
          </a:prstGeom>
          <a:solidFill>
            <a:srgbClr val="F7F9FC"/>
          </a:solidFill>
          <a:ln w="12700">
            <a:solidFill>
              <a:srgbClr val="D8DEE6"/>
            </a:solidFill>
            <a:prstDash val="solid"/>
          </a:ln>
          <a:effectLst>
            <a:outerShdw sx="100000" sy="100000" kx="0" ky="0" algn="bl" rotWithShape="0" blurRad="88900" dist="25400" dir="8100000">
              <a:srgbClr val="000000">
                <a:alpha val="12000"/>
              </a:srgbClr>
            </a:outerShdw>
          </a:effectLst>
        </p:spPr>
      </p:sp>
      <p:sp>
        <p:nvSpPr>
          <p:cNvPr id="11" name="Shape 9"/>
          <p:cNvSpPr/>
          <p:nvPr/>
        </p:nvSpPr>
        <p:spPr>
          <a:xfrm>
            <a:off x="4672584" y="2121408"/>
            <a:ext cx="54864" cy="1325880"/>
          </a:xfrm>
          <a:prstGeom prst="rect">
            <a:avLst/>
          </a:prstGeom>
          <a:solidFill>
            <a:srgbClr val="6F8FAF"/>
          </a:solidFill>
          <a:ln/>
        </p:spPr>
      </p:sp>
      <p:sp>
        <p:nvSpPr>
          <p:cNvPr id="12" name="Text 10"/>
          <p:cNvSpPr/>
          <p:nvPr/>
        </p:nvSpPr>
        <p:spPr>
          <a:xfrm>
            <a:off x="4837176" y="2231136"/>
            <a:ext cx="3739896" cy="365760"/>
          </a:xfrm>
          <a:prstGeom prst="rect">
            <a:avLst/>
          </a:prstGeom>
          <a:noFill/>
          <a:ln/>
        </p:spPr>
        <p:txBody>
          <a:bodyPr wrap="square" rtlCol="0" anchor="t"/>
          <a:lstStyle/>
          <a:p>
            <a:pPr indent="0" marL="0">
              <a:buNone/>
            </a:pPr>
            <a:r>
              <a:rPr lang="en-US" sz="1350" b="1" dirty="0">
                <a:solidFill>
                  <a:srgbClr val="102A54"/>
                </a:solidFill>
                <a:latin typeface="Georgia" pitchFamily="34" charset="0"/>
                <a:ea typeface="Georgia" pitchFamily="34" charset="-122"/>
                <a:cs typeface="Georgia" pitchFamily="34" charset="-120"/>
              </a:rPr>
              <a:t>With grounding</a:t>
            </a:r>
            <a:endParaRPr lang="en-US" sz="1350" dirty="0"/>
          </a:p>
        </p:txBody>
      </p:sp>
      <p:sp>
        <p:nvSpPr>
          <p:cNvPr id="13" name="Text 11"/>
          <p:cNvSpPr/>
          <p:nvPr/>
        </p:nvSpPr>
        <p:spPr>
          <a:xfrm>
            <a:off x="4837176" y="2624328"/>
            <a:ext cx="3703320" cy="758952"/>
          </a:xfrm>
          <a:prstGeom prst="rect">
            <a:avLst/>
          </a:prstGeom>
          <a:noFill/>
          <a:ln/>
        </p:spPr>
        <p:txBody>
          <a:bodyPr wrap="square" rtlCol="0" anchor="t"/>
          <a:lstStyle/>
          <a:p>
            <a:pPr indent="0" marL="0">
              <a:lnSpc>
                <a:spcPts val="1400"/>
              </a:lnSpc>
              <a:buNone/>
            </a:pPr>
            <a:r>
              <a:rPr lang="en-US" sz="1100" dirty="0">
                <a:solidFill>
                  <a:srgbClr val="4F6072"/>
                </a:solidFill>
                <a:latin typeface="Calibri" pitchFamily="34" charset="0"/>
                <a:ea typeface="Calibri" pitchFamily="34" charset="-122"/>
                <a:cs typeface="Calibri" pitchFamily="34" charset="-120"/>
              </a:rPr>
              <a:t>You paste or upload the statute, the opinion, or your own brief bank. The model quotes and cites from that, and you can check every line against the source.</a:t>
            </a:r>
            <a:endParaRPr lang="en-US" sz="1100" dirty="0"/>
          </a:p>
        </p:txBody>
      </p:sp>
      <p:sp>
        <p:nvSpPr>
          <p:cNvPr id="14" name="Shape 12"/>
          <p:cNvSpPr/>
          <p:nvPr/>
        </p:nvSpPr>
        <p:spPr>
          <a:xfrm>
            <a:off x="0" y="4686300"/>
            <a:ext cx="9144000" cy="457200"/>
          </a:xfrm>
          <a:prstGeom prst="rect">
            <a:avLst/>
          </a:prstGeom>
          <a:solidFill>
            <a:srgbClr val="102A54"/>
          </a:solidFill>
          <a:ln/>
        </p:spPr>
      </p:sp>
      <p:sp>
        <p:nvSpPr>
          <p:cNvPr id="15" name="Shape 13"/>
          <p:cNvSpPr/>
          <p:nvPr/>
        </p:nvSpPr>
        <p:spPr>
          <a:xfrm>
            <a:off x="0" y="4654296"/>
            <a:ext cx="9144000" cy="32004"/>
          </a:xfrm>
          <a:prstGeom prst="rect">
            <a:avLst/>
          </a:prstGeom>
          <a:solidFill>
            <a:srgbClr val="6F8FAF"/>
          </a:solidFill>
          <a:ln/>
        </p:spPr>
      </p:sp>
      <p:sp>
        <p:nvSpPr>
          <p:cNvPr id="16" name="Text 14"/>
          <p:cNvSpPr/>
          <p:nvPr/>
        </p:nvSpPr>
        <p:spPr>
          <a:xfrm>
            <a:off x="457200" y="4686300"/>
            <a:ext cx="2194560" cy="457200"/>
          </a:xfrm>
          <a:prstGeom prst="rect">
            <a:avLst/>
          </a:prstGeom>
          <a:noFill/>
          <a:ln/>
        </p:spPr>
        <p:txBody>
          <a:bodyPr wrap="square" rtlCol="0" anchor="ctr"/>
          <a:lstStyle/>
          <a:p>
            <a:pPr algn="l" indent="0" marL="0">
              <a:buNone/>
            </a:pPr>
            <a:r>
              <a:rPr lang="en-US" sz="900" b="1" spc="200" kern="0" dirty="0">
                <a:solidFill>
                  <a:srgbClr val="6F8FAF"/>
                </a:solidFill>
                <a:latin typeface="Calibri" pitchFamily="34" charset="0"/>
                <a:ea typeface="Calibri" pitchFamily="34" charset="-122"/>
                <a:cs typeface="Calibri" pitchFamily="34" charset="-120"/>
              </a:rPr>
              <a:t>✦ </a:t>
            </a:r>
            <a:pPr algn="l" indent="0" marL="0">
              <a:buNone/>
            </a:pPr>
            <a:r>
              <a:rPr lang="en-US" sz="900" b="1" spc="200" kern="0" dirty="0">
                <a:solidFill>
                  <a:srgbClr val="6F8FAF"/>
                </a:solidFill>
                <a:latin typeface="Calibri" pitchFamily="34" charset="0"/>
                <a:ea typeface="Calibri" pitchFamily="34" charset="-122"/>
                <a:cs typeface="Calibri" pitchFamily="34" charset="-120"/>
              </a:rPr>
              <a:t>TCDLAi</a:t>
            </a:r>
            <a:endParaRPr lang="en-US" sz="900" dirty="0"/>
          </a:p>
        </p:txBody>
      </p:sp>
      <p:sp>
        <p:nvSpPr>
          <p:cNvPr id="17" name="Text 15"/>
          <p:cNvSpPr/>
          <p:nvPr/>
        </p:nvSpPr>
        <p:spPr>
          <a:xfrm>
            <a:off x="2743200" y="4686300"/>
            <a:ext cx="3657600" cy="457200"/>
          </a:xfrm>
          <a:prstGeom prst="rect">
            <a:avLst/>
          </a:prstGeom>
          <a:noFill/>
          <a:ln/>
        </p:spPr>
        <p:txBody>
          <a:bodyPr wrap="square" rtlCol="0" anchor="ctr"/>
          <a:lstStyle/>
          <a:p>
            <a:pPr algn="ctr" indent="0" marL="0">
              <a:buNone/>
            </a:pPr>
            <a:r>
              <a:rPr lang="en-US" sz="900" i="1" dirty="0">
                <a:solidFill>
                  <a:srgbClr val="C6D4EC"/>
                </a:solidFill>
                <a:latin typeface="Calibri" pitchFamily="34" charset="0"/>
                <a:ea typeface="Calibri" pitchFamily="34" charset="-122"/>
                <a:cs typeface="Calibri" pitchFamily="34" charset="-120"/>
              </a:rPr>
              <a:t>Facilitator: Miguel Guhlin</a:t>
            </a:r>
            <a:endParaRPr lang="en-US" sz="900" dirty="0"/>
          </a:p>
        </p:txBody>
      </p:sp>
      <p:sp>
        <p:nvSpPr>
          <p:cNvPr id="18" name="Text 16"/>
          <p:cNvSpPr/>
          <p:nvPr/>
        </p:nvSpPr>
        <p:spPr>
          <a:xfrm>
            <a:off x="6035040" y="4686300"/>
            <a:ext cx="2651760" cy="457200"/>
          </a:xfrm>
          <a:prstGeom prst="rect">
            <a:avLst/>
          </a:prstGeom>
          <a:noFill/>
          <a:ln/>
        </p:spPr>
        <p:txBody>
          <a:bodyPr wrap="square" rtlCol="0" anchor="ctr"/>
          <a:lstStyle/>
          <a:p>
            <a:pPr algn="r" indent="0" marL="0">
              <a:buNone/>
            </a:pPr>
            <a:r>
              <a:rPr lang="en-US" sz="900" b="1" dirty="0">
                <a:solidFill>
                  <a:srgbClr val="C8D2DC"/>
                </a:solidFill>
                <a:latin typeface="Calibri" pitchFamily="34" charset="0"/>
                <a:ea typeface="Calibri" pitchFamily="34" charset="-122"/>
                <a:cs typeface="Calibri" pitchFamily="34" charset="-120"/>
              </a:rPr>
              <a:t>mglearn.github.io/legalai</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8229600" cy="256032"/>
          </a:xfrm>
          <a:prstGeom prst="rect">
            <a:avLst/>
          </a:prstGeom>
          <a:noFill/>
          <a:ln/>
        </p:spPr>
        <p:txBody>
          <a:bodyPr wrap="square" rtlCol="0" anchor="ctr"/>
          <a:lstStyle/>
          <a:p>
            <a:pPr indent="0" marL="0">
              <a:buNone/>
            </a:pPr>
            <a:r>
              <a:rPr lang="en-US" sz="1100" b="1" spc="200" kern="0" dirty="0">
                <a:solidFill>
                  <a:srgbClr val="2F5F8F"/>
                </a:solidFill>
                <a:latin typeface="Calibri" pitchFamily="34" charset="0"/>
                <a:ea typeface="Calibri" pitchFamily="34" charset="-122"/>
                <a:cs typeface="Calibri" pitchFamily="34" charset="-120"/>
              </a:rPr>
              <a:t>DEMONSTRATION · THE I IN PRACTICE</a:t>
            </a:r>
            <a:endParaRPr lang="en-US" sz="1100" dirty="0"/>
          </a:p>
        </p:txBody>
      </p:sp>
      <p:sp>
        <p:nvSpPr>
          <p:cNvPr id="3" name="Shape 1"/>
          <p:cNvSpPr/>
          <p:nvPr/>
        </p:nvSpPr>
        <p:spPr>
          <a:xfrm>
            <a:off x="457200" y="758952"/>
            <a:ext cx="8229600" cy="0"/>
          </a:xfrm>
          <a:prstGeom prst="line">
            <a:avLst/>
          </a:prstGeom>
          <a:noFill/>
          <a:ln w="12700">
            <a:solidFill>
              <a:srgbClr val="D8DEE6"/>
            </a:solidFill>
            <a:prstDash val="solid"/>
          </a:ln>
        </p:spPr>
      </p:sp>
      <p:sp>
        <p:nvSpPr>
          <p:cNvPr id="4" name="Text 2"/>
          <p:cNvSpPr/>
          <p:nvPr/>
        </p:nvSpPr>
        <p:spPr>
          <a:xfrm>
            <a:off x="457200" y="658368"/>
            <a:ext cx="8229600" cy="640080"/>
          </a:xfrm>
          <a:prstGeom prst="rect">
            <a:avLst/>
          </a:prstGeom>
          <a:noFill/>
          <a:ln/>
        </p:spPr>
        <p:txBody>
          <a:bodyPr wrap="square" rtlCol="0" anchor="ctr"/>
          <a:lstStyle/>
          <a:p>
            <a:pPr indent="0" marL="0">
              <a:lnSpc>
                <a:spcPts val="2700"/>
              </a:lnSpc>
              <a:buNone/>
            </a:pPr>
            <a:r>
              <a:rPr lang="en-US" sz="2500" b="1" dirty="0">
                <a:solidFill>
                  <a:srgbClr val="102A54"/>
                </a:solidFill>
                <a:latin typeface="Georgia" pitchFamily="34" charset="0"/>
                <a:ea typeface="Georgia" pitchFamily="34" charset="-122"/>
                <a:cs typeface="Georgia" pitchFamily="34" charset="-120"/>
              </a:rPr>
              <a:t>Verify the output against the authority</a:t>
            </a:r>
            <a:endParaRPr lang="en-US" sz="2500" dirty="0"/>
          </a:p>
        </p:txBody>
      </p:sp>
      <p:sp>
        <p:nvSpPr>
          <p:cNvPr id="5" name="Shape 3"/>
          <p:cNvSpPr/>
          <p:nvPr/>
        </p:nvSpPr>
        <p:spPr>
          <a:xfrm>
            <a:off x="457200" y="1463040"/>
            <a:ext cx="1920240" cy="1554480"/>
          </a:xfrm>
          <a:prstGeom prst="roundRect">
            <a:avLst>
              <a:gd name="adj" fmla="val 2941"/>
            </a:avLst>
          </a:prstGeom>
          <a:solidFill>
            <a:srgbClr val="F7F9FC"/>
          </a:solidFill>
          <a:ln w="12700">
            <a:solidFill>
              <a:srgbClr val="D8DEE6"/>
            </a:solidFill>
            <a:prstDash val="solid"/>
          </a:ln>
        </p:spPr>
      </p:sp>
      <p:sp>
        <p:nvSpPr>
          <p:cNvPr id="6" name="Shape 4"/>
          <p:cNvSpPr/>
          <p:nvPr/>
        </p:nvSpPr>
        <p:spPr>
          <a:xfrm>
            <a:off x="457200" y="1463040"/>
            <a:ext cx="1920240" cy="54864"/>
          </a:xfrm>
          <a:prstGeom prst="rect">
            <a:avLst/>
          </a:prstGeom>
          <a:solidFill>
            <a:srgbClr val="6F8FAF"/>
          </a:solidFill>
          <a:ln/>
        </p:spPr>
      </p:sp>
      <p:sp>
        <p:nvSpPr>
          <p:cNvPr id="7" name="Shape 5"/>
          <p:cNvSpPr/>
          <p:nvPr/>
        </p:nvSpPr>
        <p:spPr>
          <a:xfrm>
            <a:off x="621792" y="1627632"/>
            <a:ext cx="365760" cy="365760"/>
          </a:xfrm>
          <a:prstGeom prst="ellipse">
            <a:avLst/>
          </a:prstGeom>
          <a:solidFill>
            <a:srgbClr val="102A54"/>
          </a:solidFill>
          <a:ln/>
        </p:spPr>
      </p:sp>
      <p:sp>
        <p:nvSpPr>
          <p:cNvPr id="8" name="Text 6"/>
          <p:cNvSpPr/>
          <p:nvPr/>
        </p:nvSpPr>
        <p:spPr>
          <a:xfrm>
            <a:off x="621792" y="1627632"/>
            <a:ext cx="365760" cy="365760"/>
          </a:xfrm>
          <a:prstGeom prst="rect">
            <a:avLst/>
          </a:prstGeom>
          <a:noFill/>
          <a:ln/>
        </p:spPr>
        <p:txBody>
          <a:bodyPr wrap="square"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1</a:t>
            </a:r>
            <a:endParaRPr lang="en-US" sz="1400" dirty="0"/>
          </a:p>
        </p:txBody>
      </p:sp>
      <p:sp>
        <p:nvSpPr>
          <p:cNvPr id="9" name="Text 7"/>
          <p:cNvSpPr/>
          <p:nvPr/>
        </p:nvSpPr>
        <p:spPr>
          <a:xfrm>
            <a:off x="603504" y="2066544"/>
            <a:ext cx="1645920" cy="320040"/>
          </a:xfrm>
          <a:prstGeom prst="rect">
            <a:avLst/>
          </a:prstGeom>
          <a:noFill/>
          <a:ln/>
        </p:spPr>
        <p:txBody>
          <a:bodyPr wrap="square" rtlCol="0" anchor="t"/>
          <a:lstStyle/>
          <a:p>
            <a:pPr indent="0" marL="0">
              <a:buNone/>
            </a:pPr>
            <a:r>
              <a:rPr lang="en-US" sz="1250" b="1" dirty="0">
                <a:solidFill>
                  <a:srgbClr val="102A54"/>
                </a:solidFill>
                <a:latin typeface="Georgia" pitchFamily="34" charset="0"/>
                <a:ea typeface="Georgia" pitchFamily="34" charset="-122"/>
                <a:cs typeface="Georgia" pitchFamily="34" charset="-120"/>
              </a:rPr>
              <a:t>Get the draft</a:t>
            </a:r>
            <a:endParaRPr lang="en-US" sz="1250" dirty="0"/>
          </a:p>
        </p:txBody>
      </p:sp>
      <p:sp>
        <p:nvSpPr>
          <p:cNvPr id="10" name="Text 8"/>
          <p:cNvSpPr/>
          <p:nvPr/>
        </p:nvSpPr>
        <p:spPr>
          <a:xfrm>
            <a:off x="603504" y="2377440"/>
            <a:ext cx="1645920" cy="594360"/>
          </a:xfrm>
          <a:prstGeom prst="rect">
            <a:avLst/>
          </a:prstGeom>
          <a:noFill/>
          <a:ln/>
        </p:spPr>
        <p:txBody>
          <a:bodyPr wrap="square" rtlCol="0" anchor="t"/>
          <a:lstStyle/>
          <a:p>
            <a:pPr indent="0" marL="0">
              <a:lnSpc>
                <a:spcPts val="1300"/>
              </a:lnSpc>
              <a:buNone/>
            </a:pPr>
            <a:r>
              <a:rPr lang="en-US" sz="1050" dirty="0">
                <a:solidFill>
                  <a:srgbClr val="4F6072"/>
                </a:solidFill>
                <a:latin typeface="Calibri" pitchFamily="34" charset="0"/>
                <a:ea typeface="Calibri" pitchFamily="34" charset="-122"/>
                <a:cs typeface="Calibri" pitchFamily="34" charset="-120"/>
              </a:rPr>
              <a:t>Run a grounded prompt and read the answer with its citations.</a:t>
            </a:r>
            <a:endParaRPr lang="en-US" sz="1050" dirty="0"/>
          </a:p>
        </p:txBody>
      </p:sp>
      <p:sp>
        <p:nvSpPr>
          <p:cNvPr id="11" name="Shape 9"/>
          <p:cNvSpPr/>
          <p:nvPr/>
        </p:nvSpPr>
        <p:spPr>
          <a:xfrm>
            <a:off x="2560320" y="1463040"/>
            <a:ext cx="1920240" cy="1554480"/>
          </a:xfrm>
          <a:prstGeom prst="roundRect">
            <a:avLst>
              <a:gd name="adj" fmla="val 2941"/>
            </a:avLst>
          </a:prstGeom>
          <a:solidFill>
            <a:srgbClr val="F7F9FC"/>
          </a:solidFill>
          <a:ln w="12700">
            <a:solidFill>
              <a:srgbClr val="D8DEE6"/>
            </a:solidFill>
            <a:prstDash val="solid"/>
          </a:ln>
        </p:spPr>
      </p:sp>
      <p:sp>
        <p:nvSpPr>
          <p:cNvPr id="12" name="Shape 10"/>
          <p:cNvSpPr/>
          <p:nvPr/>
        </p:nvSpPr>
        <p:spPr>
          <a:xfrm>
            <a:off x="2560320" y="1463040"/>
            <a:ext cx="1920240" cy="54864"/>
          </a:xfrm>
          <a:prstGeom prst="rect">
            <a:avLst/>
          </a:prstGeom>
          <a:solidFill>
            <a:srgbClr val="6F8FAF"/>
          </a:solidFill>
          <a:ln/>
        </p:spPr>
      </p:sp>
      <p:sp>
        <p:nvSpPr>
          <p:cNvPr id="13" name="Shape 11"/>
          <p:cNvSpPr/>
          <p:nvPr/>
        </p:nvSpPr>
        <p:spPr>
          <a:xfrm>
            <a:off x="2724912" y="1627632"/>
            <a:ext cx="365760" cy="365760"/>
          </a:xfrm>
          <a:prstGeom prst="ellipse">
            <a:avLst/>
          </a:prstGeom>
          <a:solidFill>
            <a:srgbClr val="102A54"/>
          </a:solidFill>
          <a:ln/>
        </p:spPr>
      </p:sp>
      <p:sp>
        <p:nvSpPr>
          <p:cNvPr id="14" name="Text 12"/>
          <p:cNvSpPr/>
          <p:nvPr/>
        </p:nvSpPr>
        <p:spPr>
          <a:xfrm>
            <a:off x="2724912" y="1627632"/>
            <a:ext cx="365760" cy="365760"/>
          </a:xfrm>
          <a:prstGeom prst="rect">
            <a:avLst/>
          </a:prstGeom>
          <a:noFill/>
          <a:ln/>
        </p:spPr>
        <p:txBody>
          <a:bodyPr wrap="square"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2</a:t>
            </a:r>
            <a:endParaRPr lang="en-US" sz="1400" dirty="0"/>
          </a:p>
        </p:txBody>
      </p:sp>
      <p:sp>
        <p:nvSpPr>
          <p:cNvPr id="15" name="Text 13"/>
          <p:cNvSpPr/>
          <p:nvPr/>
        </p:nvSpPr>
        <p:spPr>
          <a:xfrm>
            <a:off x="2706624" y="2066544"/>
            <a:ext cx="1645920" cy="320040"/>
          </a:xfrm>
          <a:prstGeom prst="rect">
            <a:avLst/>
          </a:prstGeom>
          <a:noFill/>
          <a:ln/>
        </p:spPr>
        <p:txBody>
          <a:bodyPr wrap="square" rtlCol="0" anchor="t"/>
          <a:lstStyle/>
          <a:p>
            <a:pPr indent="0" marL="0">
              <a:buNone/>
            </a:pPr>
            <a:r>
              <a:rPr lang="en-US" sz="1250" b="1" dirty="0">
                <a:solidFill>
                  <a:srgbClr val="102A54"/>
                </a:solidFill>
                <a:latin typeface="Georgia" pitchFamily="34" charset="0"/>
                <a:ea typeface="Georgia" pitchFamily="34" charset="-122"/>
                <a:cs typeface="Georgia" pitchFamily="34" charset="-120"/>
              </a:rPr>
              <a:t>Pull the source</a:t>
            </a:r>
            <a:endParaRPr lang="en-US" sz="1250" dirty="0"/>
          </a:p>
        </p:txBody>
      </p:sp>
      <p:sp>
        <p:nvSpPr>
          <p:cNvPr id="16" name="Text 14"/>
          <p:cNvSpPr/>
          <p:nvPr/>
        </p:nvSpPr>
        <p:spPr>
          <a:xfrm>
            <a:off x="2706624" y="2377440"/>
            <a:ext cx="1645920" cy="594360"/>
          </a:xfrm>
          <a:prstGeom prst="rect">
            <a:avLst/>
          </a:prstGeom>
          <a:noFill/>
          <a:ln/>
        </p:spPr>
        <p:txBody>
          <a:bodyPr wrap="square" rtlCol="0" anchor="t"/>
          <a:lstStyle/>
          <a:p>
            <a:pPr indent="0" marL="0">
              <a:lnSpc>
                <a:spcPts val="1300"/>
              </a:lnSpc>
              <a:buNone/>
            </a:pPr>
            <a:r>
              <a:rPr lang="en-US" sz="1050" dirty="0">
                <a:solidFill>
                  <a:srgbClr val="4F6072"/>
                </a:solidFill>
                <a:latin typeface="Calibri" pitchFamily="34" charset="0"/>
                <a:ea typeface="Calibri" pitchFamily="34" charset="-122"/>
                <a:cs typeface="Calibri" pitchFamily="34" charset="-120"/>
              </a:rPr>
              <a:t>Open each cited authority yourself from a real database.</a:t>
            </a:r>
            <a:endParaRPr lang="en-US" sz="1050" dirty="0"/>
          </a:p>
        </p:txBody>
      </p:sp>
      <p:sp>
        <p:nvSpPr>
          <p:cNvPr id="17" name="Shape 15"/>
          <p:cNvSpPr/>
          <p:nvPr/>
        </p:nvSpPr>
        <p:spPr>
          <a:xfrm>
            <a:off x="4663440" y="1463040"/>
            <a:ext cx="1920240" cy="1554480"/>
          </a:xfrm>
          <a:prstGeom prst="roundRect">
            <a:avLst>
              <a:gd name="adj" fmla="val 2941"/>
            </a:avLst>
          </a:prstGeom>
          <a:solidFill>
            <a:srgbClr val="F7F9FC"/>
          </a:solidFill>
          <a:ln w="12700">
            <a:solidFill>
              <a:srgbClr val="D8DEE6"/>
            </a:solidFill>
            <a:prstDash val="solid"/>
          </a:ln>
        </p:spPr>
      </p:sp>
      <p:sp>
        <p:nvSpPr>
          <p:cNvPr id="18" name="Shape 16"/>
          <p:cNvSpPr/>
          <p:nvPr/>
        </p:nvSpPr>
        <p:spPr>
          <a:xfrm>
            <a:off x="4663440" y="1463040"/>
            <a:ext cx="1920240" cy="54864"/>
          </a:xfrm>
          <a:prstGeom prst="rect">
            <a:avLst/>
          </a:prstGeom>
          <a:solidFill>
            <a:srgbClr val="6F8FAF"/>
          </a:solidFill>
          <a:ln/>
        </p:spPr>
      </p:sp>
      <p:sp>
        <p:nvSpPr>
          <p:cNvPr id="19" name="Shape 17"/>
          <p:cNvSpPr/>
          <p:nvPr/>
        </p:nvSpPr>
        <p:spPr>
          <a:xfrm>
            <a:off x="4828032" y="1627632"/>
            <a:ext cx="365760" cy="365760"/>
          </a:xfrm>
          <a:prstGeom prst="ellipse">
            <a:avLst/>
          </a:prstGeom>
          <a:solidFill>
            <a:srgbClr val="102A54"/>
          </a:solidFill>
          <a:ln/>
        </p:spPr>
      </p:sp>
      <p:sp>
        <p:nvSpPr>
          <p:cNvPr id="20" name="Text 18"/>
          <p:cNvSpPr/>
          <p:nvPr/>
        </p:nvSpPr>
        <p:spPr>
          <a:xfrm>
            <a:off x="4828032" y="1627632"/>
            <a:ext cx="365760" cy="365760"/>
          </a:xfrm>
          <a:prstGeom prst="rect">
            <a:avLst/>
          </a:prstGeom>
          <a:noFill/>
          <a:ln/>
        </p:spPr>
        <p:txBody>
          <a:bodyPr wrap="square"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3</a:t>
            </a:r>
            <a:endParaRPr lang="en-US" sz="1400" dirty="0"/>
          </a:p>
        </p:txBody>
      </p:sp>
      <p:sp>
        <p:nvSpPr>
          <p:cNvPr id="21" name="Text 19"/>
          <p:cNvSpPr/>
          <p:nvPr/>
        </p:nvSpPr>
        <p:spPr>
          <a:xfrm>
            <a:off x="4809744" y="2066544"/>
            <a:ext cx="1645920" cy="320040"/>
          </a:xfrm>
          <a:prstGeom prst="rect">
            <a:avLst/>
          </a:prstGeom>
          <a:noFill/>
          <a:ln/>
        </p:spPr>
        <p:txBody>
          <a:bodyPr wrap="square" rtlCol="0" anchor="t"/>
          <a:lstStyle/>
          <a:p>
            <a:pPr indent="0" marL="0">
              <a:buNone/>
            </a:pPr>
            <a:r>
              <a:rPr lang="en-US" sz="1250" b="1" dirty="0">
                <a:solidFill>
                  <a:srgbClr val="102A54"/>
                </a:solidFill>
                <a:latin typeface="Georgia" pitchFamily="34" charset="0"/>
                <a:ea typeface="Georgia" pitchFamily="34" charset="-122"/>
                <a:cs typeface="Georgia" pitchFamily="34" charset="-120"/>
              </a:rPr>
              <a:t>Match the claim</a:t>
            </a:r>
            <a:endParaRPr lang="en-US" sz="1250" dirty="0"/>
          </a:p>
        </p:txBody>
      </p:sp>
      <p:sp>
        <p:nvSpPr>
          <p:cNvPr id="22" name="Text 20"/>
          <p:cNvSpPr/>
          <p:nvPr/>
        </p:nvSpPr>
        <p:spPr>
          <a:xfrm>
            <a:off x="4809744" y="2377440"/>
            <a:ext cx="1645920" cy="594360"/>
          </a:xfrm>
          <a:prstGeom prst="rect">
            <a:avLst/>
          </a:prstGeom>
          <a:noFill/>
          <a:ln/>
        </p:spPr>
        <p:txBody>
          <a:bodyPr wrap="square" rtlCol="0" anchor="t"/>
          <a:lstStyle/>
          <a:p>
            <a:pPr indent="0" marL="0">
              <a:lnSpc>
                <a:spcPts val="1300"/>
              </a:lnSpc>
              <a:buNone/>
            </a:pPr>
            <a:r>
              <a:rPr lang="en-US" sz="1050" dirty="0">
                <a:solidFill>
                  <a:srgbClr val="4F6072"/>
                </a:solidFill>
                <a:latin typeface="Calibri" pitchFamily="34" charset="0"/>
                <a:ea typeface="Calibri" pitchFamily="34" charset="-122"/>
                <a:cs typeface="Calibri" pitchFamily="34" charset="-120"/>
              </a:rPr>
              <a:t>Confirm the quote, the holding, and the pinpoint actually appear.</a:t>
            </a:r>
            <a:endParaRPr lang="en-US" sz="1050" dirty="0"/>
          </a:p>
        </p:txBody>
      </p:sp>
      <p:sp>
        <p:nvSpPr>
          <p:cNvPr id="23" name="Shape 21"/>
          <p:cNvSpPr/>
          <p:nvPr/>
        </p:nvSpPr>
        <p:spPr>
          <a:xfrm>
            <a:off x="6766560" y="1463040"/>
            <a:ext cx="1920240" cy="1554480"/>
          </a:xfrm>
          <a:prstGeom prst="roundRect">
            <a:avLst>
              <a:gd name="adj" fmla="val 2941"/>
            </a:avLst>
          </a:prstGeom>
          <a:solidFill>
            <a:srgbClr val="F7F9FC"/>
          </a:solidFill>
          <a:ln w="12700">
            <a:solidFill>
              <a:srgbClr val="D8DEE6"/>
            </a:solidFill>
            <a:prstDash val="solid"/>
          </a:ln>
        </p:spPr>
      </p:sp>
      <p:sp>
        <p:nvSpPr>
          <p:cNvPr id="24" name="Shape 22"/>
          <p:cNvSpPr/>
          <p:nvPr/>
        </p:nvSpPr>
        <p:spPr>
          <a:xfrm>
            <a:off x="6766560" y="1463040"/>
            <a:ext cx="1920240" cy="54864"/>
          </a:xfrm>
          <a:prstGeom prst="rect">
            <a:avLst/>
          </a:prstGeom>
          <a:solidFill>
            <a:srgbClr val="6F8FAF"/>
          </a:solidFill>
          <a:ln/>
        </p:spPr>
      </p:sp>
      <p:sp>
        <p:nvSpPr>
          <p:cNvPr id="25" name="Shape 23"/>
          <p:cNvSpPr/>
          <p:nvPr/>
        </p:nvSpPr>
        <p:spPr>
          <a:xfrm>
            <a:off x="6931152" y="1627632"/>
            <a:ext cx="365760" cy="365760"/>
          </a:xfrm>
          <a:prstGeom prst="ellipse">
            <a:avLst/>
          </a:prstGeom>
          <a:solidFill>
            <a:srgbClr val="102A54"/>
          </a:solidFill>
          <a:ln/>
        </p:spPr>
      </p:sp>
      <p:sp>
        <p:nvSpPr>
          <p:cNvPr id="26" name="Text 24"/>
          <p:cNvSpPr/>
          <p:nvPr/>
        </p:nvSpPr>
        <p:spPr>
          <a:xfrm>
            <a:off x="6931152" y="1627632"/>
            <a:ext cx="365760" cy="365760"/>
          </a:xfrm>
          <a:prstGeom prst="rect">
            <a:avLst/>
          </a:prstGeom>
          <a:noFill/>
          <a:ln/>
        </p:spPr>
        <p:txBody>
          <a:bodyPr wrap="square"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4</a:t>
            </a:r>
            <a:endParaRPr lang="en-US" sz="1400" dirty="0"/>
          </a:p>
        </p:txBody>
      </p:sp>
      <p:sp>
        <p:nvSpPr>
          <p:cNvPr id="27" name="Text 25"/>
          <p:cNvSpPr/>
          <p:nvPr/>
        </p:nvSpPr>
        <p:spPr>
          <a:xfrm>
            <a:off x="6912864" y="2066544"/>
            <a:ext cx="1645920" cy="320040"/>
          </a:xfrm>
          <a:prstGeom prst="rect">
            <a:avLst/>
          </a:prstGeom>
          <a:noFill/>
          <a:ln/>
        </p:spPr>
        <p:txBody>
          <a:bodyPr wrap="square" rtlCol="0" anchor="t"/>
          <a:lstStyle/>
          <a:p>
            <a:pPr indent="0" marL="0">
              <a:buNone/>
            </a:pPr>
            <a:r>
              <a:rPr lang="en-US" sz="1250" b="1" dirty="0">
                <a:solidFill>
                  <a:srgbClr val="102A54"/>
                </a:solidFill>
                <a:latin typeface="Georgia" pitchFamily="34" charset="0"/>
                <a:ea typeface="Georgia" pitchFamily="34" charset="-122"/>
                <a:cs typeface="Georgia" pitchFamily="34" charset="-120"/>
              </a:rPr>
              <a:t>Correct and note</a:t>
            </a:r>
            <a:endParaRPr lang="en-US" sz="1250" dirty="0"/>
          </a:p>
        </p:txBody>
      </p:sp>
      <p:sp>
        <p:nvSpPr>
          <p:cNvPr id="28" name="Text 26"/>
          <p:cNvSpPr/>
          <p:nvPr/>
        </p:nvSpPr>
        <p:spPr>
          <a:xfrm>
            <a:off x="6912864" y="2377440"/>
            <a:ext cx="1645920" cy="594360"/>
          </a:xfrm>
          <a:prstGeom prst="rect">
            <a:avLst/>
          </a:prstGeom>
          <a:noFill/>
          <a:ln/>
        </p:spPr>
        <p:txBody>
          <a:bodyPr wrap="square" rtlCol="0" anchor="t"/>
          <a:lstStyle/>
          <a:p>
            <a:pPr indent="0" marL="0">
              <a:lnSpc>
                <a:spcPts val="1300"/>
              </a:lnSpc>
              <a:buNone/>
            </a:pPr>
            <a:r>
              <a:rPr lang="en-US" sz="1050" dirty="0">
                <a:solidFill>
                  <a:srgbClr val="4F6072"/>
                </a:solidFill>
                <a:latin typeface="Calibri" pitchFamily="34" charset="0"/>
                <a:ea typeface="Calibri" pitchFamily="34" charset="-122"/>
                <a:cs typeface="Calibri" pitchFamily="34" charset="-120"/>
              </a:rPr>
              <a:t>Fix what fails, and record what you verified and how.</a:t>
            </a:r>
            <a:endParaRPr lang="en-US" sz="1050" dirty="0"/>
          </a:p>
        </p:txBody>
      </p:sp>
      <p:sp>
        <p:nvSpPr>
          <p:cNvPr id="29" name="Shape 27"/>
          <p:cNvSpPr/>
          <p:nvPr/>
        </p:nvSpPr>
        <p:spPr>
          <a:xfrm>
            <a:off x="457200" y="3163824"/>
            <a:ext cx="8229600" cy="987552"/>
          </a:xfrm>
          <a:prstGeom prst="roundRect">
            <a:avLst>
              <a:gd name="adj" fmla="val 3704"/>
            </a:avLst>
          </a:prstGeom>
          <a:solidFill>
            <a:srgbClr val="0E1B33"/>
          </a:solidFill>
          <a:ln w="12700">
            <a:solidFill>
              <a:srgbClr val="1E3A66"/>
            </a:solidFill>
            <a:prstDash val="solid"/>
          </a:ln>
        </p:spPr>
      </p:sp>
      <p:sp>
        <p:nvSpPr>
          <p:cNvPr id="30" name="Text 28"/>
          <p:cNvSpPr/>
          <p:nvPr/>
        </p:nvSpPr>
        <p:spPr>
          <a:xfrm>
            <a:off x="640080" y="3255264"/>
            <a:ext cx="7863840" cy="804672"/>
          </a:xfrm>
          <a:prstGeom prst="rect">
            <a:avLst/>
          </a:prstGeom>
          <a:noFill/>
          <a:ln/>
        </p:spPr>
        <p:txBody>
          <a:bodyPr wrap="square" rtlCol="0" anchor="t"/>
          <a:lstStyle/>
          <a:p>
            <a:pPr indent="0" marL="0">
              <a:lnSpc>
                <a:spcPts val="1600"/>
              </a:lnSpc>
              <a:buNone/>
            </a:pPr>
            <a:r>
              <a:rPr lang="en-US" sz="1200" dirty="0">
                <a:solidFill>
                  <a:srgbClr val="E6ECF7"/>
                </a:solidFill>
                <a:latin typeface="Consolas" pitchFamily="34" charset="0"/>
                <a:ea typeface="Consolas" pitchFamily="34" charset="-122"/>
                <a:cs typeface="Consolas" pitchFamily="34" charset="-120"/>
              </a:rPr>
              <a:t>Inspect prompt: "Review your last answer. For each citation, state the exact</a:t>
            </a:r>
            <a:endParaRPr lang="en-US" sz="1200" dirty="0"/>
          </a:p>
          <a:p>
            <a:pPr indent="0" marL="0">
              <a:lnSpc>
                <a:spcPts val="1600"/>
              </a:lnSpc>
              <a:buNone/>
            </a:pPr>
            <a:r>
              <a:rPr lang="en-US" sz="1200" dirty="0">
                <a:solidFill>
                  <a:srgbClr val="E6ECF7"/>
                </a:solidFill>
                <a:latin typeface="Consolas" pitchFamily="34" charset="0"/>
                <a:ea typeface="Consolas" pitchFamily="34" charset="-122"/>
                <a:cs typeface="Consolas" pitchFamily="34" charset="-120"/>
              </a:rPr>
              <a:t>sentence in the source I pasted that supports it. If you cannot find one,</a:t>
            </a:r>
            <a:endParaRPr lang="en-US" sz="1200" dirty="0"/>
          </a:p>
          <a:p>
            <a:pPr indent="0" marL="0">
              <a:lnSpc>
                <a:spcPts val="1600"/>
              </a:lnSpc>
              <a:buNone/>
            </a:pPr>
            <a:r>
              <a:rPr lang="en-US" sz="1200" dirty="0">
                <a:solidFill>
                  <a:srgbClr val="E6ECF7"/>
                </a:solidFill>
                <a:latin typeface="Consolas" pitchFamily="34" charset="0"/>
                <a:ea typeface="Consolas" pitchFamily="34" charset="-122"/>
                <a:cs typeface="Consolas" pitchFamily="34" charset="-120"/>
              </a:rPr>
              <a:t>say so and remove the claim."</a:t>
            </a:r>
            <a:endParaRPr lang="en-US" sz="1200" dirty="0"/>
          </a:p>
        </p:txBody>
      </p:sp>
      <p:sp>
        <p:nvSpPr>
          <p:cNvPr id="31" name="Shape 29"/>
          <p:cNvSpPr/>
          <p:nvPr/>
        </p:nvSpPr>
        <p:spPr>
          <a:xfrm>
            <a:off x="0" y="4686300"/>
            <a:ext cx="9144000" cy="457200"/>
          </a:xfrm>
          <a:prstGeom prst="rect">
            <a:avLst/>
          </a:prstGeom>
          <a:solidFill>
            <a:srgbClr val="102A54"/>
          </a:solidFill>
          <a:ln/>
        </p:spPr>
      </p:sp>
      <p:sp>
        <p:nvSpPr>
          <p:cNvPr id="32" name="Shape 30"/>
          <p:cNvSpPr/>
          <p:nvPr/>
        </p:nvSpPr>
        <p:spPr>
          <a:xfrm>
            <a:off x="0" y="4654296"/>
            <a:ext cx="9144000" cy="32004"/>
          </a:xfrm>
          <a:prstGeom prst="rect">
            <a:avLst/>
          </a:prstGeom>
          <a:solidFill>
            <a:srgbClr val="6F8FAF"/>
          </a:solidFill>
          <a:ln/>
        </p:spPr>
      </p:sp>
      <p:sp>
        <p:nvSpPr>
          <p:cNvPr id="33" name="Text 31"/>
          <p:cNvSpPr/>
          <p:nvPr/>
        </p:nvSpPr>
        <p:spPr>
          <a:xfrm>
            <a:off x="457200" y="4686300"/>
            <a:ext cx="2194560" cy="457200"/>
          </a:xfrm>
          <a:prstGeom prst="rect">
            <a:avLst/>
          </a:prstGeom>
          <a:noFill/>
          <a:ln/>
        </p:spPr>
        <p:txBody>
          <a:bodyPr wrap="square" rtlCol="0" anchor="ctr"/>
          <a:lstStyle/>
          <a:p>
            <a:pPr algn="l" indent="0" marL="0">
              <a:buNone/>
            </a:pPr>
            <a:r>
              <a:rPr lang="en-US" sz="900" b="1" spc="200" kern="0" dirty="0">
                <a:solidFill>
                  <a:srgbClr val="6F8FAF"/>
                </a:solidFill>
                <a:latin typeface="Calibri" pitchFamily="34" charset="0"/>
                <a:ea typeface="Calibri" pitchFamily="34" charset="-122"/>
                <a:cs typeface="Calibri" pitchFamily="34" charset="-120"/>
              </a:rPr>
              <a:t>✦ </a:t>
            </a:r>
            <a:pPr algn="l" indent="0" marL="0">
              <a:buNone/>
            </a:pPr>
            <a:r>
              <a:rPr lang="en-US" sz="900" b="1" spc="200" kern="0" dirty="0">
                <a:solidFill>
                  <a:srgbClr val="6F8FAF"/>
                </a:solidFill>
                <a:latin typeface="Calibri" pitchFamily="34" charset="0"/>
                <a:ea typeface="Calibri" pitchFamily="34" charset="-122"/>
                <a:cs typeface="Calibri" pitchFamily="34" charset="-120"/>
              </a:rPr>
              <a:t>TCDLAi</a:t>
            </a:r>
            <a:endParaRPr lang="en-US" sz="900" dirty="0"/>
          </a:p>
        </p:txBody>
      </p:sp>
      <p:sp>
        <p:nvSpPr>
          <p:cNvPr id="34" name="Text 32"/>
          <p:cNvSpPr/>
          <p:nvPr/>
        </p:nvSpPr>
        <p:spPr>
          <a:xfrm>
            <a:off x="2743200" y="4686300"/>
            <a:ext cx="3657600" cy="457200"/>
          </a:xfrm>
          <a:prstGeom prst="rect">
            <a:avLst/>
          </a:prstGeom>
          <a:noFill/>
          <a:ln/>
        </p:spPr>
        <p:txBody>
          <a:bodyPr wrap="square" rtlCol="0" anchor="ctr"/>
          <a:lstStyle/>
          <a:p>
            <a:pPr algn="ctr" indent="0" marL="0">
              <a:buNone/>
            </a:pPr>
            <a:r>
              <a:rPr lang="en-US" sz="900" i="1" dirty="0">
                <a:solidFill>
                  <a:srgbClr val="C6D4EC"/>
                </a:solidFill>
                <a:latin typeface="Calibri" pitchFamily="34" charset="0"/>
                <a:ea typeface="Calibri" pitchFamily="34" charset="-122"/>
                <a:cs typeface="Calibri" pitchFamily="34" charset="-120"/>
              </a:rPr>
              <a:t>Facilitator: Miguel Guhlin</a:t>
            </a:r>
            <a:endParaRPr lang="en-US" sz="900" dirty="0"/>
          </a:p>
        </p:txBody>
      </p:sp>
      <p:sp>
        <p:nvSpPr>
          <p:cNvPr id="35" name="Text 33"/>
          <p:cNvSpPr/>
          <p:nvPr/>
        </p:nvSpPr>
        <p:spPr>
          <a:xfrm>
            <a:off x="6035040" y="4686300"/>
            <a:ext cx="2651760" cy="457200"/>
          </a:xfrm>
          <a:prstGeom prst="rect">
            <a:avLst/>
          </a:prstGeom>
          <a:noFill/>
          <a:ln/>
        </p:spPr>
        <p:txBody>
          <a:bodyPr wrap="square" rtlCol="0" anchor="ctr"/>
          <a:lstStyle/>
          <a:p>
            <a:pPr algn="r" indent="0" marL="0">
              <a:buNone/>
            </a:pPr>
            <a:r>
              <a:rPr lang="en-US" sz="900" b="1" dirty="0">
                <a:solidFill>
                  <a:srgbClr val="C8D2DC"/>
                </a:solidFill>
                <a:latin typeface="Calibri" pitchFamily="34" charset="0"/>
                <a:ea typeface="Calibri" pitchFamily="34" charset="-122"/>
                <a:cs typeface="Calibri" pitchFamily="34" charset="-120"/>
              </a:rPr>
              <a:t>mglearn.github.io/legalai</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8229600" cy="256032"/>
          </a:xfrm>
          <a:prstGeom prst="rect">
            <a:avLst/>
          </a:prstGeom>
          <a:noFill/>
          <a:ln/>
        </p:spPr>
        <p:txBody>
          <a:bodyPr wrap="square" rtlCol="0" anchor="ctr"/>
          <a:lstStyle/>
          <a:p>
            <a:pPr indent="0" marL="0">
              <a:buNone/>
            </a:pPr>
            <a:r>
              <a:rPr lang="en-US" sz="1100" b="1" spc="200" kern="0" dirty="0">
                <a:solidFill>
                  <a:srgbClr val="2F5F8F"/>
                </a:solidFill>
                <a:latin typeface="Calibri" pitchFamily="34" charset="0"/>
                <a:ea typeface="Calibri" pitchFamily="34" charset="-122"/>
                <a:cs typeface="Calibri" pitchFamily="34" charset="-120"/>
              </a:rPr>
              <a:t>ACTIVITY · CORE · ABOUT 12 MINUTES</a:t>
            </a:r>
            <a:endParaRPr lang="en-US" sz="1100" dirty="0"/>
          </a:p>
        </p:txBody>
      </p:sp>
      <p:sp>
        <p:nvSpPr>
          <p:cNvPr id="3" name="Shape 1"/>
          <p:cNvSpPr/>
          <p:nvPr/>
        </p:nvSpPr>
        <p:spPr>
          <a:xfrm>
            <a:off x="457200" y="758952"/>
            <a:ext cx="8229600" cy="0"/>
          </a:xfrm>
          <a:prstGeom prst="line">
            <a:avLst/>
          </a:prstGeom>
          <a:noFill/>
          <a:ln w="12700">
            <a:solidFill>
              <a:srgbClr val="D8DEE6"/>
            </a:solidFill>
            <a:prstDash val="solid"/>
          </a:ln>
        </p:spPr>
      </p:sp>
      <p:sp>
        <p:nvSpPr>
          <p:cNvPr id="4" name="Text 2"/>
          <p:cNvSpPr/>
          <p:nvPr/>
        </p:nvSpPr>
        <p:spPr>
          <a:xfrm>
            <a:off x="457200" y="658368"/>
            <a:ext cx="8229600" cy="640080"/>
          </a:xfrm>
          <a:prstGeom prst="rect">
            <a:avLst/>
          </a:prstGeom>
          <a:noFill/>
          <a:ln/>
        </p:spPr>
        <p:txBody>
          <a:bodyPr wrap="square" rtlCol="0" anchor="ctr"/>
          <a:lstStyle/>
          <a:p>
            <a:pPr indent="0" marL="0">
              <a:lnSpc>
                <a:spcPts val="2700"/>
              </a:lnSpc>
              <a:buNone/>
            </a:pPr>
            <a:r>
              <a:rPr lang="en-US" sz="2500" b="1" dirty="0">
                <a:solidFill>
                  <a:srgbClr val="102A54"/>
                </a:solidFill>
                <a:latin typeface="Georgia" pitchFamily="34" charset="0"/>
                <a:ea typeface="Georgia" pitchFamily="34" charset="-122"/>
                <a:cs typeface="Georgia" pitchFamily="34" charset="-120"/>
              </a:rPr>
              <a:t>Run a fact pattern through TCDLAi</a:t>
            </a:r>
            <a:endParaRPr lang="en-US" sz="2500" dirty="0"/>
          </a:p>
        </p:txBody>
      </p:sp>
      <p:sp>
        <p:nvSpPr>
          <p:cNvPr id="5" name="Shape 3"/>
          <p:cNvSpPr/>
          <p:nvPr/>
        </p:nvSpPr>
        <p:spPr>
          <a:xfrm>
            <a:off x="457200" y="1463040"/>
            <a:ext cx="8229600" cy="868680"/>
          </a:xfrm>
          <a:prstGeom prst="roundRect">
            <a:avLst>
              <a:gd name="adj" fmla="val 5263"/>
            </a:avLst>
          </a:prstGeom>
          <a:solidFill>
            <a:srgbClr val="C8D2DC"/>
          </a:solidFill>
          <a:ln/>
        </p:spPr>
      </p:sp>
      <p:sp>
        <p:nvSpPr>
          <p:cNvPr id="6" name="Shape 4"/>
          <p:cNvSpPr/>
          <p:nvPr/>
        </p:nvSpPr>
        <p:spPr>
          <a:xfrm>
            <a:off x="457200" y="1463040"/>
            <a:ext cx="64008" cy="868680"/>
          </a:xfrm>
          <a:prstGeom prst="rect">
            <a:avLst/>
          </a:prstGeom>
          <a:solidFill>
            <a:srgbClr val="102A54"/>
          </a:solidFill>
          <a:ln/>
        </p:spPr>
      </p:sp>
      <p:sp>
        <p:nvSpPr>
          <p:cNvPr id="7" name="Text 5"/>
          <p:cNvSpPr/>
          <p:nvPr/>
        </p:nvSpPr>
        <p:spPr>
          <a:xfrm>
            <a:off x="685800" y="1572768"/>
            <a:ext cx="7772400" cy="219456"/>
          </a:xfrm>
          <a:prstGeom prst="rect">
            <a:avLst/>
          </a:prstGeom>
          <a:noFill/>
          <a:ln/>
        </p:spPr>
        <p:txBody>
          <a:bodyPr wrap="square" rtlCol="0" anchor="ctr"/>
          <a:lstStyle/>
          <a:p>
            <a:pPr indent="0" marL="0">
              <a:buNone/>
            </a:pPr>
            <a:r>
              <a:rPr lang="en-US" sz="1000" b="1" spc="200" kern="0" dirty="0">
                <a:solidFill>
                  <a:srgbClr val="2F5F8F"/>
                </a:solidFill>
                <a:latin typeface="Calibri" pitchFamily="34" charset="0"/>
                <a:ea typeface="Calibri" pitchFamily="34" charset="-122"/>
                <a:cs typeface="Calibri" pitchFamily="34" charset="-120"/>
              </a:rPr>
              <a:t>ON THE RESOURCES PAGE · PBL SCENARIO LAB</a:t>
            </a:r>
            <a:endParaRPr lang="en-US" sz="1000" dirty="0"/>
          </a:p>
        </p:txBody>
      </p:sp>
      <p:sp>
        <p:nvSpPr>
          <p:cNvPr id="8" name="Text 6"/>
          <p:cNvSpPr/>
          <p:nvPr/>
        </p:nvSpPr>
        <p:spPr>
          <a:xfrm>
            <a:off x="685800" y="1792224"/>
            <a:ext cx="7772400" cy="448056"/>
          </a:xfrm>
          <a:prstGeom prst="rect">
            <a:avLst/>
          </a:prstGeom>
          <a:noFill/>
          <a:ln/>
        </p:spPr>
        <p:txBody>
          <a:bodyPr wrap="square" rtlCol="0" anchor="t"/>
          <a:lstStyle/>
          <a:p>
            <a:pPr indent="0" marL="0">
              <a:lnSpc>
                <a:spcPts val="1900"/>
              </a:lnSpc>
              <a:buNone/>
            </a:pPr>
            <a:r>
              <a:rPr lang="en-US" sz="1500" dirty="0">
                <a:solidFill>
                  <a:srgbClr val="0B1D33"/>
                </a:solidFill>
                <a:latin typeface="Georgia" pitchFamily="34" charset="0"/>
                <a:ea typeface="Georgia" pitchFamily="34" charset="-122"/>
                <a:cs typeface="Georgia" pitchFamily="34" charset="-120"/>
              </a:rPr>
              <a:t>Choose one of three fictional fact patterns, a DWI stop, a drug-possession search, or a disputed assault. Work it from the good prompt to the best. Copy the ready-made prompts, run them, and inspect what comes back.</a:t>
            </a:r>
            <a:endParaRPr lang="en-US" sz="1500" dirty="0"/>
          </a:p>
        </p:txBody>
      </p:sp>
      <p:sp>
        <p:nvSpPr>
          <p:cNvPr id="9" name="Shape 7"/>
          <p:cNvSpPr/>
          <p:nvPr/>
        </p:nvSpPr>
        <p:spPr>
          <a:xfrm>
            <a:off x="457200" y="2478024"/>
            <a:ext cx="2609088" cy="1417320"/>
          </a:xfrm>
          <a:prstGeom prst="roundRect">
            <a:avLst>
              <a:gd name="adj" fmla="val 3226"/>
            </a:avLst>
          </a:prstGeom>
          <a:solidFill>
            <a:srgbClr val="F7F9FC"/>
          </a:solidFill>
          <a:ln w="12700">
            <a:solidFill>
              <a:srgbClr val="D8DEE6"/>
            </a:solidFill>
            <a:prstDash val="solid"/>
          </a:ln>
          <a:effectLst>
            <a:outerShdw sx="100000" sy="100000" kx="0" ky="0" algn="bl" rotWithShape="0" blurRad="88900" dist="25400" dir="8100000">
              <a:srgbClr val="000000">
                <a:alpha val="12000"/>
              </a:srgbClr>
            </a:outerShdw>
          </a:effectLst>
        </p:spPr>
      </p:sp>
      <p:sp>
        <p:nvSpPr>
          <p:cNvPr id="10" name="Shape 8"/>
          <p:cNvSpPr/>
          <p:nvPr/>
        </p:nvSpPr>
        <p:spPr>
          <a:xfrm>
            <a:off x="457200" y="2478024"/>
            <a:ext cx="54864" cy="1417320"/>
          </a:xfrm>
          <a:prstGeom prst="rect">
            <a:avLst/>
          </a:prstGeom>
          <a:solidFill>
            <a:srgbClr val="102A54"/>
          </a:solidFill>
          <a:ln/>
        </p:spPr>
      </p:sp>
      <p:sp>
        <p:nvSpPr>
          <p:cNvPr id="11" name="Text 9"/>
          <p:cNvSpPr/>
          <p:nvPr/>
        </p:nvSpPr>
        <p:spPr>
          <a:xfrm>
            <a:off x="621792" y="2587752"/>
            <a:ext cx="2334768" cy="365760"/>
          </a:xfrm>
          <a:prstGeom prst="rect">
            <a:avLst/>
          </a:prstGeom>
          <a:noFill/>
          <a:ln/>
        </p:spPr>
        <p:txBody>
          <a:bodyPr wrap="square" rtlCol="0" anchor="t"/>
          <a:lstStyle/>
          <a:p>
            <a:pPr indent="0" marL="0">
              <a:buNone/>
            </a:pPr>
            <a:r>
              <a:rPr lang="en-US" sz="1350" b="1" dirty="0">
                <a:solidFill>
                  <a:srgbClr val="102A54"/>
                </a:solidFill>
                <a:latin typeface="Georgia" pitchFamily="34" charset="0"/>
                <a:ea typeface="Georgia" pitchFamily="34" charset="-122"/>
                <a:cs typeface="Georgia" pitchFamily="34" charset="-120"/>
              </a:rPr>
              <a:t>1  Target and Compile</a:t>
            </a:r>
            <a:endParaRPr lang="en-US" sz="1350" dirty="0"/>
          </a:p>
        </p:txBody>
      </p:sp>
      <p:sp>
        <p:nvSpPr>
          <p:cNvPr id="12" name="Text 10"/>
          <p:cNvSpPr/>
          <p:nvPr/>
        </p:nvSpPr>
        <p:spPr>
          <a:xfrm>
            <a:off x="621792" y="2980944"/>
            <a:ext cx="2298192" cy="850392"/>
          </a:xfrm>
          <a:prstGeom prst="rect">
            <a:avLst/>
          </a:prstGeom>
          <a:noFill/>
          <a:ln/>
        </p:spPr>
        <p:txBody>
          <a:bodyPr wrap="square" rtlCol="0" anchor="t"/>
          <a:lstStyle/>
          <a:p>
            <a:pPr indent="0" marL="0">
              <a:lnSpc>
                <a:spcPts val="1400"/>
              </a:lnSpc>
              <a:buNone/>
            </a:pPr>
            <a:r>
              <a:rPr lang="en-US" sz="1100" dirty="0">
                <a:solidFill>
                  <a:srgbClr val="4F6072"/>
                </a:solidFill>
                <a:latin typeface="Calibri" pitchFamily="34" charset="0"/>
                <a:ea typeface="Calibri" pitchFamily="34" charset="-122"/>
                <a:cs typeface="Calibri" pitchFamily="34" charset="-120"/>
              </a:rPr>
              <a:t>Name the issue and paste the fictional facts. No real client details.</a:t>
            </a:r>
            <a:endParaRPr lang="en-US" sz="1100" dirty="0"/>
          </a:p>
        </p:txBody>
      </p:sp>
      <p:sp>
        <p:nvSpPr>
          <p:cNvPr id="13" name="Shape 11"/>
          <p:cNvSpPr/>
          <p:nvPr/>
        </p:nvSpPr>
        <p:spPr>
          <a:xfrm>
            <a:off x="3267456" y="2478024"/>
            <a:ext cx="2609088" cy="1417320"/>
          </a:xfrm>
          <a:prstGeom prst="roundRect">
            <a:avLst>
              <a:gd name="adj" fmla="val 3226"/>
            </a:avLst>
          </a:prstGeom>
          <a:solidFill>
            <a:srgbClr val="F7F9FC"/>
          </a:solidFill>
          <a:ln w="12700">
            <a:solidFill>
              <a:srgbClr val="D8DEE6"/>
            </a:solidFill>
            <a:prstDash val="solid"/>
          </a:ln>
          <a:effectLst>
            <a:outerShdw sx="100000" sy="100000" kx="0" ky="0" algn="bl" rotWithShape="0" blurRad="88900" dist="25400" dir="8100000">
              <a:srgbClr val="000000">
                <a:alpha val="12000"/>
              </a:srgbClr>
            </a:outerShdw>
          </a:effectLst>
        </p:spPr>
      </p:sp>
      <p:sp>
        <p:nvSpPr>
          <p:cNvPr id="14" name="Shape 12"/>
          <p:cNvSpPr/>
          <p:nvPr/>
        </p:nvSpPr>
        <p:spPr>
          <a:xfrm>
            <a:off x="3267456" y="2478024"/>
            <a:ext cx="54864" cy="1417320"/>
          </a:xfrm>
          <a:prstGeom prst="rect">
            <a:avLst/>
          </a:prstGeom>
          <a:solidFill>
            <a:srgbClr val="6F8FAF"/>
          </a:solidFill>
          <a:ln/>
        </p:spPr>
      </p:sp>
      <p:sp>
        <p:nvSpPr>
          <p:cNvPr id="15" name="Text 13"/>
          <p:cNvSpPr/>
          <p:nvPr/>
        </p:nvSpPr>
        <p:spPr>
          <a:xfrm>
            <a:off x="3432048" y="2587752"/>
            <a:ext cx="2334768" cy="365760"/>
          </a:xfrm>
          <a:prstGeom prst="rect">
            <a:avLst/>
          </a:prstGeom>
          <a:noFill/>
          <a:ln/>
        </p:spPr>
        <p:txBody>
          <a:bodyPr wrap="square" rtlCol="0" anchor="t"/>
          <a:lstStyle/>
          <a:p>
            <a:pPr indent="0" marL="0">
              <a:buNone/>
            </a:pPr>
            <a:r>
              <a:rPr lang="en-US" sz="1350" b="1" dirty="0">
                <a:solidFill>
                  <a:srgbClr val="102A54"/>
                </a:solidFill>
                <a:latin typeface="Georgia" pitchFamily="34" charset="0"/>
                <a:ea typeface="Georgia" pitchFamily="34" charset="-122"/>
                <a:cs typeface="Georgia" pitchFamily="34" charset="-120"/>
              </a:rPr>
              <a:t>2  Define and List</a:t>
            </a:r>
            <a:endParaRPr lang="en-US" sz="1350" dirty="0"/>
          </a:p>
        </p:txBody>
      </p:sp>
      <p:sp>
        <p:nvSpPr>
          <p:cNvPr id="16" name="Text 14"/>
          <p:cNvSpPr/>
          <p:nvPr/>
        </p:nvSpPr>
        <p:spPr>
          <a:xfrm>
            <a:off x="3432048" y="2980944"/>
            <a:ext cx="2298192" cy="850392"/>
          </a:xfrm>
          <a:prstGeom prst="rect">
            <a:avLst/>
          </a:prstGeom>
          <a:noFill/>
          <a:ln/>
        </p:spPr>
        <p:txBody>
          <a:bodyPr wrap="square" rtlCol="0" anchor="t"/>
          <a:lstStyle/>
          <a:p>
            <a:pPr indent="0" marL="0">
              <a:lnSpc>
                <a:spcPts val="1400"/>
              </a:lnSpc>
              <a:buNone/>
            </a:pPr>
            <a:r>
              <a:rPr lang="en-US" sz="1100" dirty="0">
                <a:solidFill>
                  <a:srgbClr val="4F6072"/>
                </a:solidFill>
                <a:latin typeface="Calibri" pitchFamily="34" charset="0"/>
                <a:ea typeface="Calibri" pitchFamily="34" charset="-122"/>
                <a:cs typeface="Calibri" pitchFamily="34" charset="-120"/>
              </a:rPr>
              <a:t>Paste the provided statute excerpt. Ask for grounded strategies.</a:t>
            </a:r>
            <a:endParaRPr lang="en-US" sz="1100" dirty="0"/>
          </a:p>
        </p:txBody>
      </p:sp>
      <p:sp>
        <p:nvSpPr>
          <p:cNvPr id="17" name="Shape 15"/>
          <p:cNvSpPr/>
          <p:nvPr/>
        </p:nvSpPr>
        <p:spPr>
          <a:xfrm>
            <a:off x="6077712" y="2478024"/>
            <a:ext cx="2609088" cy="1417320"/>
          </a:xfrm>
          <a:prstGeom prst="roundRect">
            <a:avLst>
              <a:gd name="adj" fmla="val 3226"/>
            </a:avLst>
          </a:prstGeom>
          <a:solidFill>
            <a:srgbClr val="F7F9FC"/>
          </a:solidFill>
          <a:ln w="12700">
            <a:solidFill>
              <a:srgbClr val="D8DEE6"/>
            </a:solidFill>
            <a:prstDash val="solid"/>
          </a:ln>
          <a:effectLst>
            <a:outerShdw sx="100000" sy="100000" kx="0" ky="0" algn="bl" rotWithShape="0" blurRad="88900" dist="25400" dir="8100000">
              <a:srgbClr val="000000">
                <a:alpha val="12000"/>
              </a:srgbClr>
            </a:outerShdw>
          </a:effectLst>
        </p:spPr>
      </p:sp>
      <p:sp>
        <p:nvSpPr>
          <p:cNvPr id="18" name="Shape 16"/>
          <p:cNvSpPr/>
          <p:nvPr/>
        </p:nvSpPr>
        <p:spPr>
          <a:xfrm>
            <a:off x="6077712" y="2478024"/>
            <a:ext cx="54864" cy="1417320"/>
          </a:xfrm>
          <a:prstGeom prst="rect">
            <a:avLst/>
          </a:prstGeom>
          <a:solidFill>
            <a:srgbClr val="102A54"/>
          </a:solidFill>
          <a:ln/>
        </p:spPr>
      </p:sp>
      <p:sp>
        <p:nvSpPr>
          <p:cNvPr id="19" name="Text 17"/>
          <p:cNvSpPr/>
          <p:nvPr/>
        </p:nvSpPr>
        <p:spPr>
          <a:xfrm>
            <a:off x="6242304" y="2587752"/>
            <a:ext cx="2334768" cy="365760"/>
          </a:xfrm>
          <a:prstGeom prst="rect">
            <a:avLst/>
          </a:prstGeom>
          <a:noFill/>
          <a:ln/>
        </p:spPr>
        <p:txBody>
          <a:bodyPr wrap="square" rtlCol="0" anchor="t"/>
          <a:lstStyle/>
          <a:p>
            <a:pPr indent="0" marL="0">
              <a:buNone/>
            </a:pPr>
            <a:r>
              <a:rPr lang="en-US" sz="1350" b="1" dirty="0">
                <a:solidFill>
                  <a:srgbClr val="102A54"/>
                </a:solidFill>
                <a:latin typeface="Georgia" pitchFamily="34" charset="0"/>
                <a:ea typeface="Georgia" pitchFamily="34" charset="-122"/>
                <a:cs typeface="Georgia" pitchFamily="34" charset="-120"/>
              </a:rPr>
              <a:t>3  Analyze and inspect</a:t>
            </a:r>
            <a:endParaRPr lang="en-US" sz="1350" dirty="0"/>
          </a:p>
        </p:txBody>
      </p:sp>
      <p:sp>
        <p:nvSpPr>
          <p:cNvPr id="20" name="Text 18"/>
          <p:cNvSpPr/>
          <p:nvPr/>
        </p:nvSpPr>
        <p:spPr>
          <a:xfrm>
            <a:off x="6242304" y="2980944"/>
            <a:ext cx="2298192" cy="850392"/>
          </a:xfrm>
          <a:prstGeom prst="rect">
            <a:avLst/>
          </a:prstGeom>
          <a:noFill/>
          <a:ln/>
        </p:spPr>
        <p:txBody>
          <a:bodyPr wrap="square" rtlCol="0" anchor="t"/>
          <a:lstStyle/>
          <a:p>
            <a:pPr indent="0" marL="0">
              <a:lnSpc>
                <a:spcPts val="1400"/>
              </a:lnSpc>
              <a:buNone/>
            </a:pPr>
            <a:r>
              <a:rPr lang="en-US" sz="1100" dirty="0">
                <a:solidFill>
                  <a:srgbClr val="4F6072"/>
                </a:solidFill>
                <a:latin typeface="Calibri" pitchFamily="34" charset="0"/>
                <a:ea typeface="Calibri" pitchFamily="34" charset="-122"/>
                <a:cs typeface="Calibri" pitchFamily="34" charset="-120"/>
              </a:rPr>
              <a:t>Stress-test one strategy, then run the inspect prompt to check it.</a:t>
            </a:r>
            <a:endParaRPr lang="en-US" sz="1100" dirty="0"/>
          </a:p>
        </p:txBody>
      </p:sp>
      <p:sp>
        <p:nvSpPr>
          <p:cNvPr id="21" name="Shape 19"/>
          <p:cNvSpPr/>
          <p:nvPr/>
        </p:nvSpPr>
        <p:spPr>
          <a:xfrm>
            <a:off x="0" y="4686300"/>
            <a:ext cx="9144000" cy="457200"/>
          </a:xfrm>
          <a:prstGeom prst="rect">
            <a:avLst/>
          </a:prstGeom>
          <a:solidFill>
            <a:srgbClr val="102A54"/>
          </a:solidFill>
          <a:ln/>
        </p:spPr>
      </p:sp>
      <p:sp>
        <p:nvSpPr>
          <p:cNvPr id="22" name="Shape 20"/>
          <p:cNvSpPr/>
          <p:nvPr/>
        </p:nvSpPr>
        <p:spPr>
          <a:xfrm>
            <a:off x="0" y="4654296"/>
            <a:ext cx="9144000" cy="32004"/>
          </a:xfrm>
          <a:prstGeom prst="rect">
            <a:avLst/>
          </a:prstGeom>
          <a:solidFill>
            <a:srgbClr val="6F8FAF"/>
          </a:solidFill>
          <a:ln/>
        </p:spPr>
      </p:sp>
      <p:sp>
        <p:nvSpPr>
          <p:cNvPr id="23" name="Text 21"/>
          <p:cNvSpPr/>
          <p:nvPr/>
        </p:nvSpPr>
        <p:spPr>
          <a:xfrm>
            <a:off x="457200" y="4686300"/>
            <a:ext cx="2194560" cy="457200"/>
          </a:xfrm>
          <a:prstGeom prst="rect">
            <a:avLst/>
          </a:prstGeom>
          <a:noFill/>
          <a:ln/>
        </p:spPr>
        <p:txBody>
          <a:bodyPr wrap="square" rtlCol="0" anchor="ctr"/>
          <a:lstStyle/>
          <a:p>
            <a:pPr algn="l" indent="0" marL="0">
              <a:buNone/>
            </a:pPr>
            <a:r>
              <a:rPr lang="en-US" sz="900" b="1" spc="200" kern="0" dirty="0">
                <a:solidFill>
                  <a:srgbClr val="6F8FAF"/>
                </a:solidFill>
                <a:latin typeface="Calibri" pitchFamily="34" charset="0"/>
                <a:ea typeface="Calibri" pitchFamily="34" charset="-122"/>
                <a:cs typeface="Calibri" pitchFamily="34" charset="-120"/>
              </a:rPr>
              <a:t>✦ </a:t>
            </a:r>
            <a:pPr algn="l" indent="0" marL="0">
              <a:buNone/>
            </a:pPr>
            <a:r>
              <a:rPr lang="en-US" sz="900" b="1" spc="200" kern="0" dirty="0">
                <a:solidFill>
                  <a:srgbClr val="6F8FAF"/>
                </a:solidFill>
                <a:latin typeface="Calibri" pitchFamily="34" charset="0"/>
                <a:ea typeface="Calibri" pitchFamily="34" charset="-122"/>
                <a:cs typeface="Calibri" pitchFamily="34" charset="-120"/>
              </a:rPr>
              <a:t>TCDLAi</a:t>
            </a:r>
            <a:endParaRPr lang="en-US" sz="900" dirty="0"/>
          </a:p>
        </p:txBody>
      </p:sp>
      <p:sp>
        <p:nvSpPr>
          <p:cNvPr id="24" name="Text 22"/>
          <p:cNvSpPr/>
          <p:nvPr/>
        </p:nvSpPr>
        <p:spPr>
          <a:xfrm>
            <a:off x="2743200" y="4686300"/>
            <a:ext cx="3657600" cy="457200"/>
          </a:xfrm>
          <a:prstGeom prst="rect">
            <a:avLst/>
          </a:prstGeom>
          <a:noFill/>
          <a:ln/>
        </p:spPr>
        <p:txBody>
          <a:bodyPr wrap="square" rtlCol="0" anchor="ctr"/>
          <a:lstStyle/>
          <a:p>
            <a:pPr algn="ctr" indent="0" marL="0">
              <a:buNone/>
            </a:pPr>
            <a:r>
              <a:rPr lang="en-US" sz="900" i="1" dirty="0">
                <a:solidFill>
                  <a:srgbClr val="C6D4EC"/>
                </a:solidFill>
                <a:latin typeface="Calibri" pitchFamily="34" charset="0"/>
                <a:ea typeface="Calibri" pitchFamily="34" charset="-122"/>
                <a:cs typeface="Calibri" pitchFamily="34" charset="-120"/>
              </a:rPr>
              <a:t>Facilitator: Miguel Guhlin</a:t>
            </a:r>
            <a:endParaRPr lang="en-US" sz="900" dirty="0"/>
          </a:p>
        </p:txBody>
      </p:sp>
      <p:sp>
        <p:nvSpPr>
          <p:cNvPr id="25" name="Text 23"/>
          <p:cNvSpPr/>
          <p:nvPr/>
        </p:nvSpPr>
        <p:spPr>
          <a:xfrm>
            <a:off x="6035040" y="4686300"/>
            <a:ext cx="2651760" cy="457200"/>
          </a:xfrm>
          <a:prstGeom prst="rect">
            <a:avLst/>
          </a:prstGeom>
          <a:noFill/>
          <a:ln/>
        </p:spPr>
        <p:txBody>
          <a:bodyPr wrap="square" rtlCol="0" anchor="ctr"/>
          <a:lstStyle/>
          <a:p>
            <a:pPr algn="r" indent="0" marL="0">
              <a:buNone/>
            </a:pPr>
            <a:r>
              <a:rPr lang="en-US" sz="900" b="1" dirty="0">
                <a:solidFill>
                  <a:srgbClr val="C8D2DC"/>
                </a:solidFill>
                <a:latin typeface="Calibri" pitchFamily="34" charset="0"/>
                <a:ea typeface="Calibri" pitchFamily="34" charset="-122"/>
                <a:cs typeface="Calibri" pitchFamily="34" charset="-120"/>
              </a:rPr>
              <a:t>mglearn.github.io/legalai</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8229600" cy="256032"/>
          </a:xfrm>
          <a:prstGeom prst="rect">
            <a:avLst/>
          </a:prstGeom>
          <a:noFill/>
          <a:ln/>
        </p:spPr>
        <p:txBody>
          <a:bodyPr wrap="square" rtlCol="0" anchor="ctr"/>
          <a:lstStyle/>
          <a:p>
            <a:pPr indent="0" marL="0">
              <a:buNone/>
            </a:pPr>
            <a:r>
              <a:rPr lang="en-US" sz="1100" b="1" spc="200" kern="0" dirty="0">
                <a:solidFill>
                  <a:srgbClr val="2F5F8F"/>
                </a:solidFill>
                <a:latin typeface="Calibri" pitchFamily="34" charset="0"/>
                <a:ea typeface="Calibri" pitchFamily="34" charset="-122"/>
                <a:cs typeface="Calibri" pitchFamily="34" charset="-120"/>
              </a:rPr>
              <a:t>ACTIVITY · OPTIONAL · ADD FOR NINETY MINUTES</a:t>
            </a:r>
            <a:endParaRPr lang="en-US" sz="1100" dirty="0"/>
          </a:p>
        </p:txBody>
      </p:sp>
      <p:sp>
        <p:nvSpPr>
          <p:cNvPr id="3" name="Shape 1"/>
          <p:cNvSpPr/>
          <p:nvPr/>
        </p:nvSpPr>
        <p:spPr>
          <a:xfrm>
            <a:off x="457200" y="758952"/>
            <a:ext cx="8229600" cy="0"/>
          </a:xfrm>
          <a:prstGeom prst="line">
            <a:avLst/>
          </a:prstGeom>
          <a:noFill/>
          <a:ln w="12700">
            <a:solidFill>
              <a:srgbClr val="D8DEE6"/>
            </a:solidFill>
            <a:prstDash val="solid"/>
          </a:ln>
        </p:spPr>
      </p:sp>
      <p:sp>
        <p:nvSpPr>
          <p:cNvPr id="4" name="Text 2"/>
          <p:cNvSpPr/>
          <p:nvPr/>
        </p:nvSpPr>
        <p:spPr>
          <a:xfrm>
            <a:off x="457200" y="658368"/>
            <a:ext cx="8229600" cy="640080"/>
          </a:xfrm>
          <a:prstGeom prst="rect">
            <a:avLst/>
          </a:prstGeom>
          <a:noFill/>
          <a:ln/>
        </p:spPr>
        <p:txBody>
          <a:bodyPr wrap="square" rtlCol="0" anchor="ctr"/>
          <a:lstStyle/>
          <a:p>
            <a:pPr indent="0" marL="0">
              <a:lnSpc>
                <a:spcPts val="2700"/>
              </a:lnSpc>
              <a:buNone/>
            </a:pPr>
            <a:r>
              <a:rPr lang="en-US" sz="2500" b="1" dirty="0">
                <a:solidFill>
                  <a:srgbClr val="102A54"/>
                </a:solidFill>
                <a:latin typeface="Georgia" pitchFamily="34" charset="0"/>
                <a:ea typeface="Georgia" pitchFamily="34" charset="-122"/>
                <a:cs typeface="Georgia" pitchFamily="34" charset="-120"/>
              </a:rPr>
              <a:t>Break a grounded answer on purpose</a:t>
            </a:r>
            <a:endParaRPr lang="en-US" sz="2500" dirty="0"/>
          </a:p>
        </p:txBody>
      </p:sp>
      <p:sp>
        <p:nvSpPr>
          <p:cNvPr id="5" name="Text 3"/>
          <p:cNvSpPr/>
          <p:nvPr/>
        </p:nvSpPr>
        <p:spPr>
          <a:xfrm>
            <a:off x="457200" y="1463040"/>
            <a:ext cx="8229600" cy="640080"/>
          </a:xfrm>
          <a:prstGeom prst="rect">
            <a:avLst/>
          </a:prstGeom>
          <a:noFill/>
          <a:ln/>
        </p:spPr>
        <p:txBody>
          <a:bodyPr wrap="square" rtlCol="0" anchor="ctr"/>
          <a:lstStyle/>
          <a:p>
            <a:pPr indent="0" marL="0">
              <a:lnSpc>
                <a:spcPts val="2100"/>
              </a:lnSpc>
              <a:buNone/>
            </a:pPr>
            <a:r>
              <a:rPr lang="en-US" sz="1500" dirty="0">
                <a:solidFill>
                  <a:srgbClr val="4F6072"/>
                </a:solidFill>
                <a:latin typeface="Calibri" pitchFamily="34" charset="0"/>
                <a:ea typeface="Calibri" pitchFamily="34" charset="-122"/>
                <a:cs typeface="Calibri" pitchFamily="34" charset="-120"/>
              </a:rPr>
              <a:t>Take your best grounded answer and try to make it fail. Ask a question the pasted statute does not cover, and watch whether the model admits the gap or invents a bridge. Then tighten your prompt until it stops guessing.</a:t>
            </a:r>
            <a:endParaRPr lang="en-US" sz="1500" dirty="0"/>
          </a:p>
        </p:txBody>
      </p:sp>
      <p:sp>
        <p:nvSpPr>
          <p:cNvPr id="6" name="Shape 4"/>
          <p:cNvSpPr/>
          <p:nvPr/>
        </p:nvSpPr>
        <p:spPr>
          <a:xfrm>
            <a:off x="457200" y="2121408"/>
            <a:ext cx="3977640" cy="1828800"/>
          </a:xfrm>
          <a:prstGeom prst="roundRect">
            <a:avLst>
              <a:gd name="adj" fmla="val 2500"/>
            </a:avLst>
          </a:prstGeom>
          <a:solidFill>
            <a:srgbClr val="E4EDF7"/>
          </a:solidFill>
          <a:ln w="15240">
            <a:solidFill>
              <a:srgbClr val="93AFCE"/>
            </a:solidFill>
            <a:prstDash val="solid"/>
          </a:ln>
        </p:spPr>
      </p:sp>
      <p:sp>
        <p:nvSpPr>
          <p:cNvPr id="7" name="Text 5"/>
          <p:cNvSpPr/>
          <p:nvPr/>
        </p:nvSpPr>
        <p:spPr>
          <a:xfrm>
            <a:off x="640080" y="2249424"/>
            <a:ext cx="3611880" cy="320040"/>
          </a:xfrm>
          <a:prstGeom prst="rect">
            <a:avLst/>
          </a:prstGeom>
          <a:noFill/>
          <a:ln/>
        </p:spPr>
        <p:txBody>
          <a:bodyPr wrap="square" rtlCol="0" anchor="ctr"/>
          <a:lstStyle/>
          <a:p>
            <a:pPr indent="0" marL="0">
              <a:buNone/>
            </a:pPr>
            <a:r>
              <a:rPr lang="en-US" sz="1400" b="1" dirty="0">
                <a:solidFill>
                  <a:srgbClr val="2F5F8F"/>
                </a:solidFill>
                <a:latin typeface="Georgia" pitchFamily="34" charset="0"/>
                <a:ea typeface="Georgia" pitchFamily="34" charset="-122"/>
                <a:cs typeface="Georgia" pitchFamily="34" charset="-120"/>
              </a:rPr>
              <a:t>You will see</a:t>
            </a:r>
            <a:endParaRPr lang="en-US" sz="1400" dirty="0"/>
          </a:p>
        </p:txBody>
      </p:sp>
      <p:sp>
        <p:nvSpPr>
          <p:cNvPr id="8" name="Text 6"/>
          <p:cNvSpPr/>
          <p:nvPr/>
        </p:nvSpPr>
        <p:spPr>
          <a:xfrm>
            <a:off x="713232" y="2670048"/>
            <a:ext cx="3520440" cy="1170432"/>
          </a:xfrm>
          <a:prstGeom prst="rect">
            <a:avLst/>
          </a:prstGeom>
          <a:noFill/>
          <a:ln/>
        </p:spPr>
        <p:txBody>
          <a:bodyPr wrap="square" rtlCol="0" anchor="t"/>
          <a:lstStyle/>
          <a:p>
            <a:pPr marL="342900" indent="-342900">
              <a:lnSpc>
                <a:spcPts val="1500"/>
              </a:lnSpc>
              <a:spcAft>
                <a:spcPts val="500"/>
              </a:spcAft>
              <a:buSzPct val="100000"/>
              <a:buChar char="✓"/>
            </a:pPr>
            <a:r>
              <a:rPr lang="en-US" sz="1200" dirty="0">
                <a:solidFill>
                  <a:srgbClr val="2A4A6E"/>
                </a:solidFill>
                <a:latin typeface="Calibri" pitchFamily="34" charset="0"/>
                <a:ea typeface="Calibri" pitchFamily="34" charset="-122"/>
                <a:cs typeface="Calibri" pitchFamily="34" charset="-120"/>
              </a:rPr>
              <a:t>Good prompts make the model say the source is silent</a:t>
            </a:r>
            <a:endParaRPr lang="en-US" sz="1200" dirty="0"/>
          </a:p>
          <a:p>
            <a:pPr marL="342900" indent="-342900">
              <a:lnSpc>
                <a:spcPts val="1500"/>
              </a:lnSpc>
              <a:spcAft>
                <a:spcPts val="500"/>
              </a:spcAft>
              <a:buSzPct val="100000"/>
              <a:buChar char="✓"/>
            </a:pPr>
            <a:r>
              <a:rPr lang="en-US" sz="1200" dirty="0">
                <a:solidFill>
                  <a:srgbClr val="2A4A6E"/>
                </a:solidFill>
                <a:latin typeface="Calibri" pitchFamily="34" charset="0"/>
                <a:ea typeface="Calibri" pitchFamily="34" charset="-122"/>
                <a:cs typeface="Calibri" pitchFamily="34" charset="-120"/>
              </a:rPr>
              <a:t>Naming a source limit stops most invented answers</a:t>
            </a:r>
            <a:endParaRPr lang="en-US" sz="1200" dirty="0"/>
          </a:p>
          <a:p>
            <a:pPr marL="342900" indent="-342900">
              <a:lnSpc>
                <a:spcPts val="1500"/>
              </a:lnSpc>
              <a:spcAft>
                <a:spcPts val="500"/>
              </a:spcAft>
              <a:buSzPct val="100000"/>
              <a:buChar char="✓"/>
            </a:pPr>
            <a:r>
              <a:rPr lang="en-US" sz="1200" dirty="0">
                <a:solidFill>
                  <a:srgbClr val="2A4A6E"/>
                </a:solidFill>
                <a:latin typeface="Calibri" pitchFamily="34" charset="0"/>
                <a:ea typeface="Calibri" pitchFamily="34" charset="-122"/>
                <a:cs typeface="Calibri" pitchFamily="34" charset="-120"/>
              </a:rPr>
              <a:t>The inspect prompt exposes the weak link fast</a:t>
            </a:r>
            <a:endParaRPr lang="en-US" sz="1200" dirty="0"/>
          </a:p>
        </p:txBody>
      </p:sp>
      <p:sp>
        <p:nvSpPr>
          <p:cNvPr id="9" name="Shape 7"/>
          <p:cNvSpPr/>
          <p:nvPr/>
        </p:nvSpPr>
        <p:spPr>
          <a:xfrm>
            <a:off x="4709160" y="2121408"/>
            <a:ext cx="3977640" cy="1828800"/>
          </a:xfrm>
          <a:prstGeom prst="roundRect">
            <a:avLst>
              <a:gd name="adj" fmla="val 2500"/>
            </a:avLst>
          </a:prstGeom>
          <a:solidFill>
            <a:srgbClr val="F1F3F6"/>
          </a:solidFill>
          <a:ln w="15240">
            <a:solidFill>
              <a:srgbClr val="CBD4DE"/>
            </a:solidFill>
            <a:prstDash val="solid"/>
          </a:ln>
        </p:spPr>
      </p:sp>
      <p:sp>
        <p:nvSpPr>
          <p:cNvPr id="10" name="Text 8"/>
          <p:cNvSpPr/>
          <p:nvPr/>
        </p:nvSpPr>
        <p:spPr>
          <a:xfrm>
            <a:off x="4892040" y="2249424"/>
            <a:ext cx="3611880" cy="320040"/>
          </a:xfrm>
          <a:prstGeom prst="rect">
            <a:avLst/>
          </a:prstGeom>
          <a:noFill/>
          <a:ln/>
        </p:spPr>
        <p:txBody>
          <a:bodyPr wrap="square" rtlCol="0" anchor="ctr"/>
          <a:lstStyle/>
          <a:p>
            <a:pPr indent="0" marL="0">
              <a:buNone/>
            </a:pPr>
            <a:r>
              <a:rPr lang="en-US" sz="1400" b="1" dirty="0">
                <a:solidFill>
                  <a:srgbClr val="102A54"/>
                </a:solidFill>
                <a:latin typeface="Georgia" pitchFamily="34" charset="0"/>
                <a:ea typeface="Georgia" pitchFamily="34" charset="-122"/>
                <a:cs typeface="Georgia" pitchFamily="34" charset="-120"/>
              </a:rPr>
              <a:t>You will avoid</a:t>
            </a:r>
            <a:endParaRPr lang="en-US" sz="1400" dirty="0"/>
          </a:p>
        </p:txBody>
      </p:sp>
      <p:sp>
        <p:nvSpPr>
          <p:cNvPr id="11" name="Text 9"/>
          <p:cNvSpPr/>
          <p:nvPr/>
        </p:nvSpPr>
        <p:spPr>
          <a:xfrm>
            <a:off x="4965192" y="2670048"/>
            <a:ext cx="3520440" cy="1170432"/>
          </a:xfrm>
          <a:prstGeom prst="rect">
            <a:avLst/>
          </a:prstGeom>
          <a:noFill/>
          <a:ln/>
        </p:spPr>
        <p:txBody>
          <a:bodyPr wrap="square" rtlCol="0" anchor="t"/>
          <a:lstStyle/>
          <a:p>
            <a:pPr marL="342900" indent="-342900">
              <a:lnSpc>
                <a:spcPts val="1500"/>
              </a:lnSpc>
              <a:spcAft>
                <a:spcPts val="500"/>
              </a:spcAft>
              <a:buSzPct val="100000"/>
              <a:buChar char="✗"/>
            </a:pPr>
            <a:r>
              <a:rPr lang="en-US" sz="1200" dirty="0">
                <a:solidFill>
                  <a:srgbClr val="1B2E48"/>
                </a:solidFill>
                <a:latin typeface="Calibri" pitchFamily="34" charset="0"/>
                <a:ea typeface="Calibri" pitchFamily="34" charset="-122"/>
                <a:cs typeface="Calibri" pitchFamily="34" charset="-120"/>
              </a:rPr>
              <a:t>Trusting fluent answers to out-of-scope questions</a:t>
            </a:r>
            <a:endParaRPr lang="en-US" sz="1200" dirty="0"/>
          </a:p>
          <a:p>
            <a:pPr marL="342900" indent="-342900">
              <a:lnSpc>
                <a:spcPts val="1500"/>
              </a:lnSpc>
              <a:spcAft>
                <a:spcPts val="500"/>
              </a:spcAft>
              <a:buSzPct val="100000"/>
              <a:buChar char="✗"/>
            </a:pPr>
            <a:r>
              <a:rPr lang="en-US" sz="1200" dirty="0">
                <a:solidFill>
                  <a:srgbClr val="1B2E48"/>
                </a:solidFill>
                <a:latin typeface="Calibri" pitchFamily="34" charset="0"/>
                <a:ea typeface="Calibri" pitchFamily="34" charset="-122"/>
                <a:cs typeface="Calibri" pitchFamily="34" charset="-120"/>
              </a:rPr>
              <a:t>Assuming grounding alone removes all risk</a:t>
            </a:r>
            <a:endParaRPr lang="en-US" sz="1200" dirty="0"/>
          </a:p>
          <a:p>
            <a:pPr marL="342900" indent="-342900">
              <a:lnSpc>
                <a:spcPts val="1500"/>
              </a:lnSpc>
              <a:spcAft>
                <a:spcPts val="500"/>
              </a:spcAft>
              <a:buSzPct val="100000"/>
              <a:buChar char="✗"/>
            </a:pPr>
            <a:r>
              <a:rPr lang="en-US" sz="1200" dirty="0">
                <a:solidFill>
                  <a:srgbClr val="1B2E48"/>
                </a:solidFill>
                <a:latin typeface="Calibri" pitchFamily="34" charset="0"/>
                <a:ea typeface="Calibri" pitchFamily="34" charset="-122"/>
                <a:cs typeface="Calibri" pitchFamily="34" charset="-120"/>
              </a:rPr>
              <a:t>Skipping the check because the format looked clean</a:t>
            </a:r>
            <a:endParaRPr lang="en-US" sz="1200" dirty="0"/>
          </a:p>
        </p:txBody>
      </p:sp>
      <p:sp>
        <p:nvSpPr>
          <p:cNvPr id="12" name="Shape 10"/>
          <p:cNvSpPr/>
          <p:nvPr/>
        </p:nvSpPr>
        <p:spPr>
          <a:xfrm>
            <a:off x="0" y="4686300"/>
            <a:ext cx="9144000" cy="457200"/>
          </a:xfrm>
          <a:prstGeom prst="rect">
            <a:avLst/>
          </a:prstGeom>
          <a:solidFill>
            <a:srgbClr val="102A54"/>
          </a:solidFill>
          <a:ln/>
        </p:spPr>
      </p:sp>
      <p:sp>
        <p:nvSpPr>
          <p:cNvPr id="13" name="Shape 11"/>
          <p:cNvSpPr/>
          <p:nvPr/>
        </p:nvSpPr>
        <p:spPr>
          <a:xfrm>
            <a:off x="0" y="4654296"/>
            <a:ext cx="9144000" cy="32004"/>
          </a:xfrm>
          <a:prstGeom prst="rect">
            <a:avLst/>
          </a:prstGeom>
          <a:solidFill>
            <a:srgbClr val="6F8FAF"/>
          </a:solidFill>
          <a:ln/>
        </p:spPr>
      </p:sp>
      <p:sp>
        <p:nvSpPr>
          <p:cNvPr id="14" name="Text 12"/>
          <p:cNvSpPr/>
          <p:nvPr/>
        </p:nvSpPr>
        <p:spPr>
          <a:xfrm>
            <a:off x="457200" y="4686300"/>
            <a:ext cx="2194560" cy="457200"/>
          </a:xfrm>
          <a:prstGeom prst="rect">
            <a:avLst/>
          </a:prstGeom>
          <a:noFill/>
          <a:ln/>
        </p:spPr>
        <p:txBody>
          <a:bodyPr wrap="square" rtlCol="0" anchor="ctr"/>
          <a:lstStyle/>
          <a:p>
            <a:pPr algn="l" indent="0" marL="0">
              <a:buNone/>
            </a:pPr>
            <a:r>
              <a:rPr lang="en-US" sz="900" b="1" spc="200" kern="0" dirty="0">
                <a:solidFill>
                  <a:srgbClr val="6F8FAF"/>
                </a:solidFill>
                <a:latin typeface="Calibri" pitchFamily="34" charset="0"/>
                <a:ea typeface="Calibri" pitchFamily="34" charset="-122"/>
                <a:cs typeface="Calibri" pitchFamily="34" charset="-120"/>
              </a:rPr>
              <a:t>✦ </a:t>
            </a:r>
            <a:pPr algn="l" indent="0" marL="0">
              <a:buNone/>
            </a:pPr>
            <a:r>
              <a:rPr lang="en-US" sz="900" b="1" spc="200" kern="0" dirty="0">
                <a:solidFill>
                  <a:srgbClr val="6F8FAF"/>
                </a:solidFill>
                <a:latin typeface="Calibri" pitchFamily="34" charset="0"/>
                <a:ea typeface="Calibri" pitchFamily="34" charset="-122"/>
                <a:cs typeface="Calibri" pitchFamily="34" charset="-120"/>
              </a:rPr>
              <a:t>TCDLAi</a:t>
            </a:r>
            <a:endParaRPr lang="en-US" sz="900" dirty="0"/>
          </a:p>
        </p:txBody>
      </p:sp>
      <p:sp>
        <p:nvSpPr>
          <p:cNvPr id="15" name="Text 13"/>
          <p:cNvSpPr/>
          <p:nvPr/>
        </p:nvSpPr>
        <p:spPr>
          <a:xfrm>
            <a:off x="2743200" y="4686300"/>
            <a:ext cx="3657600" cy="457200"/>
          </a:xfrm>
          <a:prstGeom prst="rect">
            <a:avLst/>
          </a:prstGeom>
          <a:noFill/>
          <a:ln/>
        </p:spPr>
        <p:txBody>
          <a:bodyPr wrap="square" rtlCol="0" anchor="ctr"/>
          <a:lstStyle/>
          <a:p>
            <a:pPr algn="ctr" indent="0" marL="0">
              <a:buNone/>
            </a:pPr>
            <a:r>
              <a:rPr lang="en-US" sz="900" i="1" dirty="0">
                <a:solidFill>
                  <a:srgbClr val="C6D4EC"/>
                </a:solidFill>
                <a:latin typeface="Calibri" pitchFamily="34" charset="0"/>
                <a:ea typeface="Calibri" pitchFamily="34" charset="-122"/>
                <a:cs typeface="Calibri" pitchFamily="34" charset="-120"/>
              </a:rPr>
              <a:t>Facilitator: Miguel Guhlin</a:t>
            </a:r>
            <a:endParaRPr lang="en-US" sz="900" dirty="0"/>
          </a:p>
        </p:txBody>
      </p:sp>
      <p:sp>
        <p:nvSpPr>
          <p:cNvPr id="16" name="Text 14"/>
          <p:cNvSpPr/>
          <p:nvPr/>
        </p:nvSpPr>
        <p:spPr>
          <a:xfrm>
            <a:off x="6035040" y="4686300"/>
            <a:ext cx="2651760" cy="457200"/>
          </a:xfrm>
          <a:prstGeom prst="rect">
            <a:avLst/>
          </a:prstGeom>
          <a:noFill/>
          <a:ln/>
        </p:spPr>
        <p:txBody>
          <a:bodyPr wrap="square" rtlCol="0" anchor="ctr"/>
          <a:lstStyle/>
          <a:p>
            <a:pPr algn="r" indent="0" marL="0">
              <a:buNone/>
            </a:pPr>
            <a:r>
              <a:rPr lang="en-US" sz="900" b="1" dirty="0">
                <a:solidFill>
                  <a:srgbClr val="C8D2DC"/>
                </a:solidFill>
                <a:latin typeface="Calibri" pitchFamily="34" charset="0"/>
                <a:ea typeface="Calibri" pitchFamily="34" charset="-122"/>
                <a:cs typeface="Calibri" pitchFamily="34" charset="-120"/>
              </a:rPr>
              <a:t>mglearn.github.io/legalai</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8229600" cy="256032"/>
          </a:xfrm>
          <a:prstGeom prst="rect">
            <a:avLst/>
          </a:prstGeom>
          <a:noFill/>
          <a:ln/>
        </p:spPr>
        <p:txBody>
          <a:bodyPr wrap="square" rtlCol="0" anchor="ctr"/>
          <a:lstStyle/>
          <a:p>
            <a:pPr indent="0" marL="0">
              <a:buNone/>
            </a:pPr>
            <a:r>
              <a:rPr lang="en-US" sz="1100" b="1" spc="200" kern="0" dirty="0">
                <a:solidFill>
                  <a:srgbClr val="2F5F8F"/>
                </a:solidFill>
                <a:latin typeface="Calibri" pitchFamily="34" charset="0"/>
                <a:ea typeface="Calibri" pitchFamily="34" charset="-122"/>
                <a:cs typeface="Calibri" pitchFamily="34" charset="-120"/>
              </a:rPr>
              <a:t>SEGMENT TWO RECAP</a:t>
            </a:r>
            <a:endParaRPr lang="en-US" sz="1100" dirty="0"/>
          </a:p>
        </p:txBody>
      </p:sp>
      <p:sp>
        <p:nvSpPr>
          <p:cNvPr id="3" name="Shape 1"/>
          <p:cNvSpPr/>
          <p:nvPr/>
        </p:nvSpPr>
        <p:spPr>
          <a:xfrm>
            <a:off x="457200" y="758952"/>
            <a:ext cx="8229600" cy="0"/>
          </a:xfrm>
          <a:prstGeom prst="line">
            <a:avLst/>
          </a:prstGeom>
          <a:noFill/>
          <a:ln w="12700">
            <a:solidFill>
              <a:srgbClr val="D8DEE6"/>
            </a:solidFill>
            <a:prstDash val="solid"/>
          </a:ln>
        </p:spPr>
      </p:sp>
      <p:sp>
        <p:nvSpPr>
          <p:cNvPr id="4" name="Text 2"/>
          <p:cNvSpPr/>
          <p:nvPr/>
        </p:nvSpPr>
        <p:spPr>
          <a:xfrm>
            <a:off x="457200" y="658368"/>
            <a:ext cx="8229600" cy="640080"/>
          </a:xfrm>
          <a:prstGeom prst="rect">
            <a:avLst/>
          </a:prstGeom>
          <a:noFill/>
          <a:ln/>
        </p:spPr>
        <p:txBody>
          <a:bodyPr wrap="square" rtlCol="0" anchor="ctr"/>
          <a:lstStyle/>
          <a:p>
            <a:pPr indent="0" marL="0">
              <a:lnSpc>
                <a:spcPts val="2700"/>
              </a:lnSpc>
              <a:buNone/>
            </a:pPr>
            <a:r>
              <a:rPr lang="en-US" sz="2500" b="1" dirty="0">
                <a:solidFill>
                  <a:srgbClr val="102A54"/>
                </a:solidFill>
                <a:latin typeface="Georgia" pitchFamily="34" charset="0"/>
                <a:ea typeface="Georgia" pitchFamily="34" charset="-122"/>
                <a:cs typeface="Georgia" pitchFamily="34" charset="-120"/>
              </a:rPr>
              <a:t>Three habits that shrink AI risk</a:t>
            </a:r>
            <a:endParaRPr lang="en-US" sz="2500" dirty="0"/>
          </a:p>
        </p:txBody>
      </p:sp>
      <p:sp>
        <p:nvSpPr>
          <p:cNvPr id="5" name="Shape 3"/>
          <p:cNvSpPr/>
          <p:nvPr/>
        </p:nvSpPr>
        <p:spPr>
          <a:xfrm>
            <a:off x="457200" y="1463040"/>
            <a:ext cx="2560320" cy="1280160"/>
          </a:xfrm>
          <a:prstGeom prst="roundRect">
            <a:avLst>
              <a:gd name="adj" fmla="val 3571"/>
            </a:avLst>
          </a:prstGeom>
          <a:solidFill>
            <a:srgbClr val="F7F9FC"/>
          </a:solidFill>
          <a:ln w="12700">
            <a:solidFill>
              <a:srgbClr val="D8DEE6"/>
            </a:solidFill>
            <a:prstDash val="solid"/>
          </a:ln>
        </p:spPr>
      </p:sp>
      <p:sp>
        <p:nvSpPr>
          <p:cNvPr id="6" name="Shape 4"/>
          <p:cNvSpPr/>
          <p:nvPr/>
        </p:nvSpPr>
        <p:spPr>
          <a:xfrm>
            <a:off x="457200" y="2697480"/>
            <a:ext cx="2560320" cy="45720"/>
          </a:xfrm>
          <a:prstGeom prst="rect">
            <a:avLst/>
          </a:prstGeom>
          <a:solidFill>
            <a:srgbClr val="6F8FAF"/>
          </a:solidFill>
          <a:ln/>
        </p:spPr>
      </p:sp>
      <p:sp>
        <p:nvSpPr>
          <p:cNvPr id="7" name="Text 5"/>
          <p:cNvSpPr/>
          <p:nvPr/>
        </p:nvSpPr>
        <p:spPr>
          <a:xfrm>
            <a:off x="457200" y="1645920"/>
            <a:ext cx="2560320" cy="502920"/>
          </a:xfrm>
          <a:prstGeom prst="rect">
            <a:avLst/>
          </a:prstGeom>
          <a:noFill/>
          <a:ln/>
        </p:spPr>
        <p:txBody>
          <a:bodyPr wrap="square" rtlCol="0" anchor="ctr"/>
          <a:lstStyle/>
          <a:p>
            <a:pPr algn="ctr" indent="0" marL="0">
              <a:buNone/>
            </a:pPr>
            <a:r>
              <a:rPr lang="en-US" sz="2400" b="1" dirty="0">
                <a:solidFill>
                  <a:srgbClr val="102A54"/>
                </a:solidFill>
                <a:latin typeface="Georgia" pitchFamily="34" charset="0"/>
                <a:ea typeface="Georgia" pitchFamily="34" charset="-122"/>
                <a:cs typeface="Georgia" pitchFamily="34" charset="-120"/>
              </a:rPr>
              <a:t>Structure</a:t>
            </a:r>
            <a:endParaRPr lang="en-US" sz="2400" dirty="0"/>
          </a:p>
        </p:txBody>
      </p:sp>
      <p:sp>
        <p:nvSpPr>
          <p:cNvPr id="8" name="Text 6"/>
          <p:cNvSpPr/>
          <p:nvPr/>
        </p:nvSpPr>
        <p:spPr>
          <a:xfrm>
            <a:off x="594360" y="2194560"/>
            <a:ext cx="2286000" cy="502920"/>
          </a:xfrm>
          <a:prstGeom prst="rect">
            <a:avLst/>
          </a:prstGeom>
          <a:noFill/>
          <a:ln/>
        </p:spPr>
        <p:txBody>
          <a:bodyPr wrap="square" rtlCol="0" anchor="t"/>
          <a:lstStyle/>
          <a:p>
            <a:pPr algn="ctr" indent="0" marL="0">
              <a:lnSpc>
                <a:spcPts val="1300"/>
              </a:lnSpc>
              <a:buNone/>
            </a:pPr>
            <a:r>
              <a:rPr lang="en-US" sz="1100" dirty="0">
                <a:solidFill>
                  <a:srgbClr val="4F6072"/>
                </a:solidFill>
                <a:latin typeface="Calibri" pitchFamily="34" charset="0"/>
                <a:ea typeface="Calibri" pitchFamily="34" charset="-122"/>
                <a:cs typeface="Calibri" pitchFamily="34" charset="-120"/>
              </a:rPr>
              <a:t>Role, context, task, limits. Less room to invent.</a:t>
            </a:r>
            <a:endParaRPr lang="en-US" sz="1100" dirty="0"/>
          </a:p>
        </p:txBody>
      </p:sp>
      <p:sp>
        <p:nvSpPr>
          <p:cNvPr id="9" name="Shape 7"/>
          <p:cNvSpPr/>
          <p:nvPr/>
        </p:nvSpPr>
        <p:spPr>
          <a:xfrm>
            <a:off x="3291840" y="1463040"/>
            <a:ext cx="2560320" cy="1280160"/>
          </a:xfrm>
          <a:prstGeom prst="roundRect">
            <a:avLst>
              <a:gd name="adj" fmla="val 3571"/>
            </a:avLst>
          </a:prstGeom>
          <a:solidFill>
            <a:srgbClr val="F7F9FC"/>
          </a:solidFill>
          <a:ln w="12700">
            <a:solidFill>
              <a:srgbClr val="D8DEE6"/>
            </a:solidFill>
            <a:prstDash val="solid"/>
          </a:ln>
        </p:spPr>
      </p:sp>
      <p:sp>
        <p:nvSpPr>
          <p:cNvPr id="10" name="Shape 8"/>
          <p:cNvSpPr/>
          <p:nvPr/>
        </p:nvSpPr>
        <p:spPr>
          <a:xfrm>
            <a:off x="3291840" y="2697480"/>
            <a:ext cx="2560320" cy="45720"/>
          </a:xfrm>
          <a:prstGeom prst="rect">
            <a:avLst/>
          </a:prstGeom>
          <a:solidFill>
            <a:srgbClr val="6F8FAF"/>
          </a:solidFill>
          <a:ln/>
        </p:spPr>
      </p:sp>
      <p:sp>
        <p:nvSpPr>
          <p:cNvPr id="11" name="Text 9"/>
          <p:cNvSpPr/>
          <p:nvPr/>
        </p:nvSpPr>
        <p:spPr>
          <a:xfrm>
            <a:off x="3291840" y="1645920"/>
            <a:ext cx="2560320" cy="502920"/>
          </a:xfrm>
          <a:prstGeom prst="rect">
            <a:avLst/>
          </a:prstGeom>
          <a:noFill/>
          <a:ln/>
        </p:spPr>
        <p:txBody>
          <a:bodyPr wrap="square" rtlCol="0" anchor="ctr"/>
          <a:lstStyle/>
          <a:p>
            <a:pPr algn="ctr" indent="0" marL="0">
              <a:buNone/>
            </a:pPr>
            <a:r>
              <a:rPr lang="en-US" sz="2400" b="1" dirty="0">
                <a:solidFill>
                  <a:srgbClr val="102A54"/>
                </a:solidFill>
                <a:latin typeface="Georgia" pitchFamily="34" charset="0"/>
                <a:ea typeface="Georgia" pitchFamily="34" charset="-122"/>
                <a:cs typeface="Georgia" pitchFamily="34" charset="-120"/>
              </a:rPr>
              <a:t>Grounding</a:t>
            </a:r>
            <a:endParaRPr lang="en-US" sz="2400" dirty="0"/>
          </a:p>
        </p:txBody>
      </p:sp>
      <p:sp>
        <p:nvSpPr>
          <p:cNvPr id="12" name="Text 10"/>
          <p:cNvSpPr/>
          <p:nvPr/>
        </p:nvSpPr>
        <p:spPr>
          <a:xfrm>
            <a:off x="3429000" y="2194560"/>
            <a:ext cx="2286000" cy="502920"/>
          </a:xfrm>
          <a:prstGeom prst="rect">
            <a:avLst/>
          </a:prstGeom>
          <a:noFill/>
          <a:ln/>
        </p:spPr>
        <p:txBody>
          <a:bodyPr wrap="square" rtlCol="0" anchor="t"/>
          <a:lstStyle/>
          <a:p>
            <a:pPr algn="ctr" indent="0" marL="0">
              <a:lnSpc>
                <a:spcPts val="1300"/>
              </a:lnSpc>
              <a:buNone/>
            </a:pPr>
            <a:r>
              <a:rPr lang="en-US" sz="1100" dirty="0">
                <a:solidFill>
                  <a:srgbClr val="4F6072"/>
                </a:solidFill>
                <a:latin typeface="Calibri" pitchFamily="34" charset="0"/>
                <a:ea typeface="Calibri" pitchFamily="34" charset="-122"/>
                <a:cs typeface="Calibri" pitchFamily="34" charset="-120"/>
              </a:rPr>
              <a:t>Answers from sources you trust, not memory.</a:t>
            </a:r>
            <a:endParaRPr lang="en-US" sz="1100" dirty="0"/>
          </a:p>
        </p:txBody>
      </p:sp>
      <p:sp>
        <p:nvSpPr>
          <p:cNvPr id="13" name="Shape 11"/>
          <p:cNvSpPr/>
          <p:nvPr/>
        </p:nvSpPr>
        <p:spPr>
          <a:xfrm>
            <a:off x="6126480" y="1463040"/>
            <a:ext cx="2560320" cy="1280160"/>
          </a:xfrm>
          <a:prstGeom prst="roundRect">
            <a:avLst>
              <a:gd name="adj" fmla="val 3571"/>
            </a:avLst>
          </a:prstGeom>
          <a:solidFill>
            <a:srgbClr val="F7F9FC"/>
          </a:solidFill>
          <a:ln w="12700">
            <a:solidFill>
              <a:srgbClr val="D8DEE6"/>
            </a:solidFill>
            <a:prstDash val="solid"/>
          </a:ln>
        </p:spPr>
      </p:sp>
      <p:sp>
        <p:nvSpPr>
          <p:cNvPr id="14" name="Shape 12"/>
          <p:cNvSpPr/>
          <p:nvPr/>
        </p:nvSpPr>
        <p:spPr>
          <a:xfrm>
            <a:off x="6126480" y="2697480"/>
            <a:ext cx="2560320" cy="45720"/>
          </a:xfrm>
          <a:prstGeom prst="rect">
            <a:avLst/>
          </a:prstGeom>
          <a:solidFill>
            <a:srgbClr val="6F8FAF"/>
          </a:solidFill>
          <a:ln/>
        </p:spPr>
      </p:sp>
      <p:sp>
        <p:nvSpPr>
          <p:cNvPr id="15" name="Text 13"/>
          <p:cNvSpPr/>
          <p:nvPr/>
        </p:nvSpPr>
        <p:spPr>
          <a:xfrm>
            <a:off x="6126480" y="1645920"/>
            <a:ext cx="2560320" cy="502920"/>
          </a:xfrm>
          <a:prstGeom prst="rect">
            <a:avLst/>
          </a:prstGeom>
          <a:noFill/>
          <a:ln/>
        </p:spPr>
        <p:txBody>
          <a:bodyPr wrap="square" rtlCol="0" anchor="ctr"/>
          <a:lstStyle/>
          <a:p>
            <a:pPr algn="ctr" indent="0" marL="0">
              <a:buNone/>
            </a:pPr>
            <a:r>
              <a:rPr lang="en-US" sz="2400" b="1" dirty="0">
                <a:solidFill>
                  <a:srgbClr val="102A54"/>
                </a:solidFill>
                <a:latin typeface="Georgia" pitchFamily="34" charset="0"/>
                <a:ea typeface="Georgia" pitchFamily="34" charset="-122"/>
                <a:cs typeface="Georgia" pitchFamily="34" charset="-120"/>
              </a:rPr>
              <a:t>Inspect</a:t>
            </a:r>
            <a:endParaRPr lang="en-US" sz="2400" dirty="0"/>
          </a:p>
        </p:txBody>
      </p:sp>
      <p:sp>
        <p:nvSpPr>
          <p:cNvPr id="16" name="Text 14"/>
          <p:cNvSpPr/>
          <p:nvPr/>
        </p:nvSpPr>
        <p:spPr>
          <a:xfrm>
            <a:off x="6263640" y="2194560"/>
            <a:ext cx="2286000" cy="502920"/>
          </a:xfrm>
          <a:prstGeom prst="rect">
            <a:avLst/>
          </a:prstGeom>
          <a:noFill/>
          <a:ln/>
        </p:spPr>
        <p:txBody>
          <a:bodyPr wrap="square" rtlCol="0" anchor="t"/>
          <a:lstStyle/>
          <a:p>
            <a:pPr algn="ctr" indent="0" marL="0">
              <a:lnSpc>
                <a:spcPts val="1300"/>
              </a:lnSpc>
              <a:buNone/>
            </a:pPr>
            <a:r>
              <a:rPr lang="en-US" sz="1100" dirty="0">
                <a:solidFill>
                  <a:srgbClr val="4F6072"/>
                </a:solidFill>
                <a:latin typeface="Calibri" pitchFamily="34" charset="0"/>
                <a:ea typeface="Calibri" pitchFamily="34" charset="-122"/>
                <a:cs typeface="Calibri" pitchFamily="34" charset="-120"/>
              </a:rPr>
              <a:t>You verify every claim against a real authority.</a:t>
            </a:r>
            <a:endParaRPr lang="en-US" sz="1100" dirty="0"/>
          </a:p>
        </p:txBody>
      </p:sp>
      <p:sp>
        <p:nvSpPr>
          <p:cNvPr id="17" name="Shape 15"/>
          <p:cNvSpPr/>
          <p:nvPr/>
        </p:nvSpPr>
        <p:spPr>
          <a:xfrm>
            <a:off x="457200" y="2889504"/>
            <a:ext cx="8229600" cy="868680"/>
          </a:xfrm>
          <a:prstGeom prst="roundRect">
            <a:avLst>
              <a:gd name="adj" fmla="val 5263"/>
            </a:avLst>
          </a:prstGeom>
          <a:solidFill>
            <a:srgbClr val="102A54"/>
          </a:solidFill>
          <a:ln/>
        </p:spPr>
      </p:sp>
      <p:sp>
        <p:nvSpPr>
          <p:cNvPr id="18" name="Shape 16"/>
          <p:cNvSpPr/>
          <p:nvPr/>
        </p:nvSpPr>
        <p:spPr>
          <a:xfrm>
            <a:off x="457200" y="2889504"/>
            <a:ext cx="64008" cy="868680"/>
          </a:xfrm>
          <a:prstGeom prst="rect">
            <a:avLst/>
          </a:prstGeom>
          <a:solidFill>
            <a:srgbClr val="6F8FAF"/>
          </a:solidFill>
          <a:ln/>
        </p:spPr>
      </p:sp>
      <p:sp>
        <p:nvSpPr>
          <p:cNvPr id="19" name="Text 17"/>
          <p:cNvSpPr/>
          <p:nvPr/>
        </p:nvSpPr>
        <p:spPr>
          <a:xfrm>
            <a:off x="685800" y="2999232"/>
            <a:ext cx="7772400" cy="219456"/>
          </a:xfrm>
          <a:prstGeom prst="rect">
            <a:avLst/>
          </a:prstGeom>
          <a:noFill/>
          <a:ln/>
        </p:spPr>
        <p:txBody>
          <a:bodyPr wrap="square" rtlCol="0" anchor="ctr"/>
          <a:lstStyle/>
          <a:p>
            <a:pPr indent="0" marL="0">
              <a:buNone/>
            </a:pPr>
            <a:r>
              <a:rPr lang="en-US" sz="1000" b="1" spc="200" kern="0" dirty="0">
                <a:solidFill>
                  <a:srgbClr val="6F8FAF"/>
                </a:solidFill>
                <a:latin typeface="Calibri" pitchFamily="34" charset="0"/>
                <a:ea typeface="Calibri" pitchFamily="34" charset="-122"/>
                <a:cs typeface="Calibri" pitchFamily="34" charset="-120"/>
              </a:rPr>
              <a:t>BRIDGE</a:t>
            </a:r>
            <a:endParaRPr lang="en-US" sz="1000" dirty="0"/>
          </a:p>
        </p:txBody>
      </p:sp>
      <p:sp>
        <p:nvSpPr>
          <p:cNvPr id="20" name="Text 18"/>
          <p:cNvSpPr/>
          <p:nvPr/>
        </p:nvSpPr>
        <p:spPr>
          <a:xfrm>
            <a:off x="685800" y="3218688"/>
            <a:ext cx="7772400" cy="448056"/>
          </a:xfrm>
          <a:prstGeom prst="rect">
            <a:avLst/>
          </a:prstGeom>
          <a:noFill/>
          <a:ln/>
        </p:spPr>
        <p:txBody>
          <a:bodyPr wrap="square" rtlCol="0" anchor="t"/>
          <a:lstStyle/>
          <a:p>
            <a:pPr indent="0" marL="0">
              <a:lnSpc>
                <a:spcPts val="1900"/>
              </a:lnSpc>
              <a:buNone/>
            </a:pPr>
            <a:r>
              <a:rPr lang="en-US" sz="1500" dirty="0">
                <a:solidFill>
                  <a:srgbClr val="FFFFFF"/>
                </a:solidFill>
                <a:latin typeface="Georgia" pitchFamily="34" charset="0"/>
                <a:ea typeface="Georgia" pitchFamily="34" charset="-122"/>
                <a:cs typeface="Georgia" pitchFamily="34" charset="-120"/>
              </a:rPr>
              <a:t>You now have the moves. Segment three turns them into a checklist and a set of clear rules you can post by your desk.</a:t>
            </a:r>
            <a:endParaRPr lang="en-US" sz="1500" dirty="0"/>
          </a:p>
        </p:txBody>
      </p:sp>
      <p:sp>
        <p:nvSpPr>
          <p:cNvPr id="21" name="Shape 19"/>
          <p:cNvSpPr/>
          <p:nvPr/>
        </p:nvSpPr>
        <p:spPr>
          <a:xfrm>
            <a:off x="0" y="4686300"/>
            <a:ext cx="9144000" cy="457200"/>
          </a:xfrm>
          <a:prstGeom prst="rect">
            <a:avLst/>
          </a:prstGeom>
          <a:solidFill>
            <a:srgbClr val="102A54"/>
          </a:solidFill>
          <a:ln/>
        </p:spPr>
      </p:sp>
      <p:sp>
        <p:nvSpPr>
          <p:cNvPr id="22" name="Shape 20"/>
          <p:cNvSpPr/>
          <p:nvPr/>
        </p:nvSpPr>
        <p:spPr>
          <a:xfrm>
            <a:off x="0" y="4654296"/>
            <a:ext cx="9144000" cy="32004"/>
          </a:xfrm>
          <a:prstGeom prst="rect">
            <a:avLst/>
          </a:prstGeom>
          <a:solidFill>
            <a:srgbClr val="6F8FAF"/>
          </a:solidFill>
          <a:ln/>
        </p:spPr>
      </p:sp>
      <p:sp>
        <p:nvSpPr>
          <p:cNvPr id="23" name="Text 21"/>
          <p:cNvSpPr/>
          <p:nvPr/>
        </p:nvSpPr>
        <p:spPr>
          <a:xfrm>
            <a:off x="457200" y="4686300"/>
            <a:ext cx="2194560" cy="457200"/>
          </a:xfrm>
          <a:prstGeom prst="rect">
            <a:avLst/>
          </a:prstGeom>
          <a:noFill/>
          <a:ln/>
        </p:spPr>
        <p:txBody>
          <a:bodyPr wrap="square" rtlCol="0" anchor="ctr"/>
          <a:lstStyle/>
          <a:p>
            <a:pPr algn="l" indent="0" marL="0">
              <a:buNone/>
            </a:pPr>
            <a:r>
              <a:rPr lang="en-US" sz="900" b="1" spc="200" kern="0" dirty="0">
                <a:solidFill>
                  <a:srgbClr val="6F8FAF"/>
                </a:solidFill>
                <a:latin typeface="Calibri" pitchFamily="34" charset="0"/>
                <a:ea typeface="Calibri" pitchFamily="34" charset="-122"/>
                <a:cs typeface="Calibri" pitchFamily="34" charset="-120"/>
              </a:rPr>
              <a:t>✦ </a:t>
            </a:r>
            <a:pPr algn="l" indent="0" marL="0">
              <a:buNone/>
            </a:pPr>
            <a:r>
              <a:rPr lang="en-US" sz="900" b="1" spc="200" kern="0" dirty="0">
                <a:solidFill>
                  <a:srgbClr val="6F8FAF"/>
                </a:solidFill>
                <a:latin typeface="Calibri" pitchFamily="34" charset="0"/>
                <a:ea typeface="Calibri" pitchFamily="34" charset="-122"/>
                <a:cs typeface="Calibri" pitchFamily="34" charset="-120"/>
              </a:rPr>
              <a:t>TCDLAi</a:t>
            </a:r>
            <a:endParaRPr lang="en-US" sz="900" dirty="0"/>
          </a:p>
        </p:txBody>
      </p:sp>
      <p:sp>
        <p:nvSpPr>
          <p:cNvPr id="24" name="Text 22"/>
          <p:cNvSpPr/>
          <p:nvPr/>
        </p:nvSpPr>
        <p:spPr>
          <a:xfrm>
            <a:off x="2743200" y="4686300"/>
            <a:ext cx="3657600" cy="457200"/>
          </a:xfrm>
          <a:prstGeom prst="rect">
            <a:avLst/>
          </a:prstGeom>
          <a:noFill/>
          <a:ln/>
        </p:spPr>
        <p:txBody>
          <a:bodyPr wrap="square" rtlCol="0" anchor="ctr"/>
          <a:lstStyle/>
          <a:p>
            <a:pPr algn="ctr" indent="0" marL="0">
              <a:buNone/>
            </a:pPr>
            <a:r>
              <a:rPr lang="en-US" sz="900" i="1" dirty="0">
                <a:solidFill>
                  <a:srgbClr val="C6D4EC"/>
                </a:solidFill>
                <a:latin typeface="Calibri" pitchFamily="34" charset="0"/>
                <a:ea typeface="Calibri" pitchFamily="34" charset="-122"/>
                <a:cs typeface="Calibri" pitchFamily="34" charset="-120"/>
              </a:rPr>
              <a:t>Facilitator: Miguel Guhlin</a:t>
            </a:r>
            <a:endParaRPr lang="en-US" sz="900" dirty="0"/>
          </a:p>
        </p:txBody>
      </p:sp>
      <p:sp>
        <p:nvSpPr>
          <p:cNvPr id="25" name="Text 23"/>
          <p:cNvSpPr/>
          <p:nvPr/>
        </p:nvSpPr>
        <p:spPr>
          <a:xfrm>
            <a:off x="6035040" y="4686300"/>
            <a:ext cx="2651760" cy="457200"/>
          </a:xfrm>
          <a:prstGeom prst="rect">
            <a:avLst/>
          </a:prstGeom>
          <a:noFill/>
          <a:ln/>
        </p:spPr>
        <p:txBody>
          <a:bodyPr wrap="square" rtlCol="0" anchor="ctr"/>
          <a:lstStyle/>
          <a:p>
            <a:pPr algn="r" indent="0" marL="0">
              <a:buNone/>
            </a:pPr>
            <a:r>
              <a:rPr lang="en-US" sz="900" b="1" dirty="0">
                <a:solidFill>
                  <a:srgbClr val="C8D2DC"/>
                </a:solidFill>
                <a:latin typeface="Calibri" pitchFamily="34" charset="0"/>
                <a:ea typeface="Calibri" pitchFamily="34" charset="-122"/>
                <a:cs typeface="Calibri" pitchFamily="34" charset="-120"/>
              </a:rPr>
              <a:t>mglearn.github.io/legalai</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TCEA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Risk-Reducing Practices and TCDLAi</dc:title>
  <dc:subject>PptxGenJS Presentation</dc:subject>
  <dc:creator>Miguel Guhlin</dc:creator>
  <cp:lastModifiedBy>Miguel Guhlin</cp:lastModifiedBy>
  <cp:revision>1</cp:revision>
  <dcterms:created xsi:type="dcterms:W3CDTF">2026-07-16T18:55:40Z</dcterms:created>
  <dcterms:modified xsi:type="dcterms:W3CDTF">2026-07-16T18:55:40Z</dcterms:modified>
</cp:coreProperties>
</file>