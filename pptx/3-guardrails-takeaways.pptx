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stretch. We have covered the duties and we have practiced the techniques. Now we make it portable, so it survives the drive home and shows up in your actual work.
Three things in fifteen minutes. A short checklist you run before AI-assisted work leaves your desk. A clear set of do-and-do-not rules. And a simple record that protects you if anyone ever asks how the work was done.
None of this is heavy. It is meant to fit on one page and to become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checklist, and it is the single most useful thing you can take from today. Eight questions, and you can run them in under a minute.
Did I keep client-identifying facts out of the tool. Do I understand this tool's limits for the task. Did the model work from sources I trust. Did I open and confirm every citation myself. Did I make the strategic calls. Is everything I will file true. Did I review this like a new associate's draft. And can I explain later how the work was produced.
The rule is simple. If any box is unchecked, the work is not ready to leave your desk. It is printed on the resources page, so take it and tape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checklist is the process, these are the bright lines. On the do side, use AI for what it is good at. Drafting, summarizing, outlining, and surfacing angles you can then evaluate. Ground it in real authority. Verify every citation. Use fictional facts in consumer tools. And keep the judgment and the signature yours.
On the do-not side, the rules that keep people out of trouble. Never file a citation you have not read. Never paste privileged facts into a consumer tool. Never treat confidence as verification. Never let the model make the call for a client. And never assume that grounding or a tidy format lets you skip the check.
Read these two lists back to yourself once a week for a month and they become instinct.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quietly protects you. Three verbs. Document, review, verify.
Document is lighter than it sounds. A single line in the file noting which tool you used, for which task, on what facts. Review means you read the whole output as the responsible attorney and edit it for accuracy and fit. Verify means you confirm every authority and factual claim against a real source.
Here is why it is worth the small effort. If a court or a client or a bar committee ever asks how the work was done, a short record turns a hard question into an easy answer. You used a tool, you supervised it, and you verified the result. That sentence is a good place to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often ask where the line is. Here is a test you can apply in seconds. AI is a good fit for first drafts you will edit hard, for summaries you can check, for brainstorming defenses, for reworking tone and clarity, and for organizing facts you provide.
It is a poor fit for final legal authority without verification, for anything that would require privileged facts in a consumer tool, for the strategic calls that belong to you and your client, for tasks you cannot evaluate for correctness, and for client-facing output sent without review.
Boil it down to one question. Can I supervise this and verify it. If yes, it may belong. If no, it does not. That single question resolves most of the hard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pointers for after today. First, purpose-built tooling. Claude for Legal is an example worth knowing, because of how it behaves. It treats every output as a draft for your review, it flags citations it cannot verify, and it stops before anything irreversible. That is the posture we want from legal AI.
Second, you can build your own. On the resources page I have put a set of knowledge files and custom instructions for a BoodleBox bot I am calling LegalAI. Upload those and the bot carries the TCDLAi framework and today's guardrails by default, so the good habits are baked in.
Either way, the through-line holds. General tool or legal tool, it drafts, you verify, you decide, and you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everything you are taking home, and it is all in one place. The TCDLAi Prompt Design Guide with example prompts for every letter. The eight-point ethical checklist on a single page. The legal prompt library sorted by type and task. And the files to build your own BoodleBox LegalAI bot.
You do not need to copy any of this down. It lives at mglearn.github.io/legalai. Bookmark that one address before you leave and you have the whole session in your pocket.
Let me close with the one habit I hope sticks.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leave you with one sentence. Draft with the tool, and decide as the lawyer. The machine can produce a lot of words quickly. Your value is knowing which of them are true, which serve this client, and which to strike.
And if you keep only one habit from this hour, make it this. Open the source and verify the citation, every single time. That habit alone would have saved every lawyer you have read about in the news.
Everything is on the resources page, and I am glad to take questions. Thank you for spending this hour on doing it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6F8FAF"/>
          </a:solidFill>
          <a:ln/>
        </p:spPr>
      </p:sp>
      <p:sp>
        <p:nvSpPr>
          <p:cNvPr id="3" name="Shape 1"/>
          <p:cNvSpPr/>
          <p:nvPr/>
        </p:nvSpPr>
        <p:spPr>
          <a:xfrm>
            <a:off x="777240" y="1234440"/>
            <a:ext cx="457200" cy="457200"/>
          </a:xfrm>
          <a:prstGeom prst="ellipse">
            <a:avLst/>
          </a:prstGeom>
          <a:solidFill>
            <a:srgbClr val="6F8FAF"/>
          </a:solidFill>
          <a:ln/>
        </p:spPr>
      </p:sp>
      <p:sp>
        <p:nvSpPr>
          <p:cNvPr id="4" name="Text 2"/>
          <p:cNvSpPr/>
          <p:nvPr/>
        </p:nvSpPr>
        <p:spPr>
          <a:xfrm>
            <a:off x="777240" y="1234440"/>
            <a:ext cx="457200" cy="457200"/>
          </a:xfrm>
          <a:prstGeom prst="rect">
            <a:avLst/>
          </a:prstGeom>
          <a:noFill/>
          <a:ln/>
        </p:spPr>
        <p:txBody>
          <a:bodyPr wrap="square" rtlCol="0" anchor="ctr"/>
          <a:lstStyle/>
          <a:p>
            <a:pPr algn="ctr" indent="0" marL="0">
              <a:buNone/>
            </a:pPr>
            <a:r>
              <a:rPr lang="en-US" sz="1600" b="1" dirty="0">
                <a:solidFill>
                  <a:srgbClr val="0B1D33"/>
                </a:solidFill>
                <a:latin typeface="Georgia" pitchFamily="34" charset="0"/>
                <a:ea typeface="Georgia" pitchFamily="34" charset="-122"/>
                <a:cs typeface="Georgia" pitchFamily="34" charset="-120"/>
              </a:rPr>
              <a:t>3</a:t>
            </a:r>
            <a:endParaRPr lang="en-US" sz="1600" dirty="0"/>
          </a:p>
        </p:txBody>
      </p:sp>
      <p:sp>
        <p:nvSpPr>
          <p:cNvPr id="5" name="Text 3"/>
          <p:cNvSpPr/>
          <p:nvPr/>
        </p:nvSpPr>
        <p:spPr>
          <a:xfrm>
            <a:off x="777240" y="1874520"/>
            <a:ext cx="7772400" cy="274320"/>
          </a:xfrm>
          <a:prstGeom prst="rect">
            <a:avLst/>
          </a:prstGeom>
          <a:noFill/>
          <a:ln/>
        </p:spPr>
        <p:txBody>
          <a:bodyPr wrap="square" rtlCol="0" anchor="ctr"/>
          <a:lstStyle/>
          <a:p>
            <a:pPr indent="0" marL="0">
              <a:buNone/>
            </a:pPr>
            <a:r>
              <a:rPr lang="en-US" sz="1200" b="1" spc="200" kern="0" dirty="0">
                <a:solidFill>
                  <a:srgbClr val="6F8FAF"/>
                </a:solidFill>
                <a:latin typeface="Calibri" pitchFamily="34" charset="0"/>
                <a:ea typeface="Calibri" pitchFamily="34" charset="-122"/>
                <a:cs typeface="Calibri" pitchFamily="34" charset="-120"/>
              </a:rPr>
              <a:t>SEGMENT THREE · ABOUT 15 MINUTES</a:t>
            </a:r>
            <a:endParaRPr lang="en-US" sz="1200" dirty="0"/>
          </a:p>
        </p:txBody>
      </p:sp>
      <p:sp>
        <p:nvSpPr>
          <p:cNvPr id="6" name="Text 4"/>
          <p:cNvSpPr/>
          <p:nvPr/>
        </p:nvSpPr>
        <p:spPr>
          <a:xfrm>
            <a:off x="777240" y="2194560"/>
            <a:ext cx="786384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Practical Guardrails and Takeaways</a:t>
            </a:r>
            <a:endParaRPr lang="en-US" sz="3400" dirty="0"/>
          </a:p>
        </p:txBody>
      </p:sp>
      <p:sp>
        <p:nvSpPr>
          <p:cNvPr id="7" name="Text 5"/>
          <p:cNvSpPr/>
          <p:nvPr/>
        </p:nvSpPr>
        <p:spPr>
          <a:xfrm>
            <a:off x="777240" y="3063240"/>
            <a:ext cx="7589520" cy="731520"/>
          </a:xfrm>
          <a:prstGeom prst="rect">
            <a:avLst/>
          </a:prstGeom>
          <a:noFill/>
          <a:ln/>
        </p:spPr>
        <p:txBody>
          <a:bodyPr wrap="square" rtlCol="0" anchor="ctr"/>
          <a:lstStyle/>
          <a:p>
            <a:pPr indent="0" marL="0">
              <a:lnSpc>
                <a:spcPts val="2400"/>
              </a:lnSpc>
              <a:buNone/>
            </a:pPr>
            <a:r>
              <a:rPr lang="en-US" sz="1700" i="1" dirty="0">
                <a:solidFill>
                  <a:srgbClr val="C8D2DC"/>
                </a:solidFill>
                <a:latin typeface="Georgia" pitchFamily="34" charset="0"/>
                <a:ea typeface="Georgia" pitchFamily="34" charset="-122"/>
                <a:cs typeface="Georgia" pitchFamily="34" charset="-120"/>
              </a:rPr>
              <a:t>A checklist, clear rules, and the record that protects you. What to keep after today.</a:t>
            </a:r>
            <a:endParaRPr lang="en-US" sz="1700" dirty="0"/>
          </a:p>
        </p:txBody>
      </p:sp>
      <p:sp>
        <p:nvSpPr>
          <p:cNvPr id="8" name="Shape 6"/>
          <p:cNvSpPr/>
          <p:nvPr/>
        </p:nvSpPr>
        <p:spPr>
          <a:xfrm>
            <a:off x="0" y="4686300"/>
            <a:ext cx="9144000" cy="457200"/>
          </a:xfrm>
          <a:prstGeom prst="rect">
            <a:avLst/>
          </a:prstGeom>
          <a:solidFill>
            <a:srgbClr val="102A54"/>
          </a:solidFill>
          <a:ln/>
        </p:spPr>
      </p:sp>
      <p:sp>
        <p:nvSpPr>
          <p:cNvPr id="9" name="Shape 7"/>
          <p:cNvSpPr/>
          <p:nvPr/>
        </p:nvSpPr>
        <p:spPr>
          <a:xfrm>
            <a:off x="0" y="4654296"/>
            <a:ext cx="9144000" cy="32004"/>
          </a:xfrm>
          <a:prstGeom prst="rect">
            <a:avLst/>
          </a:prstGeom>
          <a:solidFill>
            <a:srgbClr val="6F8FAF"/>
          </a:solidFill>
          <a:ln/>
        </p:spPr>
      </p:sp>
      <p:sp>
        <p:nvSpPr>
          <p:cNvPr id="10" name="Text 8"/>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1" name="Text 9"/>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2" name="Text 10"/>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RUN THIS BEFORE YOU RELY ON ANY OUTPUT</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The ethical guardrail checklist</a:t>
            </a:r>
            <a:endParaRPr lang="en-US" sz="2500" dirty="0"/>
          </a:p>
        </p:txBody>
      </p:sp>
      <p:sp>
        <p:nvSpPr>
          <p:cNvPr id="5" name="Shape 3"/>
          <p:cNvSpPr/>
          <p:nvPr/>
        </p:nvSpPr>
        <p:spPr>
          <a:xfrm>
            <a:off x="457200" y="1499616"/>
            <a:ext cx="182880" cy="182880"/>
          </a:xfrm>
          <a:prstGeom prst="roundRect">
            <a:avLst>
              <a:gd name="adj" fmla="val 10000"/>
            </a:avLst>
          </a:prstGeom>
          <a:ln w="19050">
            <a:solidFill>
              <a:srgbClr val="6F8FAF"/>
            </a:solidFill>
            <a:prstDash val="solid"/>
          </a:ln>
        </p:spPr>
      </p:sp>
      <p:sp>
        <p:nvSpPr>
          <p:cNvPr id="6" name="Text 4"/>
          <p:cNvSpPr/>
          <p:nvPr/>
        </p:nvSpPr>
        <p:spPr>
          <a:xfrm>
            <a:off x="749808" y="1463040"/>
            <a:ext cx="3575304" cy="457200"/>
          </a:xfrm>
          <a:prstGeom prst="rect">
            <a:avLst/>
          </a:prstGeom>
          <a:noFill/>
          <a:ln/>
        </p:spPr>
        <p:txBody>
          <a:bodyPr wrap="square" rtlCol="0" anchor="t"/>
          <a:lstStyle/>
          <a:p>
            <a:pPr indent="0" marL="0">
              <a:lnSpc>
                <a:spcPts val="1600"/>
              </a:lnSpc>
              <a:buNone/>
            </a:pPr>
            <a:pPr indent="0" marL="0">
              <a:lnSpc>
                <a:spcPts val="1600"/>
              </a:lnSpc>
              <a:buNone/>
            </a:pPr>
            <a:r>
              <a:rPr lang="en-US" sz="1350" b="1" dirty="0">
                <a:solidFill>
                  <a:srgbClr val="102A54"/>
                </a:solidFill>
                <a:latin typeface="Calibri" pitchFamily="34" charset="0"/>
                <a:ea typeface="Calibri" pitchFamily="34" charset="-122"/>
                <a:cs typeface="Calibri" pitchFamily="34" charset="-120"/>
              </a:rPr>
              <a:t>Confidentiality.</a:t>
            </a:r>
            <a:pPr indent="0" marL="0">
              <a:lnSpc>
                <a:spcPts val="1600"/>
              </a:lnSpc>
              <a:buNone/>
            </a:pPr>
            <a:r>
              <a:rPr lang="en-US" sz="1350" dirty="0">
                <a:solidFill>
                  <a:srgbClr val="22303C"/>
                </a:solidFill>
                <a:latin typeface="Calibri" pitchFamily="34" charset="0"/>
                <a:ea typeface="Calibri" pitchFamily="34" charset="-122"/>
                <a:cs typeface="Calibri" pitchFamily="34" charset="-120"/>
              </a:rPr>
              <a:t> Did I keep client-identifying facts out of the tool</a:t>
            </a:r>
            <a:endParaRPr lang="en-US" sz="1350" dirty="0"/>
          </a:p>
        </p:txBody>
      </p:sp>
      <p:sp>
        <p:nvSpPr>
          <p:cNvPr id="7" name="Shape 5"/>
          <p:cNvSpPr/>
          <p:nvPr/>
        </p:nvSpPr>
        <p:spPr>
          <a:xfrm>
            <a:off x="457200" y="1956816"/>
            <a:ext cx="182880" cy="182880"/>
          </a:xfrm>
          <a:prstGeom prst="roundRect">
            <a:avLst>
              <a:gd name="adj" fmla="val 10000"/>
            </a:avLst>
          </a:prstGeom>
          <a:ln w="19050">
            <a:solidFill>
              <a:srgbClr val="6F8FAF"/>
            </a:solidFill>
            <a:prstDash val="solid"/>
          </a:ln>
        </p:spPr>
      </p:sp>
      <p:sp>
        <p:nvSpPr>
          <p:cNvPr id="8" name="Text 6"/>
          <p:cNvSpPr/>
          <p:nvPr/>
        </p:nvSpPr>
        <p:spPr>
          <a:xfrm>
            <a:off x="749808" y="1920240"/>
            <a:ext cx="3575304" cy="457200"/>
          </a:xfrm>
          <a:prstGeom prst="rect">
            <a:avLst/>
          </a:prstGeom>
          <a:noFill/>
          <a:ln/>
        </p:spPr>
        <p:txBody>
          <a:bodyPr wrap="square" rtlCol="0" anchor="t"/>
          <a:lstStyle/>
          <a:p>
            <a:pPr indent="0" marL="0">
              <a:lnSpc>
                <a:spcPts val="1600"/>
              </a:lnSpc>
              <a:buNone/>
            </a:pPr>
            <a:pPr indent="0" marL="0">
              <a:lnSpc>
                <a:spcPts val="1600"/>
              </a:lnSpc>
              <a:buNone/>
            </a:pPr>
            <a:r>
              <a:rPr lang="en-US" sz="1350" b="1" dirty="0">
                <a:solidFill>
                  <a:srgbClr val="102A54"/>
                </a:solidFill>
                <a:latin typeface="Calibri" pitchFamily="34" charset="0"/>
                <a:ea typeface="Calibri" pitchFamily="34" charset="-122"/>
                <a:cs typeface="Calibri" pitchFamily="34" charset="-120"/>
              </a:rPr>
              <a:t>Competence.</a:t>
            </a:r>
            <a:pPr indent="0" marL="0">
              <a:lnSpc>
                <a:spcPts val="1600"/>
              </a:lnSpc>
              <a:buNone/>
            </a:pPr>
            <a:r>
              <a:rPr lang="en-US" sz="1350" dirty="0">
                <a:solidFill>
                  <a:srgbClr val="22303C"/>
                </a:solidFill>
                <a:latin typeface="Calibri" pitchFamily="34" charset="0"/>
                <a:ea typeface="Calibri" pitchFamily="34" charset="-122"/>
                <a:cs typeface="Calibri" pitchFamily="34" charset="-120"/>
              </a:rPr>
              <a:t> Do I understand this tool's limits for this task</a:t>
            </a:r>
            <a:endParaRPr lang="en-US" sz="1350" dirty="0"/>
          </a:p>
        </p:txBody>
      </p:sp>
      <p:sp>
        <p:nvSpPr>
          <p:cNvPr id="9" name="Shape 7"/>
          <p:cNvSpPr/>
          <p:nvPr/>
        </p:nvSpPr>
        <p:spPr>
          <a:xfrm>
            <a:off x="457200" y="2414016"/>
            <a:ext cx="182880" cy="182880"/>
          </a:xfrm>
          <a:prstGeom prst="roundRect">
            <a:avLst>
              <a:gd name="adj" fmla="val 10000"/>
            </a:avLst>
          </a:prstGeom>
          <a:ln w="19050">
            <a:solidFill>
              <a:srgbClr val="6F8FAF"/>
            </a:solidFill>
            <a:prstDash val="solid"/>
          </a:ln>
        </p:spPr>
      </p:sp>
      <p:sp>
        <p:nvSpPr>
          <p:cNvPr id="10" name="Text 8"/>
          <p:cNvSpPr/>
          <p:nvPr/>
        </p:nvSpPr>
        <p:spPr>
          <a:xfrm>
            <a:off x="749808" y="2377440"/>
            <a:ext cx="3575304" cy="457200"/>
          </a:xfrm>
          <a:prstGeom prst="rect">
            <a:avLst/>
          </a:prstGeom>
          <a:noFill/>
          <a:ln/>
        </p:spPr>
        <p:txBody>
          <a:bodyPr wrap="square" rtlCol="0" anchor="t"/>
          <a:lstStyle/>
          <a:p>
            <a:pPr indent="0" marL="0">
              <a:lnSpc>
                <a:spcPts val="1600"/>
              </a:lnSpc>
              <a:buNone/>
            </a:pPr>
            <a:pPr indent="0" marL="0">
              <a:lnSpc>
                <a:spcPts val="1600"/>
              </a:lnSpc>
              <a:buNone/>
            </a:pPr>
            <a:r>
              <a:rPr lang="en-US" sz="1350" b="1" dirty="0">
                <a:solidFill>
                  <a:srgbClr val="102A54"/>
                </a:solidFill>
                <a:latin typeface="Calibri" pitchFamily="34" charset="0"/>
                <a:ea typeface="Calibri" pitchFamily="34" charset="-122"/>
                <a:cs typeface="Calibri" pitchFamily="34" charset="-120"/>
              </a:rPr>
              <a:t>Grounding.</a:t>
            </a:r>
            <a:pPr indent="0" marL="0">
              <a:lnSpc>
                <a:spcPts val="1600"/>
              </a:lnSpc>
              <a:buNone/>
            </a:pPr>
            <a:r>
              <a:rPr lang="en-US" sz="1350" dirty="0">
                <a:solidFill>
                  <a:srgbClr val="22303C"/>
                </a:solidFill>
                <a:latin typeface="Calibri" pitchFamily="34" charset="0"/>
                <a:ea typeface="Calibri" pitchFamily="34" charset="-122"/>
                <a:cs typeface="Calibri" pitchFamily="34" charset="-120"/>
              </a:rPr>
              <a:t> Did the model work from sources I trust</a:t>
            </a:r>
            <a:endParaRPr lang="en-US" sz="1350" dirty="0"/>
          </a:p>
        </p:txBody>
      </p:sp>
      <p:sp>
        <p:nvSpPr>
          <p:cNvPr id="11" name="Shape 9"/>
          <p:cNvSpPr/>
          <p:nvPr/>
        </p:nvSpPr>
        <p:spPr>
          <a:xfrm>
            <a:off x="457200" y="2871216"/>
            <a:ext cx="182880" cy="182880"/>
          </a:xfrm>
          <a:prstGeom prst="roundRect">
            <a:avLst>
              <a:gd name="adj" fmla="val 10000"/>
            </a:avLst>
          </a:prstGeom>
          <a:ln w="19050">
            <a:solidFill>
              <a:srgbClr val="6F8FAF"/>
            </a:solidFill>
            <a:prstDash val="solid"/>
          </a:ln>
        </p:spPr>
      </p:sp>
      <p:sp>
        <p:nvSpPr>
          <p:cNvPr id="12" name="Text 10"/>
          <p:cNvSpPr/>
          <p:nvPr/>
        </p:nvSpPr>
        <p:spPr>
          <a:xfrm>
            <a:off x="749808" y="2834640"/>
            <a:ext cx="3575304" cy="457200"/>
          </a:xfrm>
          <a:prstGeom prst="rect">
            <a:avLst/>
          </a:prstGeom>
          <a:noFill/>
          <a:ln/>
        </p:spPr>
        <p:txBody>
          <a:bodyPr wrap="square" rtlCol="0" anchor="t"/>
          <a:lstStyle/>
          <a:p>
            <a:pPr indent="0" marL="0">
              <a:lnSpc>
                <a:spcPts val="1600"/>
              </a:lnSpc>
              <a:buNone/>
            </a:pPr>
            <a:pPr indent="0" marL="0">
              <a:lnSpc>
                <a:spcPts val="1600"/>
              </a:lnSpc>
              <a:buNone/>
            </a:pPr>
            <a:r>
              <a:rPr lang="en-US" sz="1350" b="1" dirty="0">
                <a:solidFill>
                  <a:srgbClr val="102A54"/>
                </a:solidFill>
                <a:latin typeface="Calibri" pitchFamily="34" charset="0"/>
                <a:ea typeface="Calibri" pitchFamily="34" charset="-122"/>
                <a:cs typeface="Calibri" pitchFamily="34" charset="-120"/>
              </a:rPr>
              <a:t>Verification.</a:t>
            </a:r>
            <a:pPr indent="0" marL="0">
              <a:lnSpc>
                <a:spcPts val="1600"/>
              </a:lnSpc>
              <a:buNone/>
            </a:pPr>
            <a:r>
              <a:rPr lang="en-US" sz="1350" dirty="0">
                <a:solidFill>
                  <a:srgbClr val="22303C"/>
                </a:solidFill>
                <a:latin typeface="Calibri" pitchFamily="34" charset="0"/>
                <a:ea typeface="Calibri" pitchFamily="34" charset="-122"/>
                <a:cs typeface="Calibri" pitchFamily="34" charset="-120"/>
              </a:rPr>
              <a:t> Did I open and confirm every citation myself</a:t>
            </a:r>
            <a:endParaRPr lang="en-US" sz="1350" dirty="0"/>
          </a:p>
        </p:txBody>
      </p:sp>
      <p:sp>
        <p:nvSpPr>
          <p:cNvPr id="13" name="Shape 11"/>
          <p:cNvSpPr/>
          <p:nvPr/>
        </p:nvSpPr>
        <p:spPr>
          <a:xfrm>
            <a:off x="4800600" y="1499616"/>
            <a:ext cx="182880" cy="182880"/>
          </a:xfrm>
          <a:prstGeom prst="roundRect">
            <a:avLst>
              <a:gd name="adj" fmla="val 10000"/>
            </a:avLst>
          </a:prstGeom>
          <a:ln w="19050">
            <a:solidFill>
              <a:srgbClr val="6F8FAF"/>
            </a:solidFill>
            <a:prstDash val="solid"/>
          </a:ln>
        </p:spPr>
      </p:sp>
      <p:sp>
        <p:nvSpPr>
          <p:cNvPr id="14" name="Text 12"/>
          <p:cNvSpPr/>
          <p:nvPr/>
        </p:nvSpPr>
        <p:spPr>
          <a:xfrm>
            <a:off x="5093208" y="1463040"/>
            <a:ext cx="3575304" cy="457200"/>
          </a:xfrm>
          <a:prstGeom prst="rect">
            <a:avLst/>
          </a:prstGeom>
          <a:noFill/>
          <a:ln/>
        </p:spPr>
        <p:txBody>
          <a:bodyPr wrap="square" rtlCol="0" anchor="t"/>
          <a:lstStyle/>
          <a:p>
            <a:pPr indent="0" marL="0">
              <a:lnSpc>
                <a:spcPts val="1600"/>
              </a:lnSpc>
              <a:buNone/>
            </a:pPr>
            <a:pPr indent="0" marL="0">
              <a:lnSpc>
                <a:spcPts val="1600"/>
              </a:lnSpc>
              <a:buNone/>
            </a:pPr>
            <a:r>
              <a:rPr lang="en-US" sz="1350" b="1" dirty="0">
                <a:solidFill>
                  <a:srgbClr val="102A54"/>
                </a:solidFill>
                <a:latin typeface="Calibri" pitchFamily="34" charset="0"/>
                <a:ea typeface="Calibri" pitchFamily="34" charset="-122"/>
                <a:cs typeface="Calibri" pitchFamily="34" charset="-120"/>
              </a:rPr>
              <a:t>Judgment.</a:t>
            </a:r>
            <a:pPr indent="0" marL="0">
              <a:lnSpc>
                <a:spcPts val="1600"/>
              </a:lnSpc>
              <a:buNone/>
            </a:pPr>
            <a:r>
              <a:rPr lang="en-US" sz="1350" dirty="0">
                <a:solidFill>
                  <a:srgbClr val="22303C"/>
                </a:solidFill>
                <a:latin typeface="Calibri" pitchFamily="34" charset="0"/>
                <a:ea typeface="Calibri" pitchFamily="34" charset="-122"/>
                <a:cs typeface="Calibri" pitchFamily="34" charset="-120"/>
              </a:rPr>
              <a:t> Did I make the strategic calls, not the model</a:t>
            </a:r>
            <a:endParaRPr lang="en-US" sz="1350" dirty="0"/>
          </a:p>
        </p:txBody>
      </p:sp>
      <p:sp>
        <p:nvSpPr>
          <p:cNvPr id="15" name="Shape 13"/>
          <p:cNvSpPr/>
          <p:nvPr/>
        </p:nvSpPr>
        <p:spPr>
          <a:xfrm>
            <a:off x="4800600" y="1956816"/>
            <a:ext cx="182880" cy="182880"/>
          </a:xfrm>
          <a:prstGeom prst="roundRect">
            <a:avLst>
              <a:gd name="adj" fmla="val 10000"/>
            </a:avLst>
          </a:prstGeom>
          <a:ln w="19050">
            <a:solidFill>
              <a:srgbClr val="6F8FAF"/>
            </a:solidFill>
            <a:prstDash val="solid"/>
          </a:ln>
        </p:spPr>
      </p:sp>
      <p:sp>
        <p:nvSpPr>
          <p:cNvPr id="16" name="Text 14"/>
          <p:cNvSpPr/>
          <p:nvPr/>
        </p:nvSpPr>
        <p:spPr>
          <a:xfrm>
            <a:off x="5093208" y="1920240"/>
            <a:ext cx="3575304" cy="457200"/>
          </a:xfrm>
          <a:prstGeom prst="rect">
            <a:avLst/>
          </a:prstGeom>
          <a:noFill/>
          <a:ln/>
        </p:spPr>
        <p:txBody>
          <a:bodyPr wrap="square" rtlCol="0" anchor="t"/>
          <a:lstStyle/>
          <a:p>
            <a:pPr indent="0" marL="0">
              <a:lnSpc>
                <a:spcPts val="1600"/>
              </a:lnSpc>
              <a:buNone/>
            </a:pPr>
            <a:pPr indent="0" marL="0">
              <a:lnSpc>
                <a:spcPts val="1600"/>
              </a:lnSpc>
              <a:buNone/>
            </a:pPr>
            <a:r>
              <a:rPr lang="en-US" sz="1350" b="1" dirty="0">
                <a:solidFill>
                  <a:srgbClr val="102A54"/>
                </a:solidFill>
                <a:latin typeface="Calibri" pitchFamily="34" charset="0"/>
                <a:ea typeface="Calibri" pitchFamily="34" charset="-122"/>
                <a:cs typeface="Calibri" pitchFamily="34" charset="-120"/>
              </a:rPr>
              <a:t>Candor.</a:t>
            </a:r>
            <a:pPr indent="0" marL="0">
              <a:lnSpc>
                <a:spcPts val="1600"/>
              </a:lnSpc>
              <a:buNone/>
            </a:pPr>
            <a:r>
              <a:rPr lang="en-US" sz="1350" dirty="0">
                <a:solidFill>
                  <a:srgbClr val="22303C"/>
                </a:solidFill>
                <a:latin typeface="Calibri" pitchFamily="34" charset="0"/>
                <a:ea typeface="Calibri" pitchFamily="34" charset="-122"/>
                <a:cs typeface="Calibri" pitchFamily="34" charset="-120"/>
              </a:rPr>
              <a:t> Is everything I will file actually true</a:t>
            </a:r>
            <a:endParaRPr lang="en-US" sz="1350" dirty="0"/>
          </a:p>
        </p:txBody>
      </p:sp>
      <p:sp>
        <p:nvSpPr>
          <p:cNvPr id="17" name="Shape 15"/>
          <p:cNvSpPr/>
          <p:nvPr/>
        </p:nvSpPr>
        <p:spPr>
          <a:xfrm>
            <a:off x="4800600" y="2414016"/>
            <a:ext cx="182880" cy="182880"/>
          </a:xfrm>
          <a:prstGeom prst="roundRect">
            <a:avLst>
              <a:gd name="adj" fmla="val 10000"/>
            </a:avLst>
          </a:prstGeom>
          <a:ln w="19050">
            <a:solidFill>
              <a:srgbClr val="6F8FAF"/>
            </a:solidFill>
            <a:prstDash val="solid"/>
          </a:ln>
        </p:spPr>
      </p:sp>
      <p:sp>
        <p:nvSpPr>
          <p:cNvPr id="18" name="Text 16"/>
          <p:cNvSpPr/>
          <p:nvPr/>
        </p:nvSpPr>
        <p:spPr>
          <a:xfrm>
            <a:off x="5093208" y="2377440"/>
            <a:ext cx="3575304" cy="457200"/>
          </a:xfrm>
          <a:prstGeom prst="rect">
            <a:avLst/>
          </a:prstGeom>
          <a:noFill/>
          <a:ln/>
        </p:spPr>
        <p:txBody>
          <a:bodyPr wrap="square" rtlCol="0" anchor="t"/>
          <a:lstStyle/>
          <a:p>
            <a:pPr indent="0" marL="0">
              <a:lnSpc>
                <a:spcPts val="1600"/>
              </a:lnSpc>
              <a:buNone/>
            </a:pPr>
            <a:pPr indent="0" marL="0">
              <a:lnSpc>
                <a:spcPts val="1600"/>
              </a:lnSpc>
              <a:buNone/>
            </a:pPr>
            <a:r>
              <a:rPr lang="en-US" sz="1350" b="1" dirty="0">
                <a:solidFill>
                  <a:srgbClr val="102A54"/>
                </a:solidFill>
                <a:latin typeface="Calibri" pitchFamily="34" charset="0"/>
                <a:ea typeface="Calibri" pitchFamily="34" charset="-122"/>
                <a:cs typeface="Calibri" pitchFamily="34" charset="-120"/>
              </a:rPr>
              <a:t>Supervision.</a:t>
            </a:r>
            <a:pPr indent="0" marL="0">
              <a:lnSpc>
                <a:spcPts val="1600"/>
              </a:lnSpc>
              <a:buNone/>
            </a:pPr>
            <a:r>
              <a:rPr lang="en-US" sz="1350" dirty="0">
                <a:solidFill>
                  <a:srgbClr val="22303C"/>
                </a:solidFill>
                <a:latin typeface="Calibri" pitchFamily="34" charset="0"/>
                <a:ea typeface="Calibri" pitchFamily="34" charset="-122"/>
                <a:cs typeface="Calibri" pitchFamily="34" charset="-120"/>
              </a:rPr>
              <a:t> Did I review this like a new associate's draft</a:t>
            </a:r>
            <a:endParaRPr lang="en-US" sz="1350" dirty="0"/>
          </a:p>
        </p:txBody>
      </p:sp>
      <p:sp>
        <p:nvSpPr>
          <p:cNvPr id="19" name="Shape 17"/>
          <p:cNvSpPr/>
          <p:nvPr/>
        </p:nvSpPr>
        <p:spPr>
          <a:xfrm>
            <a:off x="4800600" y="2871216"/>
            <a:ext cx="182880" cy="182880"/>
          </a:xfrm>
          <a:prstGeom prst="roundRect">
            <a:avLst>
              <a:gd name="adj" fmla="val 10000"/>
            </a:avLst>
          </a:prstGeom>
          <a:ln w="19050">
            <a:solidFill>
              <a:srgbClr val="6F8FAF"/>
            </a:solidFill>
            <a:prstDash val="solid"/>
          </a:ln>
        </p:spPr>
      </p:sp>
      <p:sp>
        <p:nvSpPr>
          <p:cNvPr id="20" name="Text 18"/>
          <p:cNvSpPr/>
          <p:nvPr/>
        </p:nvSpPr>
        <p:spPr>
          <a:xfrm>
            <a:off x="5093208" y="2834640"/>
            <a:ext cx="3575304" cy="457200"/>
          </a:xfrm>
          <a:prstGeom prst="rect">
            <a:avLst/>
          </a:prstGeom>
          <a:noFill/>
          <a:ln/>
        </p:spPr>
        <p:txBody>
          <a:bodyPr wrap="square" rtlCol="0" anchor="t"/>
          <a:lstStyle/>
          <a:p>
            <a:pPr indent="0" marL="0">
              <a:lnSpc>
                <a:spcPts val="1600"/>
              </a:lnSpc>
              <a:buNone/>
            </a:pPr>
            <a:pPr indent="0" marL="0">
              <a:lnSpc>
                <a:spcPts val="1600"/>
              </a:lnSpc>
              <a:buNone/>
            </a:pPr>
            <a:r>
              <a:rPr lang="en-US" sz="1350" b="1" dirty="0">
                <a:solidFill>
                  <a:srgbClr val="102A54"/>
                </a:solidFill>
                <a:latin typeface="Calibri" pitchFamily="34" charset="0"/>
                <a:ea typeface="Calibri" pitchFamily="34" charset="-122"/>
                <a:cs typeface="Calibri" pitchFamily="34" charset="-120"/>
              </a:rPr>
              <a:t>Record.</a:t>
            </a:r>
            <a:pPr indent="0" marL="0">
              <a:lnSpc>
                <a:spcPts val="1600"/>
              </a:lnSpc>
              <a:buNone/>
            </a:pPr>
            <a:r>
              <a:rPr lang="en-US" sz="1350" dirty="0">
                <a:solidFill>
                  <a:srgbClr val="22303C"/>
                </a:solidFill>
                <a:latin typeface="Calibri" pitchFamily="34" charset="0"/>
                <a:ea typeface="Calibri" pitchFamily="34" charset="-122"/>
                <a:cs typeface="Calibri" pitchFamily="34" charset="-120"/>
              </a:rPr>
              <a:t> Can I explain later how this work was produced</a:t>
            </a:r>
            <a:endParaRPr lang="en-US" sz="1350" dirty="0"/>
          </a:p>
        </p:txBody>
      </p:sp>
      <p:sp>
        <p:nvSpPr>
          <p:cNvPr id="21" name="Shape 19"/>
          <p:cNvSpPr/>
          <p:nvPr/>
        </p:nvSpPr>
        <p:spPr>
          <a:xfrm>
            <a:off x="457200" y="3438144"/>
            <a:ext cx="8229600" cy="640080"/>
          </a:xfrm>
          <a:prstGeom prst="roundRect">
            <a:avLst>
              <a:gd name="adj" fmla="val 7143"/>
            </a:avLst>
          </a:prstGeom>
          <a:solidFill>
            <a:srgbClr val="102A54"/>
          </a:solidFill>
          <a:ln/>
        </p:spPr>
      </p:sp>
      <p:sp>
        <p:nvSpPr>
          <p:cNvPr id="22" name="Text 20"/>
          <p:cNvSpPr/>
          <p:nvPr/>
        </p:nvSpPr>
        <p:spPr>
          <a:xfrm>
            <a:off x="731520" y="3511296"/>
            <a:ext cx="7680960" cy="493776"/>
          </a:xfrm>
          <a:prstGeom prst="rect">
            <a:avLst/>
          </a:prstGeom>
          <a:noFill/>
          <a:ln/>
        </p:spPr>
        <p:txBody>
          <a:bodyPr wrap="square" rtlCol="0" anchor="ctr"/>
          <a:lstStyle/>
          <a:p>
            <a:pPr indent="0" marL="0">
              <a:lnSpc>
                <a:spcPts val="1700"/>
              </a:lnSpc>
              <a:buNone/>
            </a:pPr>
            <a:pPr indent="0" marL="0">
              <a:lnSpc>
                <a:spcPts val="1700"/>
              </a:lnSpc>
              <a:buNone/>
            </a:pPr>
            <a:r>
              <a:rPr lang="en-US" sz="1350" b="1" i="1" dirty="0">
                <a:solidFill>
                  <a:srgbClr val="FFFFFF"/>
                </a:solidFill>
                <a:latin typeface="Calibri" pitchFamily="34" charset="0"/>
                <a:ea typeface="Calibri" pitchFamily="34" charset="-122"/>
                <a:cs typeface="Calibri" pitchFamily="34" charset="-120"/>
              </a:rPr>
              <a:t>One page, every time.</a:t>
            </a:r>
            <a:pPr indent="0" marL="0">
              <a:lnSpc>
                <a:spcPts val="1700"/>
              </a:lnSpc>
              <a:buNone/>
            </a:pPr>
            <a:r>
              <a:rPr lang="en-US" sz="1350" i="1" dirty="0">
                <a:solidFill>
                  <a:srgbClr val="C8D2DC"/>
                </a:solidFill>
                <a:latin typeface="Calibri" pitchFamily="34" charset="0"/>
                <a:ea typeface="Calibri" pitchFamily="34" charset="-122"/>
                <a:cs typeface="Calibri" pitchFamily="34" charset="-120"/>
              </a:rPr>
              <a:t> If any box is unchecked, the work is not ready to leave your desk.</a:t>
            </a:r>
            <a:endParaRPr lang="en-US" sz="1350" dirty="0"/>
          </a:p>
        </p:txBody>
      </p:sp>
      <p:sp>
        <p:nvSpPr>
          <p:cNvPr id="23" name="Shape 21"/>
          <p:cNvSpPr/>
          <p:nvPr/>
        </p:nvSpPr>
        <p:spPr>
          <a:xfrm>
            <a:off x="0" y="4686300"/>
            <a:ext cx="9144000" cy="457200"/>
          </a:xfrm>
          <a:prstGeom prst="rect">
            <a:avLst/>
          </a:prstGeom>
          <a:solidFill>
            <a:srgbClr val="102A54"/>
          </a:solidFill>
          <a:ln/>
        </p:spPr>
      </p:sp>
      <p:sp>
        <p:nvSpPr>
          <p:cNvPr id="24" name="Shape 22"/>
          <p:cNvSpPr/>
          <p:nvPr/>
        </p:nvSpPr>
        <p:spPr>
          <a:xfrm>
            <a:off x="0" y="4654296"/>
            <a:ext cx="9144000" cy="32004"/>
          </a:xfrm>
          <a:prstGeom prst="rect">
            <a:avLst/>
          </a:prstGeom>
          <a:solidFill>
            <a:srgbClr val="6F8FAF"/>
          </a:solidFill>
          <a:ln/>
        </p:spPr>
      </p:sp>
      <p:sp>
        <p:nvSpPr>
          <p:cNvPr id="25" name="Text 23"/>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6" name="Text 24"/>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7" name="Text 25"/>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CLEAR RULES</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Do and do not</a:t>
            </a:r>
            <a:endParaRPr lang="en-US" sz="2500" dirty="0"/>
          </a:p>
        </p:txBody>
      </p:sp>
      <p:sp>
        <p:nvSpPr>
          <p:cNvPr id="5" name="Shape 3"/>
          <p:cNvSpPr/>
          <p:nvPr/>
        </p:nvSpPr>
        <p:spPr>
          <a:xfrm>
            <a:off x="457200" y="1463040"/>
            <a:ext cx="3977640" cy="2651760"/>
          </a:xfrm>
          <a:prstGeom prst="roundRect">
            <a:avLst>
              <a:gd name="adj" fmla="val 1724"/>
            </a:avLst>
          </a:prstGeom>
          <a:solidFill>
            <a:srgbClr val="E4EDF7"/>
          </a:solidFill>
          <a:ln w="15240">
            <a:solidFill>
              <a:srgbClr val="93AFCE"/>
            </a:solidFill>
            <a:prstDash val="solid"/>
          </a:ln>
        </p:spPr>
      </p:sp>
      <p:sp>
        <p:nvSpPr>
          <p:cNvPr id="6" name="Text 4"/>
          <p:cNvSpPr/>
          <p:nvPr/>
        </p:nvSpPr>
        <p:spPr>
          <a:xfrm>
            <a:off x="640080" y="1591056"/>
            <a:ext cx="3611880" cy="320040"/>
          </a:xfrm>
          <a:prstGeom prst="rect">
            <a:avLst/>
          </a:prstGeom>
          <a:noFill/>
          <a:ln/>
        </p:spPr>
        <p:txBody>
          <a:bodyPr wrap="square" rtlCol="0" anchor="ctr"/>
          <a:lstStyle/>
          <a:p>
            <a:pPr indent="0" marL="0">
              <a:buNone/>
            </a:pPr>
            <a:r>
              <a:rPr lang="en-US" sz="1400" b="1" dirty="0">
                <a:solidFill>
                  <a:srgbClr val="2F5F8F"/>
                </a:solidFill>
                <a:latin typeface="Georgia" pitchFamily="34" charset="0"/>
                <a:ea typeface="Georgia" pitchFamily="34" charset="-122"/>
                <a:cs typeface="Georgia" pitchFamily="34" charset="-120"/>
              </a:rPr>
              <a:t>Do</a:t>
            </a:r>
            <a:endParaRPr lang="en-US" sz="1400" dirty="0"/>
          </a:p>
        </p:txBody>
      </p:sp>
      <p:sp>
        <p:nvSpPr>
          <p:cNvPr id="7" name="Text 5"/>
          <p:cNvSpPr/>
          <p:nvPr/>
        </p:nvSpPr>
        <p:spPr>
          <a:xfrm>
            <a:off x="713232" y="2011680"/>
            <a:ext cx="3520440" cy="1993392"/>
          </a:xfrm>
          <a:prstGeom prst="rect">
            <a:avLst/>
          </a:prstGeom>
          <a:noFill/>
          <a:ln/>
        </p:spPr>
        <p:txBody>
          <a:bodyPr wrap="square" rtlCol="0" anchor="t"/>
          <a:lstStyle/>
          <a:p>
            <a:pPr marL="342900" indent="-342900">
              <a:lnSpc>
                <a:spcPts val="1500"/>
              </a:lnSpc>
              <a:spcAft>
                <a:spcPts val="500"/>
              </a:spcAft>
              <a:buSzPct val="100000"/>
              <a:buChar char="✓"/>
            </a:pPr>
            <a:r>
              <a:rPr lang="en-US" sz="1200" dirty="0">
                <a:solidFill>
                  <a:srgbClr val="2A4A6E"/>
                </a:solidFill>
                <a:latin typeface="Calibri" pitchFamily="34" charset="0"/>
                <a:ea typeface="Calibri" pitchFamily="34" charset="-122"/>
                <a:cs typeface="Calibri" pitchFamily="34" charset="-120"/>
              </a:rPr>
              <a:t>Use AI to draft, summarize, outline, and brainstorm angles</a:t>
            </a:r>
            <a:endParaRPr lang="en-US" sz="1200" dirty="0"/>
          </a:p>
          <a:p>
            <a:pPr marL="342900" indent="-342900">
              <a:lnSpc>
                <a:spcPts val="1500"/>
              </a:lnSpc>
              <a:spcAft>
                <a:spcPts val="500"/>
              </a:spcAft>
              <a:buSzPct val="100000"/>
              <a:buChar char="✓"/>
            </a:pPr>
            <a:r>
              <a:rPr lang="en-US" sz="1200" dirty="0">
                <a:solidFill>
                  <a:srgbClr val="2A4A6E"/>
                </a:solidFill>
                <a:latin typeface="Calibri" pitchFamily="34" charset="0"/>
                <a:ea typeface="Calibri" pitchFamily="34" charset="-122"/>
                <a:cs typeface="Calibri" pitchFamily="34" charset="-120"/>
              </a:rPr>
              <a:t>Ground it in statutes, opinions, and your own materials</a:t>
            </a:r>
            <a:endParaRPr lang="en-US" sz="1200" dirty="0"/>
          </a:p>
          <a:p>
            <a:pPr marL="342900" indent="-342900">
              <a:lnSpc>
                <a:spcPts val="1500"/>
              </a:lnSpc>
              <a:spcAft>
                <a:spcPts val="500"/>
              </a:spcAft>
              <a:buSzPct val="100000"/>
              <a:buChar char="✓"/>
            </a:pPr>
            <a:r>
              <a:rPr lang="en-US" sz="1200" dirty="0">
                <a:solidFill>
                  <a:srgbClr val="2A4A6E"/>
                </a:solidFill>
                <a:latin typeface="Calibri" pitchFamily="34" charset="0"/>
                <a:ea typeface="Calibri" pitchFamily="34" charset="-122"/>
                <a:cs typeface="Calibri" pitchFamily="34" charset="-120"/>
              </a:rPr>
              <a:t>Verify every citation in a real database before you cite it</a:t>
            </a:r>
            <a:endParaRPr lang="en-US" sz="1200" dirty="0"/>
          </a:p>
          <a:p>
            <a:pPr marL="342900" indent="-342900">
              <a:lnSpc>
                <a:spcPts val="1500"/>
              </a:lnSpc>
              <a:spcAft>
                <a:spcPts val="500"/>
              </a:spcAft>
              <a:buSzPct val="100000"/>
              <a:buChar char="✓"/>
            </a:pPr>
            <a:r>
              <a:rPr lang="en-US" sz="1200" dirty="0">
                <a:solidFill>
                  <a:srgbClr val="2A4A6E"/>
                </a:solidFill>
                <a:latin typeface="Calibri" pitchFamily="34" charset="0"/>
                <a:ea typeface="Calibri" pitchFamily="34" charset="-122"/>
                <a:cs typeface="Calibri" pitchFamily="34" charset="-120"/>
              </a:rPr>
              <a:t>Use fictional or de-identified facts in consumer tools</a:t>
            </a:r>
            <a:endParaRPr lang="en-US" sz="1200" dirty="0"/>
          </a:p>
          <a:p>
            <a:pPr marL="342900" indent="-342900">
              <a:lnSpc>
                <a:spcPts val="1500"/>
              </a:lnSpc>
              <a:spcAft>
                <a:spcPts val="500"/>
              </a:spcAft>
              <a:buSzPct val="100000"/>
              <a:buChar char="✓"/>
            </a:pPr>
            <a:r>
              <a:rPr lang="en-US" sz="1200" dirty="0">
                <a:solidFill>
                  <a:srgbClr val="2A4A6E"/>
                </a:solidFill>
                <a:latin typeface="Calibri" pitchFamily="34" charset="0"/>
                <a:ea typeface="Calibri" pitchFamily="34" charset="-122"/>
                <a:cs typeface="Calibri" pitchFamily="34" charset="-120"/>
              </a:rPr>
              <a:t>Keep the final judgment, and the signature, yours</a:t>
            </a:r>
            <a:endParaRPr lang="en-US" sz="1200" dirty="0"/>
          </a:p>
        </p:txBody>
      </p:sp>
      <p:sp>
        <p:nvSpPr>
          <p:cNvPr id="8" name="Shape 6"/>
          <p:cNvSpPr/>
          <p:nvPr/>
        </p:nvSpPr>
        <p:spPr>
          <a:xfrm>
            <a:off x="4709160" y="1463040"/>
            <a:ext cx="3977640" cy="2651760"/>
          </a:xfrm>
          <a:prstGeom prst="roundRect">
            <a:avLst>
              <a:gd name="adj" fmla="val 1724"/>
            </a:avLst>
          </a:prstGeom>
          <a:solidFill>
            <a:srgbClr val="F1F3F6"/>
          </a:solidFill>
          <a:ln w="15240">
            <a:solidFill>
              <a:srgbClr val="CBD4DE"/>
            </a:solidFill>
            <a:prstDash val="solid"/>
          </a:ln>
        </p:spPr>
      </p:sp>
      <p:sp>
        <p:nvSpPr>
          <p:cNvPr id="9" name="Text 7"/>
          <p:cNvSpPr/>
          <p:nvPr/>
        </p:nvSpPr>
        <p:spPr>
          <a:xfrm>
            <a:off x="4892040" y="1591056"/>
            <a:ext cx="3611880" cy="320040"/>
          </a:xfrm>
          <a:prstGeom prst="rect">
            <a:avLst/>
          </a:prstGeom>
          <a:noFill/>
          <a:ln/>
        </p:spPr>
        <p:txBody>
          <a:bodyPr wrap="square" rtlCol="0" anchor="ctr"/>
          <a:lstStyle/>
          <a:p>
            <a:pPr indent="0" marL="0">
              <a:buNone/>
            </a:pPr>
            <a:r>
              <a:rPr lang="en-US" sz="1400" b="1" dirty="0">
                <a:solidFill>
                  <a:srgbClr val="102A54"/>
                </a:solidFill>
                <a:latin typeface="Georgia" pitchFamily="34" charset="0"/>
                <a:ea typeface="Georgia" pitchFamily="34" charset="-122"/>
                <a:cs typeface="Georgia" pitchFamily="34" charset="-120"/>
              </a:rPr>
              <a:t>Do not</a:t>
            </a:r>
            <a:endParaRPr lang="en-US" sz="1400" dirty="0"/>
          </a:p>
        </p:txBody>
      </p:sp>
      <p:sp>
        <p:nvSpPr>
          <p:cNvPr id="10" name="Text 8"/>
          <p:cNvSpPr/>
          <p:nvPr/>
        </p:nvSpPr>
        <p:spPr>
          <a:xfrm>
            <a:off x="4965192" y="2011680"/>
            <a:ext cx="3520440" cy="1993392"/>
          </a:xfrm>
          <a:prstGeom prst="rect">
            <a:avLst/>
          </a:prstGeom>
          <a:noFill/>
          <a:ln/>
        </p:spPr>
        <p:txBody>
          <a:bodyPr wrap="square" rtlCol="0" anchor="t"/>
          <a:lstStyle/>
          <a:p>
            <a:pPr marL="342900" indent="-342900">
              <a:lnSpc>
                <a:spcPts val="1500"/>
              </a:lnSpc>
              <a:spcAft>
                <a:spcPts val="500"/>
              </a:spcAft>
              <a:buSzPct val="100000"/>
              <a:buChar char="✗"/>
            </a:pPr>
            <a:r>
              <a:rPr lang="en-US" sz="1200" dirty="0">
                <a:solidFill>
                  <a:srgbClr val="1B2E48"/>
                </a:solidFill>
                <a:latin typeface="Calibri" pitchFamily="34" charset="0"/>
                <a:ea typeface="Calibri" pitchFamily="34" charset="-122"/>
                <a:cs typeface="Calibri" pitchFamily="34" charset="-120"/>
              </a:rPr>
              <a:t>File anything with a citation you have not personally read</a:t>
            </a:r>
            <a:endParaRPr lang="en-US" sz="1200" dirty="0"/>
          </a:p>
          <a:p>
            <a:pPr marL="342900" indent="-342900">
              <a:lnSpc>
                <a:spcPts val="1500"/>
              </a:lnSpc>
              <a:spcAft>
                <a:spcPts val="500"/>
              </a:spcAft>
              <a:buSzPct val="100000"/>
              <a:buChar char="✗"/>
            </a:pPr>
            <a:r>
              <a:rPr lang="en-US" sz="1200" dirty="0">
                <a:solidFill>
                  <a:srgbClr val="1B2E48"/>
                </a:solidFill>
                <a:latin typeface="Calibri" pitchFamily="34" charset="0"/>
                <a:ea typeface="Calibri" pitchFamily="34" charset="-122"/>
                <a:cs typeface="Calibri" pitchFamily="34" charset="-120"/>
              </a:rPr>
              <a:t>Paste privileged or client-identifying facts into consumer tools</a:t>
            </a:r>
            <a:endParaRPr lang="en-US" sz="1200" dirty="0"/>
          </a:p>
          <a:p>
            <a:pPr marL="342900" indent="-342900">
              <a:lnSpc>
                <a:spcPts val="1500"/>
              </a:lnSpc>
              <a:spcAft>
                <a:spcPts val="500"/>
              </a:spcAft>
              <a:buSzPct val="100000"/>
              <a:buChar char="✗"/>
            </a:pPr>
            <a:r>
              <a:rPr lang="en-US" sz="1200" dirty="0">
                <a:solidFill>
                  <a:srgbClr val="1B2E48"/>
                </a:solidFill>
                <a:latin typeface="Calibri" pitchFamily="34" charset="0"/>
                <a:ea typeface="Calibri" pitchFamily="34" charset="-122"/>
                <a:cs typeface="Calibri" pitchFamily="34" charset="-120"/>
              </a:rPr>
              <a:t>Treat a confident answer as a verified one</a:t>
            </a:r>
            <a:endParaRPr lang="en-US" sz="1200" dirty="0"/>
          </a:p>
          <a:p>
            <a:pPr marL="342900" indent="-342900">
              <a:lnSpc>
                <a:spcPts val="1500"/>
              </a:lnSpc>
              <a:spcAft>
                <a:spcPts val="500"/>
              </a:spcAft>
              <a:buSzPct val="100000"/>
              <a:buChar char="✗"/>
            </a:pPr>
            <a:r>
              <a:rPr lang="en-US" sz="1200" dirty="0">
                <a:solidFill>
                  <a:srgbClr val="1B2E48"/>
                </a:solidFill>
                <a:latin typeface="Calibri" pitchFamily="34" charset="0"/>
                <a:ea typeface="Calibri" pitchFamily="34" charset="-122"/>
                <a:cs typeface="Calibri" pitchFamily="34" charset="-120"/>
              </a:rPr>
              <a:t>Let the model choose strategy or make the call for a client</a:t>
            </a:r>
            <a:endParaRPr lang="en-US" sz="1200" dirty="0"/>
          </a:p>
          <a:p>
            <a:pPr marL="342900" indent="-342900">
              <a:lnSpc>
                <a:spcPts val="1500"/>
              </a:lnSpc>
              <a:spcAft>
                <a:spcPts val="500"/>
              </a:spcAft>
              <a:buSzPct val="100000"/>
              <a:buChar char="✗"/>
            </a:pPr>
            <a:r>
              <a:rPr lang="en-US" sz="1200" dirty="0">
                <a:solidFill>
                  <a:srgbClr val="1B2E48"/>
                </a:solidFill>
                <a:latin typeface="Calibri" pitchFamily="34" charset="0"/>
                <a:ea typeface="Calibri" pitchFamily="34" charset="-122"/>
                <a:cs typeface="Calibri" pitchFamily="34" charset="-120"/>
              </a:rPr>
              <a:t>Assume grounding or a clean format removes your duty to check</a:t>
            </a:r>
            <a:endParaRPr lang="en-US" sz="1200" dirty="0"/>
          </a:p>
        </p:txBody>
      </p:sp>
      <p:sp>
        <p:nvSpPr>
          <p:cNvPr id="11" name="Shape 9"/>
          <p:cNvSpPr/>
          <p:nvPr/>
        </p:nvSpPr>
        <p:spPr>
          <a:xfrm>
            <a:off x="0" y="4686300"/>
            <a:ext cx="9144000" cy="457200"/>
          </a:xfrm>
          <a:prstGeom prst="rect">
            <a:avLst/>
          </a:prstGeom>
          <a:solidFill>
            <a:srgbClr val="102A54"/>
          </a:solidFill>
          <a:ln/>
        </p:spPr>
      </p:sp>
      <p:sp>
        <p:nvSpPr>
          <p:cNvPr id="12" name="Shape 10"/>
          <p:cNvSpPr/>
          <p:nvPr/>
        </p:nvSpPr>
        <p:spPr>
          <a:xfrm>
            <a:off x="0" y="4654296"/>
            <a:ext cx="9144000" cy="32004"/>
          </a:xfrm>
          <a:prstGeom prst="rect">
            <a:avLst/>
          </a:prstGeom>
          <a:solidFill>
            <a:srgbClr val="6F8FAF"/>
          </a:solidFill>
          <a:ln/>
        </p:spPr>
      </p:sp>
      <p:sp>
        <p:nvSpPr>
          <p:cNvPr id="13" name="Text 11"/>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4" name="Text 12"/>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5" name="Text 13"/>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THE RECORD THAT PROTECTS YOU</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What to document, review, and verify</a:t>
            </a:r>
            <a:endParaRPr lang="en-US" sz="2500" dirty="0"/>
          </a:p>
        </p:txBody>
      </p:sp>
      <p:sp>
        <p:nvSpPr>
          <p:cNvPr id="5" name="Shape 3"/>
          <p:cNvSpPr/>
          <p:nvPr/>
        </p:nvSpPr>
        <p:spPr>
          <a:xfrm>
            <a:off x="457200" y="1463040"/>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457200" y="1463040"/>
            <a:ext cx="54864" cy="1417320"/>
          </a:xfrm>
          <a:prstGeom prst="rect">
            <a:avLst/>
          </a:prstGeom>
          <a:solidFill>
            <a:srgbClr val="102A54"/>
          </a:solidFill>
          <a:ln/>
        </p:spPr>
      </p:sp>
      <p:sp>
        <p:nvSpPr>
          <p:cNvPr id="7" name="Text 5"/>
          <p:cNvSpPr/>
          <p:nvPr/>
        </p:nvSpPr>
        <p:spPr>
          <a:xfrm>
            <a:off x="621792" y="1572768"/>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  Document</a:t>
            </a:r>
            <a:endParaRPr lang="en-US" sz="1350" dirty="0"/>
          </a:p>
        </p:txBody>
      </p:sp>
      <p:sp>
        <p:nvSpPr>
          <p:cNvPr id="8" name="Text 6"/>
          <p:cNvSpPr/>
          <p:nvPr/>
        </p:nvSpPr>
        <p:spPr>
          <a:xfrm>
            <a:off x="621792" y="1965960"/>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Which tool, for which task, on what facts. A one-line note in the file is enough for most work.</a:t>
            </a:r>
            <a:endParaRPr lang="en-US" sz="1100" dirty="0"/>
          </a:p>
        </p:txBody>
      </p:sp>
      <p:sp>
        <p:nvSpPr>
          <p:cNvPr id="9" name="Shape 7"/>
          <p:cNvSpPr/>
          <p:nvPr/>
        </p:nvSpPr>
        <p:spPr>
          <a:xfrm>
            <a:off x="3267456" y="1463040"/>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3267456" y="1463040"/>
            <a:ext cx="54864" cy="1417320"/>
          </a:xfrm>
          <a:prstGeom prst="rect">
            <a:avLst/>
          </a:prstGeom>
          <a:solidFill>
            <a:srgbClr val="6F8FAF"/>
          </a:solidFill>
          <a:ln/>
        </p:spPr>
      </p:sp>
      <p:sp>
        <p:nvSpPr>
          <p:cNvPr id="11" name="Text 9"/>
          <p:cNvSpPr/>
          <p:nvPr/>
        </p:nvSpPr>
        <p:spPr>
          <a:xfrm>
            <a:off x="3432048" y="1572768"/>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  Review</a:t>
            </a:r>
            <a:endParaRPr lang="en-US" sz="1350" dirty="0"/>
          </a:p>
        </p:txBody>
      </p:sp>
      <p:sp>
        <p:nvSpPr>
          <p:cNvPr id="12" name="Text 10"/>
          <p:cNvSpPr/>
          <p:nvPr/>
        </p:nvSpPr>
        <p:spPr>
          <a:xfrm>
            <a:off x="3432048" y="1965960"/>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Read the full output as the responsible attorney. Edit for accuracy, tone, and fit to this client.</a:t>
            </a:r>
            <a:endParaRPr lang="en-US" sz="1100" dirty="0"/>
          </a:p>
        </p:txBody>
      </p:sp>
      <p:sp>
        <p:nvSpPr>
          <p:cNvPr id="13" name="Shape 11"/>
          <p:cNvSpPr/>
          <p:nvPr/>
        </p:nvSpPr>
        <p:spPr>
          <a:xfrm>
            <a:off x="6077712" y="1463040"/>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6077712" y="1463040"/>
            <a:ext cx="54864" cy="1417320"/>
          </a:xfrm>
          <a:prstGeom prst="rect">
            <a:avLst/>
          </a:prstGeom>
          <a:solidFill>
            <a:srgbClr val="102A54"/>
          </a:solidFill>
          <a:ln/>
        </p:spPr>
      </p:sp>
      <p:sp>
        <p:nvSpPr>
          <p:cNvPr id="15" name="Text 13"/>
          <p:cNvSpPr/>
          <p:nvPr/>
        </p:nvSpPr>
        <p:spPr>
          <a:xfrm>
            <a:off x="6242304" y="1572768"/>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  Verify</a:t>
            </a:r>
            <a:endParaRPr lang="en-US" sz="1350" dirty="0"/>
          </a:p>
        </p:txBody>
      </p:sp>
      <p:sp>
        <p:nvSpPr>
          <p:cNvPr id="16" name="Text 14"/>
          <p:cNvSpPr/>
          <p:nvPr/>
        </p:nvSpPr>
        <p:spPr>
          <a:xfrm>
            <a:off x="6242304" y="1965960"/>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Confirm every legal authority and factual claim against a real source before it goes anywhere.</a:t>
            </a:r>
            <a:endParaRPr lang="en-US" sz="1100" dirty="0"/>
          </a:p>
        </p:txBody>
      </p:sp>
      <p:sp>
        <p:nvSpPr>
          <p:cNvPr id="17" name="Shape 15"/>
          <p:cNvSpPr/>
          <p:nvPr/>
        </p:nvSpPr>
        <p:spPr>
          <a:xfrm>
            <a:off x="457200" y="3026664"/>
            <a:ext cx="8229600" cy="868680"/>
          </a:xfrm>
          <a:prstGeom prst="roundRect">
            <a:avLst>
              <a:gd name="adj" fmla="val 5263"/>
            </a:avLst>
          </a:prstGeom>
          <a:solidFill>
            <a:srgbClr val="C8D2DC"/>
          </a:solidFill>
          <a:ln/>
        </p:spPr>
      </p:sp>
      <p:sp>
        <p:nvSpPr>
          <p:cNvPr id="18" name="Shape 16"/>
          <p:cNvSpPr/>
          <p:nvPr/>
        </p:nvSpPr>
        <p:spPr>
          <a:xfrm>
            <a:off x="457200" y="3026664"/>
            <a:ext cx="64008" cy="868680"/>
          </a:xfrm>
          <a:prstGeom prst="rect">
            <a:avLst/>
          </a:prstGeom>
          <a:solidFill>
            <a:srgbClr val="102A54"/>
          </a:solidFill>
          <a:ln/>
        </p:spPr>
      </p:sp>
      <p:sp>
        <p:nvSpPr>
          <p:cNvPr id="19" name="Text 17"/>
          <p:cNvSpPr/>
          <p:nvPr/>
        </p:nvSpPr>
        <p:spPr>
          <a:xfrm>
            <a:off x="685800" y="3136392"/>
            <a:ext cx="7772400" cy="219456"/>
          </a:xfrm>
          <a:prstGeom prst="rect">
            <a:avLst/>
          </a:prstGeom>
          <a:noFill/>
          <a:ln/>
        </p:spPr>
        <p:txBody>
          <a:bodyPr wrap="square" rtlCol="0" anchor="ctr"/>
          <a:lstStyle/>
          <a:p>
            <a:pPr indent="0" marL="0">
              <a:buNone/>
            </a:pPr>
            <a:r>
              <a:rPr lang="en-US" sz="1000" b="1" spc="200" kern="0" dirty="0">
                <a:solidFill>
                  <a:srgbClr val="2F5F8F"/>
                </a:solidFill>
                <a:latin typeface="Calibri" pitchFamily="34" charset="0"/>
                <a:ea typeface="Calibri" pitchFamily="34" charset="-122"/>
                <a:cs typeface="Calibri" pitchFamily="34" charset="-120"/>
              </a:rPr>
              <a:t>WHY BOTHER</a:t>
            </a:r>
            <a:endParaRPr lang="en-US" sz="1000" dirty="0"/>
          </a:p>
        </p:txBody>
      </p:sp>
      <p:sp>
        <p:nvSpPr>
          <p:cNvPr id="20" name="Text 18"/>
          <p:cNvSpPr/>
          <p:nvPr/>
        </p:nvSpPr>
        <p:spPr>
          <a:xfrm>
            <a:off x="685800" y="3355848"/>
            <a:ext cx="7772400" cy="448056"/>
          </a:xfrm>
          <a:prstGeom prst="rect">
            <a:avLst/>
          </a:prstGeom>
          <a:noFill/>
          <a:ln/>
        </p:spPr>
        <p:txBody>
          <a:bodyPr wrap="square" rtlCol="0" anchor="t"/>
          <a:lstStyle/>
          <a:p>
            <a:pPr indent="0" marL="0">
              <a:lnSpc>
                <a:spcPts val="1900"/>
              </a:lnSpc>
              <a:buNone/>
            </a:pPr>
            <a:r>
              <a:rPr lang="en-US" sz="1500" dirty="0">
                <a:solidFill>
                  <a:srgbClr val="0B1D33"/>
                </a:solidFill>
                <a:latin typeface="Georgia" pitchFamily="34" charset="0"/>
                <a:ea typeface="Georgia" pitchFamily="34" charset="-122"/>
                <a:cs typeface="Georgia" pitchFamily="34" charset="-120"/>
              </a:rPr>
              <a:t>A short record turns a hard question into an easy answer. You used a tool, you supervised it, and you verified the result.</a:t>
            </a:r>
            <a:endParaRPr lang="en-US" sz="1500" dirty="0"/>
          </a:p>
        </p:txBody>
      </p:sp>
      <p:sp>
        <p:nvSpPr>
          <p:cNvPr id="21" name="Shape 19"/>
          <p:cNvSpPr/>
          <p:nvPr/>
        </p:nvSpPr>
        <p:spPr>
          <a:xfrm>
            <a:off x="0" y="4686300"/>
            <a:ext cx="9144000" cy="457200"/>
          </a:xfrm>
          <a:prstGeom prst="rect">
            <a:avLst/>
          </a:prstGeom>
          <a:solidFill>
            <a:srgbClr val="102A54"/>
          </a:solidFill>
          <a:ln/>
        </p:spPr>
      </p:sp>
      <p:sp>
        <p:nvSpPr>
          <p:cNvPr id="22" name="Shape 20"/>
          <p:cNvSpPr/>
          <p:nvPr/>
        </p:nvSpPr>
        <p:spPr>
          <a:xfrm>
            <a:off x="0" y="4654296"/>
            <a:ext cx="9144000" cy="32004"/>
          </a:xfrm>
          <a:prstGeom prst="rect">
            <a:avLst/>
          </a:prstGeom>
          <a:solidFill>
            <a:srgbClr val="6F8FAF"/>
          </a:solidFill>
          <a:ln/>
        </p:spPr>
      </p:sp>
      <p:sp>
        <p:nvSpPr>
          <p:cNvPr id="23" name="Text 21"/>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4" name="Text 22"/>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5" name="Text 23"/>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FIT TEST</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A quick test for whether AI belongs on a task</a:t>
            </a:r>
            <a:endParaRPr lang="en-US" sz="2500" dirty="0"/>
          </a:p>
        </p:txBody>
      </p:sp>
      <p:sp>
        <p:nvSpPr>
          <p:cNvPr id="5" name="Shape 3"/>
          <p:cNvSpPr/>
          <p:nvPr/>
        </p:nvSpPr>
        <p:spPr>
          <a:xfrm>
            <a:off x="457200" y="1463040"/>
            <a:ext cx="3977640" cy="2286000"/>
          </a:xfrm>
          <a:prstGeom prst="roundRect">
            <a:avLst>
              <a:gd name="adj" fmla="val 2000"/>
            </a:avLst>
          </a:prstGeom>
          <a:solidFill>
            <a:srgbClr val="F7F9FC"/>
          </a:solidFill>
          <a:ln w="12700">
            <a:solidFill>
              <a:srgbClr val="D8DEE6"/>
            </a:solidFill>
            <a:prstDash val="solid"/>
          </a:ln>
        </p:spPr>
      </p:sp>
      <p:sp>
        <p:nvSpPr>
          <p:cNvPr id="6" name="Shape 4"/>
          <p:cNvSpPr/>
          <p:nvPr/>
        </p:nvSpPr>
        <p:spPr>
          <a:xfrm>
            <a:off x="457200" y="1463040"/>
            <a:ext cx="3977640" cy="64008"/>
          </a:xfrm>
          <a:prstGeom prst="rect">
            <a:avLst/>
          </a:prstGeom>
          <a:solidFill>
            <a:srgbClr val="102A54"/>
          </a:solidFill>
          <a:ln/>
        </p:spPr>
      </p:sp>
      <p:sp>
        <p:nvSpPr>
          <p:cNvPr id="7" name="Text 5"/>
          <p:cNvSpPr/>
          <p:nvPr/>
        </p:nvSpPr>
        <p:spPr>
          <a:xfrm>
            <a:off x="640080" y="1609344"/>
            <a:ext cx="3611880" cy="365760"/>
          </a:xfrm>
          <a:prstGeom prst="rect">
            <a:avLst/>
          </a:prstGeom>
          <a:noFill/>
          <a:ln/>
        </p:spPr>
        <p:txBody>
          <a:bodyPr wrap="square" rtlCol="0" anchor="ctr"/>
          <a:lstStyle/>
          <a:p>
            <a:pPr indent="0" marL="0">
              <a:buNone/>
            </a:pPr>
            <a:r>
              <a:rPr lang="en-US" sz="1500" b="1" dirty="0">
                <a:solidFill>
                  <a:srgbClr val="102A54"/>
                </a:solidFill>
                <a:latin typeface="Georgia" pitchFamily="34" charset="0"/>
                <a:ea typeface="Georgia" pitchFamily="34" charset="-122"/>
                <a:cs typeface="Georgia" pitchFamily="34" charset="-120"/>
              </a:rPr>
              <a:t>Good fit</a:t>
            </a:r>
            <a:endParaRPr lang="en-US" sz="1500" dirty="0"/>
          </a:p>
        </p:txBody>
      </p:sp>
      <p:sp>
        <p:nvSpPr>
          <p:cNvPr id="8" name="Text 6"/>
          <p:cNvSpPr/>
          <p:nvPr/>
        </p:nvSpPr>
        <p:spPr>
          <a:xfrm>
            <a:off x="713232" y="2029968"/>
            <a:ext cx="3520440" cy="1600200"/>
          </a:xfrm>
          <a:prstGeom prst="rect">
            <a:avLst/>
          </a:prstGeom>
          <a:noFill/>
          <a:ln/>
        </p:spPr>
        <p:txBody>
          <a:bodyPr wrap="square" rtlCol="0" anchor="t"/>
          <a:lstStyle/>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First drafts you will heavily edit</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Summaries of documents you can check</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Brainstorming defenses and counterarguments</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Reworking tone, length, and clarity</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Organizing facts you provide</a:t>
            </a:r>
            <a:endParaRPr lang="en-US" sz="1250" dirty="0"/>
          </a:p>
        </p:txBody>
      </p:sp>
      <p:sp>
        <p:nvSpPr>
          <p:cNvPr id="9" name="Shape 7"/>
          <p:cNvSpPr/>
          <p:nvPr/>
        </p:nvSpPr>
        <p:spPr>
          <a:xfrm>
            <a:off x="4709160" y="1463040"/>
            <a:ext cx="3977640" cy="2286000"/>
          </a:xfrm>
          <a:prstGeom prst="roundRect">
            <a:avLst>
              <a:gd name="adj" fmla="val 2000"/>
            </a:avLst>
          </a:prstGeom>
          <a:solidFill>
            <a:srgbClr val="F7F9FC"/>
          </a:solidFill>
          <a:ln w="12700">
            <a:solidFill>
              <a:srgbClr val="D8DEE6"/>
            </a:solidFill>
            <a:prstDash val="solid"/>
          </a:ln>
        </p:spPr>
      </p:sp>
      <p:sp>
        <p:nvSpPr>
          <p:cNvPr id="10" name="Shape 8"/>
          <p:cNvSpPr/>
          <p:nvPr/>
        </p:nvSpPr>
        <p:spPr>
          <a:xfrm>
            <a:off x="4709160" y="1463040"/>
            <a:ext cx="3977640" cy="64008"/>
          </a:xfrm>
          <a:prstGeom prst="rect">
            <a:avLst/>
          </a:prstGeom>
          <a:solidFill>
            <a:srgbClr val="6F8FAF"/>
          </a:solidFill>
          <a:ln/>
        </p:spPr>
      </p:sp>
      <p:sp>
        <p:nvSpPr>
          <p:cNvPr id="11" name="Text 9"/>
          <p:cNvSpPr/>
          <p:nvPr/>
        </p:nvSpPr>
        <p:spPr>
          <a:xfrm>
            <a:off x="4892040" y="1609344"/>
            <a:ext cx="3611880" cy="365760"/>
          </a:xfrm>
          <a:prstGeom prst="rect">
            <a:avLst/>
          </a:prstGeom>
          <a:noFill/>
          <a:ln/>
        </p:spPr>
        <p:txBody>
          <a:bodyPr wrap="square" rtlCol="0" anchor="ctr"/>
          <a:lstStyle/>
          <a:p>
            <a:pPr indent="0" marL="0">
              <a:buNone/>
            </a:pPr>
            <a:r>
              <a:rPr lang="en-US" sz="1500" b="1" dirty="0">
                <a:solidFill>
                  <a:srgbClr val="102A54"/>
                </a:solidFill>
                <a:latin typeface="Georgia" pitchFamily="34" charset="0"/>
                <a:ea typeface="Georgia" pitchFamily="34" charset="-122"/>
                <a:cs typeface="Georgia" pitchFamily="34" charset="-120"/>
              </a:rPr>
              <a:t>Poor fit</a:t>
            </a:r>
            <a:endParaRPr lang="en-US" sz="1500" dirty="0"/>
          </a:p>
        </p:txBody>
      </p:sp>
      <p:sp>
        <p:nvSpPr>
          <p:cNvPr id="12" name="Text 10"/>
          <p:cNvSpPr/>
          <p:nvPr/>
        </p:nvSpPr>
        <p:spPr>
          <a:xfrm>
            <a:off x="4965192" y="2029968"/>
            <a:ext cx="3520440" cy="1600200"/>
          </a:xfrm>
          <a:prstGeom prst="rect">
            <a:avLst/>
          </a:prstGeom>
          <a:noFill/>
          <a:ln/>
        </p:spPr>
        <p:txBody>
          <a:bodyPr wrap="square" rtlCol="0" anchor="t"/>
          <a:lstStyle/>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Final legal authority without verification</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Privileged facts in a consumer tool</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Strategic decisions that belong to you and the client</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Tasks you cannot evaluate for correctness</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Client-facing output sent without review</a:t>
            </a:r>
            <a:endParaRPr lang="en-US" sz="1250" dirty="0"/>
          </a:p>
        </p:txBody>
      </p:sp>
      <p:sp>
        <p:nvSpPr>
          <p:cNvPr id="13" name="Shape 11"/>
          <p:cNvSpPr/>
          <p:nvPr/>
        </p:nvSpPr>
        <p:spPr>
          <a:xfrm>
            <a:off x="457200" y="3895344"/>
            <a:ext cx="8229600" cy="640080"/>
          </a:xfrm>
          <a:prstGeom prst="roundRect">
            <a:avLst>
              <a:gd name="adj" fmla="val 7143"/>
            </a:avLst>
          </a:prstGeom>
          <a:solidFill>
            <a:srgbClr val="102A54"/>
          </a:solidFill>
          <a:ln/>
        </p:spPr>
      </p:sp>
      <p:sp>
        <p:nvSpPr>
          <p:cNvPr id="14" name="Text 12"/>
          <p:cNvSpPr/>
          <p:nvPr/>
        </p:nvSpPr>
        <p:spPr>
          <a:xfrm>
            <a:off x="731520" y="3968496"/>
            <a:ext cx="7680960" cy="493776"/>
          </a:xfrm>
          <a:prstGeom prst="rect">
            <a:avLst/>
          </a:prstGeom>
          <a:noFill/>
          <a:ln/>
        </p:spPr>
        <p:txBody>
          <a:bodyPr wrap="square" rtlCol="0" anchor="ctr"/>
          <a:lstStyle/>
          <a:p>
            <a:pPr indent="0" marL="0">
              <a:lnSpc>
                <a:spcPts val="1700"/>
              </a:lnSpc>
              <a:buNone/>
            </a:pPr>
            <a:pPr indent="0" marL="0">
              <a:lnSpc>
                <a:spcPts val="1700"/>
              </a:lnSpc>
              <a:buNone/>
            </a:pPr>
            <a:r>
              <a:rPr lang="en-US" sz="1350" b="1" i="1" dirty="0">
                <a:solidFill>
                  <a:srgbClr val="FFFFFF"/>
                </a:solidFill>
                <a:latin typeface="Calibri" pitchFamily="34" charset="0"/>
                <a:ea typeface="Calibri" pitchFamily="34" charset="-122"/>
                <a:cs typeface="Calibri" pitchFamily="34" charset="-120"/>
              </a:rPr>
              <a:t>The test.</a:t>
            </a:r>
            <a:pPr indent="0" marL="0">
              <a:lnSpc>
                <a:spcPts val="1700"/>
              </a:lnSpc>
              <a:buNone/>
            </a:pPr>
            <a:r>
              <a:rPr lang="en-US" sz="1350" i="1" dirty="0">
                <a:solidFill>
                  <a:srgbClr val="C8D2DC"/>
                </a:solidFill>
                <a:latin typeface="Calibri" pitchFamily="34" charset="0"/>
                <a:ea typeface="Calibri" pitchFamily="34" charset="-122"/>
                <a:cs typeface="Calibri" pitchFamily="34" charset="-120"/>
              </a:rPr>
              <a:t> If you can supervise it and verify it, it may be a fit. If you cannot, it is not.</a:t>
            </a:r>
            <a:endParaRPr lang="en-US" sz="1350" dirty="0"/>
          </a:p>
        </p:txBody>
      </p:sp>
      <p:sp>
        <p:nvSpPr>
          <p:cNvPr id="15" name="Shape 13"/>
          <p:cNvSpPr/>
          <p:nvPr/>
        </p:nvSpPr>
        <p:spPr>
          <a:xfrm>
            <a:off x="0" y="4686300"/>
            <a:ext cx="9144000" cy="457200"/>
          </a:xfrm>
          <a:prstGeom prst="rect">
            <a:avLst/>
          </a:prstGeom>
          <a:solidFill>
            <a:srgbClr val="102A54"/>
          </a:solidFill>
          <a:ln/>
        </p:spPr>
      </p:sp>
      <p:sp>
        <p:nvSpPr>
          <p:cNvPr id="16" name="Shape 14"/>
          <p:cNvSpPr/>
          <p:nvPr/>
        </p:nvSpPr>
        <p:spPr>
          <a:xfrm>
            <a:off x="0" y="4654296"/>
            <a:ext cx="9144000" cy="32004"/>
          </a:xfrm>
          <a:prstGeom prst="rect">
            <a:avLst/>
          </a:prstGeom>
          <a:solidFill>
            <a:srgbClr val="6F8FAF"/>
          </a:solidFill>
          <a:ln/>
        </p:spPr>
      </p:sp>
      <p:sp>
        <p:nvSpPr>
          <p:cNvPr id="17" name="Text 15"/>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8" name="Text 16"/>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9" name="Text 17"/>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BEYOND THE CHATBOT</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Purpose-built tooling and your own bot</a:t>
            </a:r>
            <a:endParaRPr lang="en-US" sz="2500" dirty="0"/>
          </a:p>
        </p:txBody>
      </p:sp>
      <p:sp>
        <p:nvSpPr>
          <p:cNvPr id="5" name="Shape 3"/>
          <p:cNvSpPr/>
          <p:nvPr/>
        </p:nvSpPr>
        <p:spPr>
          <a:xfrm>
            <a:off x="457200" y="1463040"/>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457200" y="1463040"/>
            <a:ext cx="54864" cy="1325880"/>
          </a:xfrm>
          <a:prstGeom prst="rect">
            <a:avLst/>
          </a:prstGeom>
          <a:solidFill>
            <a:srgbClr val="102A54"/>
          </a:solidFill>
          <a:ln/>
        </p:spPr>
      </p:sp>
      <p:sp>
        <p:nvSpPr>
          <p:cNvPr id="7" name="Text 5"/>
          <p:cNvSpPr/>
          <p:nvPr/>
        </p:nvSpPr>
        <p:spPr>
          <a:xfrm>
            <a:off x="621792" y="1572768"/>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Claude for Legal</a:t>
            </a:r>
            <a:endParaRPr lang="en-US" sz="1350" dirty="0"/>
          </a:p>
        </p:txBody>
      </p:sp>
      <p:sp>
        <p:nvSpPr>
          <p:cNvPr id="8" name="Text 6"/>
          <p:cNvSpPr/>
          <p:nvPr/>
        </p:nvSpPr>
        <p:spPr>
          <a:xfrm>
            <a:off x="621792" y="1965960"/>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Practice-area tooling that treats every output as a draft for attorney review, flags unverified citations, and gates irreversible steps. A model for how legal AI should behave.</a:t>
            </a:r>
            <a:endParaRPr lang="en-US" sz="1100" dirty="0"/>
          </a:p>
        </p:txBody>
      </p:sp>
      <p:sp>
        <p:nvSpPr>
          <p:cNvPr id="9" name="Shape 7"/>
          <p:cNvSpPr/>
          <p:nvPr/>
        </p:nvSpPr>
        <p:spPr>
          <a:xfrm>
            <a:off x="4672584" y="1463040"/>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4672584" y="1463040"/>
            <a:ext cx="54864" cy="1325880"/>
          </a:xfrm>
          <a:prstGeom prst="rect">
            <a:avLst/>
          </a:prstGeom>
          <a:solidFill>
            <a:srgbClr val="6F8FAF"/>
          </a:solidFill>
          <a:ln/>
        </p:spPr>
      </p:sp>
      <p:sp>
        <p:nvSpPr>
          <p:cNvPr id="11" name="Text 9"/>
          <p:cNvSpPr/>
          <p:nvPr/>
        </p:nvSpPr>
        <p:spPr>
          <a:xfrm>
            <a:off x="4837176" y="1572768"/>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Your BoodleBox LegalAI bot</a:t>
            </a:r>
            <a:endParaRPr lang="en-US" sz="1350" dirty="0"/>
          </a:p>
        </p:txBody>
      </p:sp>
      <p:sp>
        <p:nvSpPr>
          <p:cNvPr id="12" name="Text 10"/>
          <p:cNvSpPr/>
          <p:nvPr/>
        </p:nvSpPr>
        <p:spPr>
          <a:xfrm>
            <a:off x="4837176" y="1965960"/>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The resources page includes knowledge files and custom instructions to build a defense-focused bot that carries the TCDLAi framework and the guardrails by default.</a:t>
            </a:r>
            <a:endParaRPr lang="en-US" sz="1100" dirty="0"/>
          </a:p>
        </p:txBody>
      </p:sp>
      <p:sp>
        <p:nvSpPr>
          <p:cNvPr id="13" name="Shape 11"/>
          <p:cNvSpPr/>
          <p:nvPr/>
        </p:nvSpPr>
        <p:spPr>
          <a:xfrm>
            <a:off x="457200" y="2935224"/>
            <a:ext cx="8229600" cy="868680"/>
          </a:xfrm>
          <a:prstGeom prst="roundRect">
            <a:avLst>
              <a:gd name="adj" fmla="val 5263"/>
            </a:avLst>
          </a:prstGeom>
          <a:solidFill>
            <a:srgbClr val="102A54"/>
          </a:solidFill>
          <a:ln/>
        </p:spPr>
      </p:sp>
      <p:sp>
        <p:nvSpPr>
          <p:cNvPr id="14" name="Shape 12"/>
          <p:cNvSpPr/>
          <p:nvPr/>
        </p:nvSpPr>
        <p:spPr>
          <a:xfrm>
            <a:off x="457200" y="2935224"/>
            <a:ext cx="64008" cy="868680"/>
          </a:xfrm>
          <a:prstGeom prst="rect">
            <a:avLst/>
          </a:prstGeom>
          <a:solidFill>
            <a:srgbClr val="6F8FAF"/>
          </a:solidFill>
          <a:ln/>
        </p:spPr>
      </p:sp>
      <p:sp>
        <p:nvSpPr>
          <p:cNvPr id="15" name="Text 13"/>
          <p:cNvSpPr/>
          <p:nvPr/>
        </p:nvSpPr>
        <p:spPr>
          <a:xfrm>
            <a:off x="685800" y="3044952"/>
            <a:ext cx="7772400" cy="219456"/>
          </a:xfrm>
          <a:prstGeom prst="rect">
            <a:avLst/>
          </a:prstGeom>
          <a:noFill/>
          <a:ln/>
        </p:spPr>
        <p:txBody>
          <a:bodyPr wrap="square" rtlCol="0" anchor="ctr"/>
          <a:lstStyle/>
          <a:p>
            <a:pPr indent="0" marL="0">
              <a:buNone/>
            </a:pPr>
            <a:r>
              <a:rPr lang="en-US" sz="1000" b="1" spc="200" kern="0" dirty="0">
                <a:solidFill>
                  <a:srgbClr val="6F8FAF"/>
                </a:solidFill>
                <a:latin typeface="Calibri" pitchFamily="34" charset="0"/>
                <a:ea typeface="Calibri" pitchFamily="34" charset="-122"/>
                <a:cs typeface="Calibri" pitchFamily="34" charset="-120"/>
              </a:rPr>
              <a:t>THE THROUGH-LINE</a:t>
            </a:r>
            <a:endParaRPr lang="en-US" sz="1000" dirty="0"/>
          </a:p>
        </p:txBody>
      </p:sp>
      <p:sp>
        <p:nvSpPr>
          <p:cNvPr id="16" name="Text 14"/>
          <p:cNvSpPr/>
          <p:nvPr/>
        </p:nvSpPr>
        <p:spPr>
          <a:xfrm>
            <a:off x="685800" y="3264408"/>
            <a:ext cx="7772400" cy="448056"/>
          </a:xfrm>
          <a:prstGeom prst="rect">
            <a:avLst/>
          </a:prstGeom>
          <a:noFill/>
          <a:ln/>
        </p:spPr>
        <p:txBody>
          <a:bodyPr wrap="square" rtlCol="0" anchor="t"/>
          <a:lstStyle/>
          <a:p>
            <a:pPr indent="0" marL="0">
              <a:lnSpc>
                <a:spcPts val="1900"/>
              </a:lnSpc>
              <a:buNone/>
            </a:pPr>
            <a:r>
              <a:rPr lang="en-US" sz="1500" dirty="0">
                <a:solidFill>
                  <a:srgbClr val="FFFFFF"/>
                </a:solidFill>
                <a:latin typeface="Georgia" pitchFamily="34" charset="0"/>
                <a:ea typeface="Georgia" pitchFamily="34" charset="-122"/>
                <a:cs typeface="Georgia" pitchFamily="34" charset="-120"/>
              </a:rPr>
              <a:t>Whether the tool is general or built for law, the standard does not move. It drafts, you verify, you decide, you sign.</a:t>
            </a:r>
            <a:endParaRPr lang="en-US" sz="1500" dirty="0"/>
          </a:p>
        </p:txBody>
      </p:sp>
      <p:sp>
        <p:nvSpPr>
          <p:cNvPr id="17" name="Shape 15"/>
          <p:cNvSpPr/>
          <p:nvPr/>
        </p:nvSpPr>
        <p:spPr>
          <a:xfrm>
            <a:off x="0" y="4686300"/>
            <a:ext cx="9144000" cy="457200"/>
          </a:xfrm>
          <a:prstGeom prst="rect">
            <a:avLst/>
          </a:prstGeom>
          <a:solidFill>
            <a:srgbClr val="102A54"/>
          </a:solidFill>
          <a:ln/>
        </p:spPr>
      </p:sp>
      <p:sp>
        <p:nvSpPr>
          <p:cNvPr id="18" name="Shape 16"/>
          <p:cNvSpPr/>
          <p:nvPr/>
        </p:nvSpPr>
        <p:spPr>
          <a:xfrm>
            <a:off x="0" y="4654296"/>
            <a:ext cx="9144000" cy="32004"/>
          </a:xfrm>
          <a:prstGeom prst="rect">
            <a:avLst/>
          </a:prstGeom>
          <a:solidFill>
            <a:srgbClr val="6F8FAF"/>
          </a:solidFill>
          <a:ln/>
        </p:spPr>
      </p:sp>
      <p:sp>
        <p:nvSpPr>
          <p:cNvPr id="19" name="Text 17"/>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0" name="Text 18"/>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1" name="Text 19"/>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TAKE THESE WITH YOU</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Everything is on the resources page</a:t>
            </a:r>
            <a:endParaRPr lang="en-US" sz="2500" dirty="0"/>
          </a:p>
        </p:txBody>
      </p:sp>
      <p:sp>
        <p:nvSpPr>
          <p:cNvPr id="5" name="Shape 3"/>
          <p:cNvSpPr/>
          <p:nvPr/>
        </p:nvSpPr>
        <p:spPr>
          <a:xfrm>
            <a:off x="457200" y="1463040"/>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457200" y="1463040"/>
            <a:ext cx="54864" cy="1325880"/>
          </a:xfrm>
          <a:prstGeom prst="rect">
            <a:avLst/>
          </a:prstGeom>
          <a:solidFill>
            <a:srgbClr val="6F8FAF"/>
          </a:solidFill>
          <a:ln/>
        </p:spPr>
      </p:sp>
      <p:sp>
        <p:nvSpPr>
          <p:cNvPr id="7" name="Text 5"/>
          <p:cNvSpPr/>
          <p:nvPr/>
        </p:nvSpPr>
        <p:spPr>
          <a:xfrm>
            <a:off x="621792" y="1572768"/>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TCDLAi Prompt Design Guide</a:t>
            </a:r>
            <a:endParaRPr lang="en-US" sz="1350" dirty="0"/>
          </a:p>
        </p:txBody>
      </p:sp>
      <p:sp>
        <p:nvSpPr>
          <p:cNvPr id="8" name="Text 6"/>
          <p:cNvSpPr/>
          <p:nvPr/>
        </p:nvSpPr>
        <p:spPr>
          <a:xfrm>
            <a:off x="621792" y="1965960"/>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The six-move framework, with example defense prompts for each letter.</a:t>
            </a:r>
            <a:endParaRPr lang="en-US" sz="1100" dirty="0"/>
          </a:p>
        </p:txBody>
      </p:sp>
      <p:sp>
        <p:nvSpPr>
          <p:cNvPr id="9" name="Shape 7"/>
          <p:cNvSpPr/>
          <p:nvPr/>
        </p:nvSpPr>
        <p:spPr>
          <a:xfrm>
            <a:off x="4672584" y="1463040"/>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4672584" y="1463040"/>
            <a:ext cx="54864" cy="1325880"/>
          </a:xfrm>
          <a:prstGeom prst="rect">
            <a:avLst/>
          </a:prstGeom>
          <a:solidFill>
            <a:srgbClr val="102A54"/>
          </a:solidFill>
          <a:ln/>
        </p:spPr>
      </p:sp>
      <p:sp>
        <p:nvSpPr>
          <p:cNvPr id="11" name="Text 9"/>
          <p:cNvSpPr/>
          <p:nvPr/>
        </p:nvSpPr>
        <p:spPr>
          <a:xfrm>
            <a:off x="4837176" y="1572768"/>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Ethical guardrail checklist</a:t>
            </a:r>
            <a:endParaRPr lang="en-US" sz="1350" dirty="0"/>
          </a:p>
        </p:txBody>
      </p:sp>
      <p:sp>
        <p:nvSpPr>
          <p:cNvPr id="12" name="Text 10"/>
          <p:cNvSpPr/>
          <p:nvPr/>
        </p:nvSpPr>
        <p:spPr>
          <a:xfrm>
            <a:off x="4837176" y="1965960"/>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The eight-point, one-page check you run before relying on any output.</a:t>
            </a:r>
            <a:endParaRPr lang="en-US" sz="1100" dirty="0"/>
          </a:p>
        </p:txBody>
      </p:sp>
      <p:sp>
        <p:nvSpPr>
          <p:cNvPr id="13" name="Shape 11"/>
          <p:cNvSpPr/>
          <p:nvPr/>
        </p:nvSpPr>
        <p:spPr>
          <a:xfrm>
            <a:off x="457200" y="2953512"/>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457200" y="2953512"/>
            <a:ext cx="54864" cy="1325880"/>
          </a:xfrm>
          <a:prstGeom prst="rect">
            <a:avLst/>
          </a:prstGeom>
          <a:solidFill>
            <a:srgbClr val="102A54"/>
          </a:solidFill>
          <a:ln/>
        </p:spPr>
      </p:sp>
      <p:sp>
        <p:nvSpPr>
          <p:cNvPr id="15" name="Text 13"/>
          <p:cNvSpPr/>
          <p:nvPr/>
        </p:nvSpPr>
        <p:spPr>
          <a:xfrm>
            <a:off x="621792" y="3063240"/>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Legal prompt library</a:t>
            </a:r>
            <a:endParaRPr lang="en-US" sz="1350" dirty="0"/>
          </a:p>
        </p:txBody>
      </p:sp>
      <p:sp>
        <p:nvSpPr>
          <p:cNvPr id="16" name="Text 14"/>
          <p:cNvSpPr/>
          <p:nvPr/>
        </p:nvSpPr>
        <p:spPr>
          <a:xfrm>
            <a:off x="621792" y="3456432"/>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Prompts sorted by type and task, each written to push toward verification.</a:t>
            </a:r>
            <a:endParaRPr lang="en-US" sz="1100" dirty="0"/>
          </a:p>
        </p:txBody>
      </p:sp>
      <p:sp>
        <p:nvSpPr>
          <p:cNvPr id="17" name="Shape 15"/>
          <p:cNvSpPr/>
          <p:nvPr/>
        </p:nvSpPr>
        <p:spPr>
          <a:xfrm>
            <a:off x="4672584" y="2953512"/>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8" name="Shape 16"/>
          <p:cNvSpPr/>
          <p:nvPr/>
        </p:nvSpPr>
        <p:spPr>
          <a:xfrm>
            <a:off x="4672584" y="2953512"/>
            <a:ext cx="54864" cy="1325880"/>
          </a:xfrm>
          <a:prstGeom prst="rect">
            <a:avLst/>
          </a:prstGeom>
          <a:solidFill>
            <a:srgbClr val="6F8FAF"/>
          </a:solidFill>
          <a:ln/>
        </p:spPr>
      </p:sp>
      <p:sp>
        <p:nvSpPr>
          <p:cNvPr id="19" name="Text 17"/>
          <p:cNvSpPr/>
          <p:nvPr/>
        </p:nvSpPr>
        <p:spPr>
          <a:xfrm>
            <a:off x="4837176" y="3063240"/>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BoodleBox LegalAI bot files</a:t>
            </a:r>
            <a:endParaRPr lang="en-US" sz="1350" dirty="0"/>
          </a:p>
        </p:txBody>
      </p:sp>
      <p:sp>
        <p:nvSpPr>
          <p:cNvPr id="20" name="Text 18"/>
          <p:cNvSpPr/>
          <p:nvPr/>
        </p:nvSpPr>
        <p:spPr>
          <a:xfrm>
            <a:off x="4837176" y="3456432"/>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Custom instructions and knowledge files, ready to upload and build.</a:t>
            </a:r>
            <a:endParaRPr lang="en-US" sz="1100" dirty="0"/>
          </a:p>
        </p:txBody>
      </p:sp>
      <p:sp>
        <p:nvSpPr>
          <p:cNvPr id="21" name="Shape 19"/>
          <p:cNvSpPr/>
          <p:nvPr/>
        </p:nvSpPr>
        <p:spPr>
          <a:xfrm>
            <a:off x="0" y="4686300"/>
            <a:ext cx="9144000" cy="457200"/>
          </a:xfrm>
          <a:prstGeom prst="rect">
            <a:avLst/>
          </a:prstGeom>
          <a:solidFill>
            <a:srgbClr val="102A54"/>
          </a:solidFill>
          <a:ln/>
        </p:spPr>
      </p:sp>
      <p:sp>
        <p:nvSpPr>
          <p:cNvPr id="22" name="Shape 20"/>
          <p:cNvSpPr/>
          <p:nvPr/>
        </p:nvSpPr>
        <p:spPr>
          <a:xfrm>
            <a:off x="0" y="4654296"/>
            <a:ext cx="9144000" cy="32004"/>
          </a:xfrm>
          <a:prstGeom prst="rect">
            <a:avLst/>
          </a:prstGeom>
          <a:solidFill>
            <a:srgbClr val="6F8FAF"/>
          </a:solidFill>
          <a:ln/>
        </p:spPr>
      </p:sp>
      <p:sp>
        <p:nvSpPr>
          <p:cNvPr id="23" name="Text 21"/>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4" name="Text 22"/>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5" name="Text 23"/>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D33"/>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6F8FAF"/>
          </a:solidFill>
          <a:ln/>
        </p:spPr>
      </p:sp>
      <p:sp>
        <p:nvSpPr>
          <p:cNvPr id="3" name="Text 1"/>
          <p:cNvSpPr/>
          <p:nvPr/>
        </p:nvSpPr>
        <p:spPr>
          <a:xfrm>
            <a:off x="777240" y="1234440"/>
            <a:ext cx="7955280" cy="274320"/>
          </a:xfrm>
          <a:prstGeom prst="rect">
            <a:avLst/>
          </a:prstGeom>
          <a:noFill/>
          <a:ln/>
        </p:spPr>
        <p:txBody>
          <a:bodyPr wrap="square" rtlCol="0" anchor="ctr"/>
          <a:lstStyle/>
          <a:p>
            <a:pPr indent="0" marL="0">
              <a:buNone/>
            </a:pPr>
            <a:r>
              <a:rPr lang="en-US" sz="1200" b="1" spc="300" kern="0" dirty="0">
                <a:solidFill>
                  <a:srgbClr val="6F8FAF"/>
                </a:solidFill>
                <a:latin typeface="Calibri" pitchFamily="34" charset="0"/>
                <a:ea typeface="Calibri" pitchFamily="34" charset="-122"/>
                <a:cs typeface="Calibri" pitchFamily="34" charset="-120"/>
              </a:rPr>
              <a:t>THANK YOU</a:t>
            </a:r>
            <a:endParaRPr lang="en-US" sz="1200" dirty="0"/>
          </a:p>
        </p:txBody>
      </p:sp>
      <p:sp>
        <p:nvSpPr>
          <p:cNvPr id="4" name="Text 2"/>
          <p:cNvSpPr/>
          <p:nvPr/>
        </p:nvSpPr>
        <p:spPr>
          <a:xfrm>
            <a:off x="777240" y="1645920"/>
            <a:ext cx="7863840" cy="914400"/>
          </a:xfrm>
          <a:prstGeom prst="rect">
            <a:avLst/>
          </a:prstGeom>
          <a:noFill/>
          <a:ln/>
        </p:spPr>
        <p:txBody>
          <a:bodyPr wrap="square" rtlCol="0" anchor="ctr"/>
          <a:lstStyle/>
          <a:p>
            <a:pPr indent="0" marL="0">
              <a:lnSpc>
                <a:spcPts val="4200"/>
              </a:lnSpc>
              <a:buNone/>
            </a:pPr>
            <a:r>
              <a:rPr lang="en-US" sz="4000" b="1" dirty="0">
                <a:solidFill>
                  <a:srgbClr val="FFFFFF"/>
                </a:solidFill>
                <a:latin typeface="Georgia" pitchFamily="34" charset="0"/>
                <a:ea typeface="Georgia" pitchFamily="34" charset="-122"/>
                <a:cs typeface="Georgia" pitchFamily="34" charset="-120"/>
              </a:rPr>
              <a:t>Draft with the tool. Decide as the lawyer.</a:t>
            </a:r>
            <a:endParaRPr lang="en-US" sz="4000" dirty="0"/>
          </a:p>
        </p:txBody>
      </p:sp>
      <p:sp>
        <p:nvSpPr>
          <p:cNvPr id="5" name="Text 3"/>
          <p:cNvSpPr/>
          <p:nvPr/>
        </p:nvSpPr>
        <p:spPr>
          <a:xfrm>
            <a:off x="777240" y="2606040"/>
            <a:ext cx="7498080" cy="457200"/>
          </a:xfrm>
          <a:prstGeom prst="rect">
            <a:avLst/>
          </a:prstGeom>
          <a:noFill/>
          <a:ln/>
        </p:spPr>
        <p:txBody>
          <a:bodyPr wrap="square" rtlCol="0" anchor="ctr"/>
          <a:lstStyle/>
          <a:p>
            <a:pPr indent="0" marL="0">
              <a:buNone/>
            </a:pPr>
            <a:r>
              <a:rPr lang="en-US" sz="1900" i="1" dirty="0">
                <a:solidFill>
                  <a:srgbClr val="C8D2DC"/>
                </a:solidFill>
                <a:latin typeface="Georgia" pitchFamily="34" charset="0"/>
                <a:ea typeface="Georgia" pitchFamily="34" charset="-122"/>
                <a:cs typeface="Georgia" pitchFamily="34" charset="-120"/>
              </a:rPr>
              <a:t>If you keep one habit, open the source and verify the citation, every time.</a:t>
            </a:r>
            <a:endParaRPr lang="en-US" sz="1900" dirty="0"/>
          </a:p>
        </p:txBody>
      </p:sp>
      <p:sp>
        <p:nvSpPr>
          <p:cNvPr id="6" name="Text 4"/>
          <p:cNvSpPr/>
          <p:nvPr/>
        </p:nvSpPr>
        <p:spPr>
          <a:xfrm>
            <a:off x="777240" y="3246120"/>
            <a:ext cx="7680960" cy="1005840"/>
          </a:xfrm>
          <a:prstGeom prst="rect">
            <a:avLst/>
          </a:prstGeom>
          <a:noFill/>
          <a:ln/>
        </p:spPr>
        <p:txBody>
          <a:bodyPr wrap="square" rtlCol="0" anchor="ctr"/>
          <a:lstStyle/>
          <a:p>
            <a:pPr indent="0" marL="0">
              <a:lnSpc>
                <a:spcPts val="2000"/>
              </a:lnSpc>
              <a:buNone/>
            </a:pPr>
            <a:r>
              <a:rPr lang="en-US" sz="1250" dirty="0">
                <a:solidFill>
                  <a:srgbClr val="AEC0E0"/>
                </a:solidFill>
                <a:latin typeface="Calibri" pitchFamily="34" charset="0"/>
                <a:ea typeface="Calibri" pitchFamily="34" charset="-122"/>
                <a:cs typeface="Calibri" pitchFamily="34" charset="-120"/>
              </a:rPr>
              <a:t>Miguel Guhlin · TCEA</a:t>
            </a:r>
            <a:endParaRPr lang="en-US" sz="1250" dirty="0"/>
          </a:p>
          <a:p>
            <a:pPr indent="0" marL="0">
              <a:lnSpc>
                <a:spcPts val="2000"/>
              </a:lnSpc>
              <a:buNone/>
            </a:pPr>
            <a:r>
              <a:rPr lang="en-US" sz="1250" dirty="0">
                <a:solidFill>
                  <a:srgbClr val="AEC0E0"/>
                </a:solidFill>
                <a:latin typeface="Calibri" pitchFamily="34" charset="0"/>
                <a:ea typeface="Calibri" pitchFamily="34" charset="-122"/>
                <a:cs typeface="Calibri" pitchFamily="34" charset="-120"/>
              </a:rPr>
              <a:t>Resources, prompts, checklist, and bot files: mglearn.github.io/legalai</a:t>
            </a:r>
            <a:endParaRPr lang="en-US" sz="1250" dirty="0"/>
          </a:p>
          <a:p>
            <a:pPr indent="0" marL="0">
              <a:lnSpc>
                <a:spcPts val="2000"/>
              </a:lnSpc>
              <a:buNone/>
            </a:pPr>
            <a:r>
              <a:rPr lang="en-US" sz="1250" dirty="0">
                <a:solidFill>
                  <a:srgbClr val="AEC0E0"/>
                </a:solidFill>
                <a:latin typeface="Calibri" pitchFamily="34" charset="0"/>
                <a:ea typeface="Calibri" pitchFamily="34" charset="-122"/>
                <a:cs typeface="Calibri" pitchFamily="34" charset="-120"/>
              </a:rPr>
              <a:t>Questions welcome. Use the tools well, and stay accountable.</a:t>
            </a:r>
            <a:endParaRPr lang="en-US" sz="1250" dirty="0"/>
          </a:p>
        </p:txBody>
      </p:sp>
      <p:sp>
        <p:nvSpPr>
          <p:cNvPr id="7" name="Shape 5"/>
          <p:cNvSpPr/>
          <p:nvPr/>
        </p:nvSpPr>
        <p:spPr>
          <a:xfrm>
            <a:off x="0" y="4686300"/>
            <a:ext cx="9144000" cy="457200"/>
          </a:xfrm>
          <a:prstGeom prst="rect">
            <a:avLst/>
          </a:prstGeom>
          <a:solidFill>
            <a:srgbClr val="102A54"/>
          </a:solidFill>
          <a:ln/>
        </p:spPr>
      </p:sp>
      <p:sp>
        <p:nvSpPr>
          <p:cNvPr id="8" name="Shape 6"/>
          <p:cNvSpPr/>
          <p:nvPr/>
        </p:nvSpPr>
        <p:spPr>
          <a:xfrm>
            <a:off x="0" y="4654296"/>
            <a:ext cx="9144000" cy="32004"/>
          </a:xfrm>
          <a:prstGeom prst="rect">
            <a:avLst/>
          </a:prstGeom>
          <a:solidFill>
            <a:srgbClr val="6F8FAF"/>
          </a:solidFill>
          <a:ln/>
        </p:spPr>
      </p:sp>
      <p:sp>
        <p:nvSpPr>
          <p:cNvPr id="9" name="Text 7"/>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0" name="Text 8"/>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1" name="Text 9"/>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TCEA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Guardrails and Takeaways</dc:title>
  <dc:subject>PptxGenJS Presentation</dc:subject>
  <dc:creator>Miguel Guhlin</dc:creator>
  <cp:lastModifiedBy>Miguel Guhlin</cp:lastModifiedBy>
  <cp:revision>1</cp:revision>
  <dcterms:created xsi:type="dcterms:W3CDTF">2026-07-16T18:55:40Z</dcterms:created>
  <dcterms:modified xsi:type="dcterms:W3CDTF">2026-07-16T18:55:40Z</dcterms:modified>
</cp:coreProperties>
</file>