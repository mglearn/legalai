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My name is Miguel Guhlin, and over the next hour we are going to look closely at how generative AI fits into criminal defense work, where it helps, and where it puts your license at risk.
I want to set the tone right away. This is not a sales pitch for any tool, and it is not a warning to stay away. It is a working session. You will read short fact patterns, run real prompts in a free chatbot, and see for yourself where the output is useful and where it quietly goes wrong.
You do not need a paid account to take part. Everything is at the short address on the screen. Take a moment to open it now, and we will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shape of our time together. Three ideas hold the whole session up.
First, ethics leads. Every technique I show you sits on top of your existing duties, so we start there and keep coming back to it.
Second, this is hands-on. You will spend more time working in a chatbot than listening to me. The scenarios are fictional, but they are built to feel like Monday morning.
Third, verification is the throughline. The goal is not to prompt faster. The goal is to catch the error before it reaches a judge. If you leave with one habit, I want it to be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threads we will pull on. You have all seen the headlines about lawyers sanctioned for citing cases that never existed, so we look hard at hallucinated case law and how it happens.
We look at confidentiality, because pasting a client fact into the wrong tool can be its own problem before a single word is filed.
Then we turn to the fixes. Structured prompting gives the model guardrails. Retrieval-augmented generation, which I will just call grounding, keeps the model tied to sources you trust instead of its own memory.
And underneath all of it sits your judgment. Keep that in mind as we go, and we will move to what you will actually be able to do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objectives, and they are ethics-focused on purpose. Notice that not one of them is about becoming a faster typist.
You will be able to spot where AI creates risk, explain to a colleague or a bar committee why the responsibility stays with you, and recognize the moments where confidentiality and competence are in play.
Then the practical half. You will apply concrete guardrails, and you will use structured, source-grounded prompting to raise the accuracy of what you get back.
If you can do these five things on Monday, this hour was worth your time. Let me show you how we are going to spend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 map. We move in three segments. First, ethical foundations, where we name the duties and the failures. Second, the risk-reducing practices, which is where you do most of the hands-on work using a framework I call TCDLAi. Third, guardrails and takeaways, so you walk out with a checklist and clear rules.
The times on screen are targets, not promises. Each activity block is marked as core or optional. If we have the full ninety minutes, we run a second scenario. If we have sixty, we keep the core and still get you working. Either way, you leave having tried this yourself.
Next, the tools you will use, and the one rule that matters most before you type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get you set up. You do not need anything fancy. Pick one free chatbot. Claude, ChatGPT, Z.ai, and Mistral all have free tiers that will carry you through everything today.
If you did not set one up, do not worry. I am handing out a BoodleBox code so you can work alongside everyone else. And later we will glance at Claude for Legal as an example of tooling built specifically for our work, with attorney review built into it.
Now the rule in the box, and it is the most important sentence on this slide. Do not put confidential, privileged, or client-identifying information into a consumer chatbot. That is why every scenario I hand you today is invented. We practice safely first, then you carry the habit back to real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word about method, because it shapes everything we do. We are working problem-first, not tool-first.
Tool-first is the trap. You see a slick demo, you get excited, and you go looking for a reason to use it. That is how firms end up paying for software that solves nothing.
Problem-first flips it. We start with a defense task you already know is hard. We decide what a good result would look like. Then we point AI at it and, at the end, we ask the honest question, did this actually help. That last question is the whole game, and you will hear me ask it after every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segment one, here is what you take home. Three things, all waiting on the resources page, so you do not have to write anything down.
The first is the TCDLAi Prompt Design Guide, a six-part structure built for defense work. The second is a one-page ethical guardrail checklist you run before anything leaves your desk. The third is a library of legal prompts, sorted by type and task, each one written to push you toward verification.
If you want a quick gut check on where you stand with AI right now, there is a two-minute self-assessment on that same page. It is optional, and it makes a nice warm-up. Now let us start where we should, with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6F8FAF"/>
          </a:solidFill>
          <a:ln/>
        </p:spPr>
      </p:sp>
      <p:sp>
        <p:nvSpPr>
          <p:cNvPr id="3" name="Text 1"/>
          <p:cNvSpPr/>
          <p:nvPr/>
        </p:nvSpPr>
        <p:spPr>
          <a:xfrm>
            <a:off x="777240" y="1234440"/>
            <a:ext cx="7955280" cy="274320"/>
          </a:xfrm>
          <a:prstGeom prst="rect">
            <a:avLst/>
          </a:prstGeom>
          <a:noFill/>
          <a:ln/>
        </p:spPr>
        <p:txBody>
          <a:bodyPr wrap="square" rtlCol="0" anchor="ctr"/>
          <a:lstStyle/>
          <a:p>
            <a:pPr indent="0" marL="0">
              <a:buNone/>
            </a:pPr>
            <a:r>
              <a:rPr lang="en-US" sz="1200" b="1" spc="300" kern="0" dirty="0">
                <a:solidFill>
                  <a:srgbClr val="6F8FAF"/>
                </a:solidFill>
                <a:latin typeface="Calibri" pitchFamily="34" charset="0"/>
                <a:ea typeface="Calibri" pitchFamily="34" charset="-122"/>
                <a:cs typeface="Calibri" pitchFamily="34" charset="-120"/>
              </a:rPr>
              <a:t>TEXAS CRIMINAL DEFENSE LAWYERS ASSOCIATION · JULY 2026</a:t>
            </a:r>
            <a:endParaRPr lang="en-US" sz="1200" dirty="0"/>
          </a:p>
        </p:txBody>
      </p:sp>
      <p:sp>
        <p:nvSpPr>
          <p:cNvPr id="4" name="Text 2"/>
          <p:cNvSpPr/>
          <p:nvPr/>
        </p:nvSpPr>
        <p:spPr>
          <a:xfrm>
            <a:off x="777240" y="1645920"/>
            <a:ext cx="7863840" cy="914400"/>
          </a:xfrm>
          <a:prstGeom prst="rect">
            <a:avLst/>
          </a:prstGeom>
          <a:noFill/>
          <a:ln/>
        </p:spPr>
        <p:txBody>
          <a:bodyPr wrap="square" rtlCol="0" anchor="ctr"/>
          <a:lstStyle/>
          <a:p>
            <a:pPr indent="0" marL="0">
              <a:lnSpc>
                <a:spcPts val="4200"/>
              </a:lnSpc>
              <a:buNone/>
            </a:pPr>
            <a:r>
              <a:rPr lang="en-US" sz="4000" b="1" dirty="0">
                <a:solidFill>
                  <a:srgbClr val="FFFFFF"/>
                </a:solidFill>
                <a:latin typeface="Georgia" pitchFamily="34" charset="0"/>
                <a:ea typeface="Georgia" pitchFamily="34" charset="-122"/>
                <a:cs typeface="Georgia" pitchFamily="34" charset="-120"/>
              </a:rPr>
              <a:t>AI for the Defense</a:t>
            </a:r>
            <a:endParaRPr lang="en-US" sz="4000" dirty="0"/>
          </a:p>
        </p:txBody>
      </p:sp>
      <p:sp>
        <p:nvSpPr>
          <p:cNvPr id="5" name="Text 3"/>
          <p:cNvSpPr/>
          <p:nvPr/>
        </p:nvSpPr>
        <p:spPr>
          <a:xfrm>
            <a:off x="777240" y="2606040"/>
            <a:ext cx="7498080" cy="457200"/>
          </a:xfrm>
          <a:prstGeom prst="rect">
            <a:avLst/>
          </a:prstGeom>
          <a:noFill/>
          <a:ln/>
        </p:spPr>
        <p:txBody>
          <a:bodyPr wrap="square" rtlCol="0" anchor="ctr"/>
          <a:lstStyle/>
          <a:p>
            <a:pPr indent="0" marL="0">
              <a:buNone/>
            </a:pPr>
            <a:r>
              <a:rPr lang="en-US" sz="1900" i="1" dirty="0">
                <a:solidFill>
                  <a:srgbClr val="C8D2DC"/>
                </a:solidFill>
                <a:latin typeface="Georgia" pitchFamily="34" charset="0"/>
                <a:ea typeface="Georgia" pitchFamily="34" charset="-122"/>
                <a:cs typeface="Georgia" pitchFamily="34" charset="-120"/>
              </a:rPr>
              <a:t>Ethical Use, Accuracy, and Attorney Responsibility</a:t>
            </a:r>
            <a:endParaRPr lang="en-US" sz="1900" dirty="0"/>
          </a:p>
        </p:txBody>
      </p:sp>
      <p:sp>
        <p:nvSpPr>
          <p:cNvPr id="6" name="Text 4"/>
          <p:cNvSpPr/>
          <p:nvPr/>
        </p:nvSpPr>
        <p:spPr>
          <a:xfrm>
            <a:off x="777240" y="3246120"/>
            <a:ext cx="7680960" cy="1005840"/>
          </a:xfrm>
          <a:prstGeom prst="rect">
            <a:avLst/>
          </a:prstGeom>
          <a:noFill/>
          <a:ln/>
        </p:spPr>
        <p:txBody>
          <a:bodyPr wrap="square" rtlCol="0" anchor="ctr"/>
          <a:lstStyle/>
          <a:p>
            <a:pPr indent="0" marL="0">
              <a:lnSpc>
                <a:spcPts val="2000"/>
              </a:lnSpc>
              <a:buNone/>
            </a:pPr>
            <a:r>
              <a:rPr lang="en-US" sz="1250" dirty="0">
                <a:solidFill>
                  <a:srgbClr val="AEC0E0"/>
                </a:solidFill>
                <a:latin typeface="Calibri" pitchFamily="34" charset="0"/>
                <a:ea typeface="Calibri" pitchFamily="34" charset="-122"/>
                <a:cs typeface="Calibri" pitchFamily="34" charset="-120"/>
              </a:rPr>
              <a:t>Facilitator: Miguel Guhlin, TCEA</a:t>
            </a:r>
            <a:endParaRPr lang="en-US" sz="1250" dirty="0"/>
          </a:p>
          <a:p>
            <a:pPr indent="0" marL="0">
              <a:lnSpc>
                <a:spcPts val="2000"/>
              </a:lnSpc>
              <a:buNone/>
            </a:pPr>
            <a:r>
              <a:rPr lang="en-US" sz="1250" dirty="0">
                <a:solidFill>
                  <a:srgbClr val="AEC0E0"/>
                </a:solidFill>
                <a:latin typeface="Calibri" pitchFamily="34" charset="0"/>
                <a:ea typeface="Calibri" pitchFamily="34" charset="-122"/>
                <a:cs typeface="Calibri" pitchFamily="34" charset="-120"/>
              </a:rPr>
              <a:t>Session resources: mglearn.github.io/legalai</a:t>
            </a:r>
            <a:endParaRPr lang="en-US" sz="1250" dirty="0"/>
          </a:p>
          <a:p>
            <a:pPr indent="0" marL="0">
              <a:lnSpc>
                <a:spcPts val="2000"/>
              </a:lnSpc>
              <a:buNone/>
            </a:pPr>
            <a:r>
              <a:rPr lang="en-US" sz="1250" dirty="0">
                <a:solidFill>
                  <a:srgbClr val="AEC0E0"/>
                </a:solidFill>
                <a:latin typeface="Calibri" pitchFamily="34" charset="0"/>
                <a:ea typeface="Calibri" pitchFamily="34" charset="-122"/>
                <a:cs typeface="Calibri" pitchFamily="34" charset="-120"/>
              </a:rPr>
              <a:t>No AI subscription required to attend. A laptop or device with a keyboard is recommended.</a:t>
            </a:r>
            <a:endParaRPr lang="en-US" sz="1250" dirty="0"/>
          </a:p>
        </p:txBody>
      </p:sp>
      <p:sp>
        <p:nvSpPr>
          <p:cNvPr id="7" name="Shape 5"/>
          <p:cNvSpPr/>
          <p:nvPr/>
        </p:nvSpPr>
        <p:spPr>
          <a:xfrm>
            <a:off x="0" y="4686300"/>
            <a:ext cx="9144000" cy="457200"/>
          </a:xfrm>
          <a:prstGeom prst="rect">
            <a:avLst/>
          </a:prstGeom>
          <a:solidFill>
            <a:srgbClr val="102A54"/>
          </a:solidFill>
          <a:ln/>
        </p:spPr>
      </p:sp>
      <p:sp>
        <p:nvSpPr>
          <p:cNvPr id="8" name="Shape 6"/>
          <p:cNvSpPr/>
          <p:nvPr/>
        </p:nvSpPr>
        <p:spPr>
          <a:xfrm>
            <a:off x="0" y="4654296"/>
            <a:ext cx="9144000" cy="32004"/>
          </a:xfrm>
          <a:prstGeom prst="rect">
            <a:avLst/>
          </a:prstGeom>
          <a:solidFill>
            <a:srgbClr val="6F8FAF"/>
          </a:solidFill>
          <a:ln/>
        </p:spPr>
      </p:sp>
      <p:sp>
        <p:nvSpPr>
          <p:cNvPr id="9" name="Text 7"/>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0" name="Text 8"/>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1" name="Text 9"/>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THE SESSION IN ONE BREATH</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A working hour on responsible AI in defense practice</a:t>
            </a:r>
            <a:endParaRPr lang="en-US" sz="2500" dirty="0"/>
          </a:p>
        </p:txBody>
      </p:sp>
      <p:sp>
        <p:nvSpPr>
          <p:cNvPr id="5" name="Text 3"/>
          <p:cNvSpPr/>
          <p:nvPr/>
        </p:nvSpPr>
        <p:spPr>
          <a:xfrm>
            <a:off x="457200" y="1463040"/>
            <a:ext cx="8229600" cy="640080"/>
          </a:xfrm>
          <a:prstGeom prst="rect">
            <a:avLst/>
          </a:prstGeom>
          <a:noFill/>
          <a:ln/>
        </p:spPr>
        <p:txBody>
          <a:bodyPr wrap="square" rtlCol="0" anchor="ctr"/>
          <a:lstStyle/>
          <a:p>
            <a:pPr indent="0" marL="0">
              <a:lnSpc>
                <a:spcPts val="2100"/>
              </a:lnSpc>
              <a:buNone/>
            </a:pPr>
            <a:r>
              <a:rPr lang="en-US" sz="1500" dirty="0">
                <a:solidFill>
                  <a:srgbClr val="4F6072"/>
                </a:solidFill>
                <a:latin typeface="Calibri" pitchFamily="34" charset="0"/>
                <a:ea typeface="Calibri" pitchFamily="34" charset="-122"/>
                <a:cs typeface="Calibri" pitchFamily="34" charset="-120"/>
              </a:rPr>
              <a:t>You will learn where AI tools help legal work, where they create ethical risk, and how you stay fully accountable for every AI-assisted output.</a:t>
            </a:r>
            <a:endParaRPr lang="en-US" sz="1500" dirty="0"/>
          </a:p>
        </p:txBody>
      </p:sp>
      <p:sp>
        <p:nvSpPr>
          <p:cNvPr id="6" name="Shape 4"/>
          <p:cNvSpPr/>
          <p:nvPr/>
        </p:nvSpPr>
        <p:spPr>
          <a:xfrm>
            <a:off x="457200" y="2121408"/>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7" name="Shape 5"/>
          <p:cNvSpPr/>
          <p:nvPr/>
        </p:nvSpPr>
        <p:spPr>
          <a:xfrm>
            <a:off x="457200" y="2121408"/>
            <a:ext cx="54864" cy="1417320"/>
          </a:xfrm>
          <a:prstGeom prst="rect">
            <a:avLst/>
          </a:prstGeom>
          <a:solidFill>
            <a:srgbClr val="102A54"/>
          </a:solidFill>
          <a:ln/>
        </p:spPr>
      </p:sp>
      <p:sp>
        <p:nvSpPr>
          <p:cNvPr id="8" name="Text 6"/>
          <p:cNvSpPr/>
          <p:nvPr/>
        </p:nvSpPr>
        <p:spPr>
          <a:xfrm>
            <a:off x="621792" y="2231136"/>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Ethics first</a:t>
            </a:r>
            <a:endParaRPr lang="en-US" sz="1350" dirty="0"/>
          </a:p>
        </p:txBody>
      </p:sp>
      <p:sp>
        <p:nvSpPr>
          <p:cNvPr id="9" name="Text 7"/>
          <p:cNvSpPr/>
          <p:nvPr/>
        </p:nvSpPr>
        <p:spPr>
          <a:xfrm>
            <a:off x="621792" y="2624328"/>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Competence, confidentiality, supervision, and candor to the court frame everything we do today.</a:t>
            </a:r>
            <a:endParaRPr lang="en-US" sz="1100" dirty="0"/>
          </a:p>
        </p:txBody>
      </p:sp>
      <p:sp>
        <p:nvSpPr>
          <p:cNvPr id="10" name="Shape 8"/>
          <p:cNvSpPr/>
          <p:nvPr/>
        </p:nvSpPr>
        <p:spPr>
          <a:xfrm>
            <a:off x="3267456" y="2121408"/>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1" name="Shape 9"/>
          <p:cNvSpPr/>
          <p:nvPr/>
        </p:nvSpPr>
        <p:spPr>
          <a:xfrm>
            <a:off x="3267456" y="2121408"/>
            <a:ext cx="54864" cy="1417320"/>
          </a:xfrm>
          <a:prstGeom prst="rect">
            <a:avLst/>
          </a:prstGeom>
          <a:solidFill>
            <a:srgbClr val="6F8FAF"/>
          </a:solidFill>
          <a:ln/>
        </p:spPr>
      </p:sp>
      <p:sp>
        <p:nvSpPr>
          <p:cNvPr id="12" name="Text 10"/>
          <p:cNvSpPr/>
          <p:nvPr/>
        </p:nvSpPr>
        <p:spPr>
          <a:xfrm>
            <a:off x="3432048" y="2231136"/>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Hands-on</a:t>
            </a:r>
            <a:endParaRPr lang="en-US" sz="1350" dirty="0"/>
          </a:p>
        </p:txBody>
      </p:sp>
      <p:sp>
        <p:nvSpPr>
          <p:cNvPr id="13" name="Text 11"/>
          <p:cNvSpPr/>
          <p:nvPr/>
        </p:nvSpPr>
        <p:spPr>
          <a:xfrm>
            <a:off x="3432048" y="2624328"/>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You work in a free AI chatbot on realistic, fictional defense scenarios. Most of our time is spent doing, not watching.</a:t>
            </a:r>
            <a:endParaRPr lang="en-US" sz="1100" dirty="0"/>
          </a:p>
        </p:txBody>
      </p:sp>
      <p:sp>
        <p:nvSpPr>
          <p:cNvPr id="14" name="Shape 12"/>
          <p:cNvSpPr/>
          <p:nvPr/>
        </p:nvSpPr>
        <p:spPr>
          <a:xfrm>
            <a:off x="6077712" y="2121408"/>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5" name="Shape 13"/>
          <p:cNvSpPr/>
          <p:nvPr/>
        </p:nvSpPr>
        <p:spPr>
          <a:xfrm>
            <a:off x="6077712" y="2121408"/>
            <a:ext cx="54864" cy="1417320"/>
          </a:xfrm>
          <a:prstGeom prst="rect">
            <a:avLst/>
          </a:prstGeom>
          <a:solidFill>
            <a:srgbClr val="102A54"/>
          </a:solidFill>
          <a:ln/>
        </p:spPr>
      </p:sp>
      <p:sp>
        <p:nvSpPr>
          <p:cNvPr id="16" name="Text 14"/>
          <p:cNvSpPr/>
          <p:nvPr/>
        </p:nvSpPr>
        <p:spPr>
          <a:xfrm>
            <a:off x="6242304" y="2231136"/>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Verification</a:t>
            </a:r>
            <a:endParaRPr lang="en-US" sz="1350" dirty="0"/>
          </a:p>
        </p:txBody>
      </p:sp>
      <p:sp>
        <p:nvSpPr>
          <p:cNvPr id="17" name="Text 15"/>
          <p:cNvSpPr/>
          <p:nvPr/>
        </p:nvSpPr>
        <p:spPr>
          <a:xfrm>
            <a:off x="6242304" y="2624328"/>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You leave with structured prompting and source-grounded habits that reduce error before it reaches a filing.</a:t>
            </a:r>
            <a:endParaRPr lang="en-US" sz="1100" dirty="0"/>
          </a:p>
        </p:txBody>
      </p:sp>
      <p:sp>
        <p:nvSpPr>
          <p:cNvPr id="18" name="Shape 16"/>
          <p:cNvSpPr/>
          <p:nvPr/>
        </p:nvSpPr>
        <p:spPr>
          <a:xfrm>
            <a:off x="0" y="4686300"/>
            <a:ext cx="9144000" cy="457200"/>
          </a:xfrm>
          <a:prstGeom prst="rect">
            <a:avLst/>
          </a:prstGeom>
          <a:solidFill>
            <a:srgbClr val="102A54"/>
          </a:solidFill>
          <a:ln/>
        </p:spPr>
      </p:sp>
      <p:sp>
        <p:nvSpPr>
          <p:cNvPr id="19" name="Shape 17"/>
          <p:cNvSpPr/>
          <p:nvPr/>
        </p:nvSpPr>
        <p:spPr>
          <a:xfrm>
            <a:off x="0" y="4654296"/>
            <a:ext cx="9144000" cy="32004"/>
          </a:xfrm>
          <a:prstGeom prst="rect">
            <a:avLst/>
          </a:prstGeom>
          <a:solidFill>
            <a:srgbClr val="6F8FAF"/>
          </a:solidFill>
          <a:ln/>
        </p:spPr>
      </p:sp>
      <p:sp>
        <p:nvSpPr>
          <p:cNvPr id="20" name="Text 18"/>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1" name="Text 19"/>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2" name="Text 20"/>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WHAT WE WILL COVER</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Where AI helps, where it hurts, and who answers for it</a:t>
            </a:r>
            <a:endParaRPr lang="en-US" sz="2500" dirty="0"/>
          </a:p>
        </p:txBody>
      </p:sp>
      <p:sp>
        <p:nvSpPr>
          <p:cNvPr id="5" name="Shape 3"/>
          <p:cNvSpPr/>
          <p:nvPr/>
        </p:nvSpPr>
        <p:spPr>
          <a:xfrm rot="2700000">
            <a:off x="475488" y="1545336"/>
            <a:ext cx="118872" cy="118872"/>
          </a:xfrm>
          <a:prstGeom prst="rect">
            <a:avLst/>
          </a:prstGeom>
          <a:solidFill>
            <a:srgbClr val="6F8FAF"/>
          </a:solidFill>
          <a:ln/>
        </p:spPr>
      </p:sp>
      <p:sp>
        <p:nvSpPr>
          <p:cNvPr id="6" name="Text 4"/>
          <p:cNvSpPr/>
          <p:nvPr/>
        </p:nvSpPr>
        <p:spPr>
          <a:xfrm>
            <a:off x="768096" y="14630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Common AI failures, including </a:t>
            </a:r>
            <a:pPr indent="0" marL="0">
              <a:lnSpc>
                <a:spcPts val="1900"/>
              </a:lnSpc>
              <a:buNone/>
            </a:pPr>
            <a:r>
              <a:rPr lang="en-US" sz="1550" b="1" dirty="0">
                <a:solidFill>
                  <a:srgbClr val="102A54"/>
                </a:solidFill>
                <a:latin typeface="Calibri" pitchFamily="34" charset="0"/>
                <a:ea typeface="Calibri" pitchFamily="34" charset="-122"/>
                <a:cs typeface="Calibri" pitchFamily="34" charset="-120"/>
              </a:rPr>
              <a:t>hallucinated case law</a:t>
            </a:r>
            <a:pPr indent="0" marL="0">
              <a:lnSpc>
                <a:spcPts val="1900"/>
              </a:lnSpc>
              <a:buNone/>
            </a:pPr>
            <a:r>
              <a:rPr lang="en-US" sz="1550" dirty="0">
                <a:solidFill>
                  <a:srgbClr val="22303C"/>
                </a:solidFill>
                <a:latin typeface="Calibri" pitchFamily="34" charset="0"/>
                <a:ea typeface="Calibri" pitchFamily="34" charset="-122"/>
                <a:cs typeface="Calibri" pitchFamily="34" charset="-120"/>
              </a:rPr>
              <a:t> and fabricated citations</a:t>
            </a:r>
            <a:endParaRPr lang="en-US" sz="1550" dirty="0"/>
          </a:p>
        </p:txBody>
      </p:sp>
      <p:sp>
        <p:nvSpPr>
          <p:cNvPr id="7" name="Shape 5"/>
          <p:cNvSpPr/>
          <p:nvPr/>
        </p:nvSpPr>
        <p:spPr>
          <a:xfrm rot="2700000">
            <a:off x="475488" y="2002536"/>
            <a:ext cx="118872" cy="118872"/>
          </a:xfrm>
          <a:prstGeom prst="rect">
            <a:avLst/>
          </a:prstGeom>
          <a:solidFill>
            <a:srgbClr val="6F8FAF"/>
          </a:solidFill>
          <a:ln/>
        </p:spPr>
      </p:sp>
      <p:sp>
        <p:nvSpPr>
          <p:cNvPr id="8" name="Text 6"/>
          <p:cNvSpPr/>
          <p:nvPr/>
        </p:nvSpPr>
        <p:spPr>
          <a:xfrm>
            <a:off x="768096" y="19202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Confidentiality and client data risk in consumer chatbots</a:t>
            </a:r>
            <a:endParaRPr lang="en-US" sz="1550" dirty="0"/>
          </a:p>
        </p:txBody>
      </p:sp>
      <p:sp>
        <p:nvSpPr>
          <p:cNvPr id="9" name="Shape 7"/>
          <p:cNvSpPr/>
          <p:nvPr/>
        </p:nvSpPr>
        <p:spPr>
          <a:xfrm rot="2700000">
            <a:off x="475488" y="2459736"/>
            <a:ext cx="118872" cy="118872"/>
          </a:xfrm>
          <a:prstGeom prst="rect">
            <a:avLst/>
          </a:prstGeom>
          <a:solidFill>
            <a:srgbClr val="6F8FAF"/>
          </a:solidFill>
          <a:ln/>
        </p:spPr>
      </p:sp>
      <p:sp>
        <p:nvSpPr>
          <p:cNvPr id="10" name="Text 8"/>
          <p:cNvSpPr/>
          <p:nvPr/>
        </p:nvSpPr>
        <p:spPr>
          <a:xfrm>
            <a:off x="768096" y="23774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Structured prompting and few-shot examples as safeguards</a:t>
            </a:r>
            <a:endParaRPr lang="en-US" sz="1550" dirty="0"/>
          </a:p>
        </p:txBody>
      </p:sp>
      <p:sp>
        <p:nvSpPr>
          <p:cNvPr id="11" name="Shape 9"/>
          <p:cNvSpPr/>
          <p:nvPr/>
        </p:nvSpPr>
        <p:spPr>
          <a:xfrm rot="2700000">
            <a:off x="475488" y="2916936"/>
            <a:ext cx="118872" cy="118872"/>
          </a:xfrm>
          <a:prstGeom prst="rect">
            <a:avLst/>
          </a:prstGeom>
          <a:solidFill>
            <a:srgbClr val="6F8FAF"/>
          </a:solidFill>
          <a:ln/>
        </p:spPr>
      </p:sp>
      <p:sp>
        <p:nvSpPr>
          <p:cNvPr id="12" name="Text 10"/>
          <p:cNvSpPr/>
          <p:nvPr/>
        </p:nvSpPr>
        <p:spPr>
          <a:xfrm>
            <a:off x="768096" y="28346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Retrieval-augmented generation to hold AI to </a:t>
            </a:r>
            <a:pPr indent="0" marL="0">
              <a:lnSpc>
                <a:spcPts val="1900"/>
              </a:lnSpc>
              <a:buNone/>
            </a:pPr>
            <a:r>
              <a:rPr lang="en-US" sz="1550" b="1" dirty="0">
                <a:solidFill>
                  <a:srgbClr val="102A54"/>
                </a:solidFill>
                <a:latin typeface="Calibri" pitchFamily="34" charset="0"/>
                <a:ea typeface="Calibri" pitchFamily="34" charset="-122"/>
                <a:cs typeface="Calibri" pitchFamily="34" charset="-120"/>
              </a:rPr>
              <a:t>trusted sources</a:t>
            </a:r>
            <a:pPr indent="0" marL="0">
              <a:lnSpc>
                <a:spcPts val="1900"/>
              </a:lnSpc>
              <a:buNone/>
            </a:pPr>
            <a:endParaRPr lang="en-US" sz="1550" dirty="0"/>
          </a:p>
        </p:txBody>
      </p:sp>
      <p:sp>
        <p:nvSpPr>
          <p:cNvPr id="13" name="Shape 11"/>
          <p:cNvSpPr/>
          <p:nvPr/>
        </p:nvSpPr>
        <p:spPr>
          <a:xfrm rot="2700000">
            <a:off x="475488" y="3374136"/>
            <a:ext cx="118872" cy="118872"/>
          </a:xfrm>
          <a:prstGeom prst="rect">
            <a:avLst/>
          </a:prstGeom>
          <a:solidFill>
            <a:srgbClr val="6F8FAF"/>
          </a:solidFill>
          <a:ln/>
        </p:spPr>
      </p:sp>
      <p:sp>
        <p:nvSpPr>
          <p:cNvPr id="14" name="Text 12"/>
          <p:cNvSpPr/>
          <p:nvPr/>
        </p:nvSpPr>
        <p:spPr>
          <a:xfrm>
            <a:off x="768096" y="32918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Human oversight, verification, and ethical decision-making throughout</a:t>
            </a:r>
            <a:endParaRPr lang="en-US" sz="1550" dirty="0"/>
          </a:p>
        </p:txBody>
      </p:sp>
      <p:sp>
        <p:nvSpPr>
          <p:cNvPr id="15" name="Shape 13"/>
          <p:cNvSpPr/>
          <p:nvPr/>
        </p:nvSpPr>
        <p:spPr>
          <a:xfrm>
            <a:off x="0" y="4686300"/>
            <a:ext cx="9144000" cy="457200"/>
          </a:xfrm>
          <a:prstGeom prst="rect">
            <a:avLst/>
          </a:prstGeom>
          <a:solidFill>
            <a:srgbClr val="102A54"/>
          </a:solidFill>
          <a:ln/>
        </p:spPr>
      </p:sp>
      <p:sp>
        <p:nvSpPr>
          <p:cNvPr id="16" name="Shape 14"/>
          <p:cNvSpPr/>
          <p:nvPr/>
        </p:nvSpPr>
        <p:spPr>
          <a:xfrm>
            <a:off x="0" y="4654296"/>
            <a:ext cx="9144000" cy="32004"/>
          </a:xfrm>
          <a:prstGeom prst="rect">
            <a:avLst/>
          </a:prstGeom>
          <a:solidFill>
            <a:srgbClr val="6F8FAF"/>
          </a:solidFill>
          <a:ln/>
        </p:spPr>
      </p:sp>
      <p:sp>
        <p:nvSpPr>
          <p:cNvPr id="17" name="Text 15"/>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8" name="Text 16"/>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9" name="Text 17"/>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LEARNING OBJECTIVES</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By the end you will be able to</a:t>
            </a:r>
            <a:endParaRPr lang="en-US" sz="2500" dirty="0"/>
          </a:p>
        </p:txBody>
      </p:sp>
      <p:sp>
        <p:nvSpPr>
          <p:cNvPr id="5" name="Shape 3"/>
          <p:cNvSpPr/>
          <p:nvPr/>
        </p:nvSpPr>
        <p:spPr>
          <a:xfrm rot="2700000">
            <a:off x="475488" y="1545336"/>
            <a:ext cx="118872" cy="118872"/>
          </a:xfrm>
          <a:prstGeom prst="rect">
            <a:avLst/>
          </a:prstGeom>
          <a:solidFill>
            <a:srgbClr val="6F8FAF"/>
          </a:solidFill>
          <a:ln/>
        </p:spPr>
      </p:sp>
      <p:sp>
        <p:nvSpPr>
          <p:cNvPr id="6" name="Text 4"/>
          <p:cNvSpPr/>
          <p:nvPr/>
        </p:nvSpPr>
        <p:spPr>
          <a:xfrm>
            <a:off x="768096" y="14630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Identify ethical risks tied to AI use in legal practice</a:t>
            </a:r>
            <a:endParaRPr lang="en-US" sz="1550" dirty="0"/>
          </a:p>
        </p:txBody>
      </p:sp>
      <p:sp>
        <p:nvSpPr>
          <p:cNvPr id="7" name="Shape 5"/>
          <p:cNvSpPr/>
          <p:nvPr/>
        </p:nvSpPr>
        <p:spPr>
          <a:xfrm rot="2700000">
            <a:off x="475488" y="2002536"/>
            <a:ext cx="118872" cy="118872"/>
          </a:xfrm>
          <a:prstGeom prst="rect">
            <a:avLst/>
          </a:prstGeom>
          <a:solidFill>
            <a:srgbClr val="6F8FAF"/>
          </a:solidFill>
          <a:ln/>
        </p:spPr>
      </p:sp>
      <p:sp>
        <p:nvSpPr>
          <p:cNvPr id="8" name="Text 6"/>
          <p:cNvSpPr/>
          <p:nvPr/>
        </p:nvSpPr>
        <p:spPr>
          <a:xfrm>
            <a:off x="768096" y="19202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Explain why you remain responsible for AI-assisted work product</a:t>
            </a:r>
            <a:endParaRPr lang="en-US" sz="1550" dirty="0"/>
          </a:p>
        </p:txBody>
      </p:sp>
      <p:sp>
        <p:nvSpPr>
          <p:cNvPr id="9" name="Shape 7"/>
          <p:cNvSpPr/>
          <p:nvPr/>
        </p:nvSpPr>
        <p:spPr>
          <a:xfrm rot="2700000">
            <a:off x="475488" y="2459736"/>
            <a:ext cx="118872" cy="118872"/>
          </a:xfrm>
          <a:prstGeom prst="rect">
            <a:avLst/>
          </a:prstGeom>
          <a:solidFill>
            <a:srgbClr val="6F8FAF"/>
          </a:solidFill>
          <a:ln/>
        </p:spPr>
      </p:sp>
      <p:sp>
        <p:nvSpPr>
          <p:cNvPr id="10" name="Text 8"/>
          <p:cNvSpPr/>
          <p:nvPr/>
        </p:nvSpPr>
        <p:spPr>
          <a:xfrm>
            <a:off x="768096" y="23774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Recognize when AI use implicates confidentiality or competence</a:t>
            </a:r>
            <a:endParaRPr lang="en-US" sz="1550" dirty="0"/>
          </a:p>
        </p:txBody>
      </p:sp>
      <p:sp>
        <p:nvSpPr>
          <p:cNvPr id="11" name="Shape 9"/>
          <p:cNvSpPr/>
          <p:nvPr/>
        </p:nvSpPr>
        <p:spPr>
          <a:xfrm rot="2700000">
            <a:off x="475488" y="2916936"/>
            <a:ext cx="118872" cy="118872"/>
          </a:xfrm>
          <a:prstGeom prst="rect">
            <a:avLst/>
          </a:prstGeom>
          <a:solidFill>
            <a:srgbClr val="6F8FAF"/>
          </a:solidFill>
          <a:ln/>
        </p:spPr>
      </p:sp>
      <p:sp>
        <p:nvSpPr>
          <p:cNvPr id="12" name="Text 10"/>
          <p:cNvSpPr/>
          <p:nvPr/>
        </p:nvSpPr>
        <p:spPr>
          <a:xfrm>
            <a:off x="768096" y="28346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Apply guardrails and verification to reduce AI-related errors</a:t>
            </a:r>
            <a:endParaRPr lang="en-US" sz="1550" dirty="0"/>
          </a:p>
        </p:txBody>
      </p:sp>
      <p:sp>
        <p:nvSpPr>
          <p:cNvPr id="13" name="Shape 11"/>
          <p:cNvSpPr/>
          <p:nvPr/>
        </p:nvSpPr>
        <p:spPr>
          <a:xfrm rot="2700000">
            <a:off x="475488" y="3374136"/>
            <a:ext cx="118872" cy="118872"/>
          </a:xfrm>
          <a:prstGeom prst="rect">
            <a:avLst/>
          </a:prstGeom>
          <a:solidFill>
            <a:srgbClr val="6F8FAF"/>
          </a:solidFill>
          <a:ln/>
        </p:spPr>
      </p:sp>
      <p:sp>
        <p:nvSpPr>
          <p:cNvPr id="14" name="Text 12"/>
          <p:cNvSpPr/>
          <p:nvPr/>
        </p:nvSpPr>
        <p:spPr>
          <a:xfrm>
            <a:off x="768096" y="32918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Use structured prompting and source-grounded workflows for accuracy</a:t>
            </a:r>
            <a:endParaRPr lang="en-US" sz="1550" dirty="0"/>
          </a:p>
        </p:txBody>
      </p:sp>
      <p:sp>
        <p:nvSpPr>
          <p:cNvPr id="15" name="Shape 13"/>
          <p:cNvSpPr/>
          <p:nvPr/>
        </p:nvSpPr>
        <p:spPr>
          <a:xfrm>
            <a:off x="0" y="4686300"/>
            <a:ext cx="9144000" cy="457200"/>
          </a:xfrm>
          <a:prstGeom prst="rect">
            <a:avLst/>
          </a:prstGeom>
          <a:solidFill>
            <a:srgbClr val="102A54"/>
          </a:solidFill>
          <a:ln/>
        </p:spPr>
      </p:sp>
      <p:sp>
        <p:nvSpPr>
          <p:cNvPr id="16" name="Shape 14"/>
          <p:cNvSpPr/>
          <p:nvPr/>
        </p:nvSpPr>
        <p:spPr>
          <a:xfrm>
            <a:off x="0" y="4654296"/>
            <a:ext cx="9144000" cy="32004"/>
          </a:xfrm>
          <a:prstGeom prst="rect">
            <a:avLst/>
          </a:prstGeom>
          <a:solidFill>
            <a:srgbClr val="6F8FAF"/>
          </a:solidFill>
          <a:ln/>
        </p:spPr>
      </p:sp>
      <p:sp>
        <p:nvSpPr>
          <p:cNvPr id="17" name="Text 15"/>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8" name="Text 16"/>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9" name="Text 17"/>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OUR PLAN FOR THE HOUR</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Three segments, built to flex from sixty to ninety minutes</a:t>
            </a:r>
            <a:endParaRPr lang="en-US" sz="2500" dirty="0"/>
          </a:p>
        </p:txBody>
      </p:sp>
      <p:sp>
        <p:nvSpPr>
          <p:cNvPr id="5" name="Shape 3"/>
          <p:cNvSpPr/>
          <p:nvPr/>
        </p:nvSpPr>
        <p:spPr>
          <a:xfrm>
            <a:off x="457200" y="1463040"/>
            <a:ext cx="2621280" cy="1554480"/>
          </a:xfrm>
          <a:prstGeom prst="roundRect">
            <a:avLst>
              <a:gd name="adj" fmla="val 2941"/>
            </a:avLst>
          </a:prstGeom>
          <a:solidFill>
            <a:srgbClr val="F7F9FC"/>
          </a:solidFill>
          <a:ln w="12700">
            <a:solidFill>
              <a:srgbClr val="D8DEE6"/>
            </a:solidFill>
            <a:prstDash val="solid"/>
          </a:ln>
        </p:spPr>
      </p:sp>
      <p:sp>
        <p:nvSpPr>
          <p:cNvPr id="6" name="Shape 4"/>
          <p:cNvSpPr/>
          <p:nvPr/>
        </p:nvSpPr>
        <p:spPr>
          <a:xfrm>
            <a:off x="457200" y="1463040"/>
            <a:ext cx="2621280" cy="54864"/>
          </a:xfrm>
          <a:prstGeom prst="rect">
            <a:avLst/>
          </a:prstGeom>
          <a:solidFill>
            <a:srgbClr val="6F8FAF"/>
          </a:solidFill>
          <a:ln/>
        </p:spPr>
      </p:sp>
      <p:sp>
        <p:nvSpPr>
          <p:cNvPr id="7" name="Shape 5"/>
          <p:cNvSpPr/>
          <p:nvPr/>
        </p:nvSpPr>
        <p:spPr>
          <a:xfrm>
            <a:off x="621792" y="1627632"/>
            <a:ext cx="365760" cy="365760"/>
          </a:xfrm>
          <a:prstGeom prst="ellipse">
            <a:avLst/>
          </a:prstGeom>
          <a:solidFill>
            <a:srgbClr val="102A54"/>
          </a:solidFill>
          <a:ln/>
        </p:spPr>
      </p:sp>
      <p:sp>
        <p:nvSpPr>
          <p:cNvPr id="8" name="Text 6"/>
          <p:cNvSpPr/>
          <p:nvPr/>
        </p:nvSpPr>
        <p:spPr>
          <a:xfrm>
            <a:off x="621792" y="1627632"/>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603504" y="2066544"/>
            <a:ext cx="234696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Ethical Foundations</a:t>
            </a:r>
            <a:endParaRPr lang="en-US" sz="1250" dirty="0"/>
          </a:p>
        </p:txBody>
      </p:sp>
      <p:sp>
        <p:nvSpPr>
          <p:cNvPr id="10" name="Text 8"/>
          <p:cNvSpPr/>
          <p:nvPr/>
        </p:nvSpPr>
        <p:spPr>
          <a:xfrm>
            <a:off x="603504" y="2377440"/>
            <a:ext cx="234696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Competence and supervision, hallucinated citations, confidentiality, and why AI never replaces judgment. About 20 min.</a:t>
            </a:r>
            <a:endParaRPr lang="en-US" sz="1050" dirty="0"/>
          </a:p>
        </p:txBody>
      </p:sp>
      <p:sp>
        <p:nvSpPr>
          <p:cNvPr id="11" name="Shape 9"/>
          <p:cNvSpPr/>
          <p:nvPr/>
        </p:nvSpPr>
        <p:spPr>
          <a:xfrm>
            <a:off x="3261360" y="1463040"/>
            <a:ext cx="2621280" cy="1554480"/>
          </a:xfrm>
          <a:prstGeom prst="roundRect">
            <a:avLst>
              <a:gd name="adj" fmla="val 2941"/>
            </a:avLst>
          </a:prstGeom>
          <a:solidFill>
            <a:srgbClr val="F7F9FC"/>
          </a:solidFill>
          <a:ln w="12700">
            <a:solidFill>
              <a:srgbClr val="D8DEE6"/>
            </a:solidFill>
            <a:prstDash val="solid"/>
          </a:ln>
        </p:spPr>
      </p:sp>
      <p:sp>
        <p:nvSpPr>
          <p:cNvPr id="12" name="Shape 10"/>
          <p:cNvSpPr/>
          <p:nvPr/>
        </p:nvSpPr>
        <p:spPr>
          <a:xfrm>
            <a:off x="3261360" y="1463040"/>
            <a:ext cx="2621280" cy="54864"/>
          </a:xfrm>
          <a:prstGeom prst="rect">
            <a:avLst/>
          </a:prstGeom>
          <a:solidFill>
            <a:srgbClr val="6F8FAF"/>
          </a:solidFill>
          <a:ln/>
        </p:spPr>
      </p:sp>
      <p:sp>
        <p:nvSpPr>
          <p:cNvPr id="13" name="Shape 11"/>
          <p:cNvSpPr/>
          <p:nvPr/>
        </p:nvSpPr>
        <p:spPr>
          <a:xfrm>
            <a:off x="3425952" y="1627632"/>
            <a:ext cx="365760" cy="365760"/>
          </a:xfrm>
          <a:prstGeom prst="ellipse">
            <a:avLst/>
          </a:prstGeom>
          <a:solidFill>
            <a:srgbClr val="102A54"/>
          </a:solidFill>
          <a:ln/>
        </p:spPr>
      </p:sp>
      <p:sp>
        <p:nvSpPr>
          <p:cNvPr id="14" name="Text 12"/>
          <p:cNvSpPr/>
          <p:nvPr/>
        </p:nvSpPr>
        <p:spPr>
          <a:xfrm>
            <a:off x="3425952" y="1627632"/>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3407664" y="2066544"/>
            <a:ext cx="234696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Risk-Reducing Practices</a:t>
            </a:r>
            <a:endParaRPr lang="en-US" sz="1250" dirty="0"/>
          </a:p>
        </p:txBody>
      </p:sp>
      <p:sp>
        <p:nvSpPr>
          <p:cNvPr id="16" name="Text 14"/>
          <p:cNvSpPr/>
          <p:nvPr/>
        </p:nvSpPr>
        <p:spPr>
          <a:xfrm>
            <a:off x="3407664" y="2377440"/>
            <a:ext cx="234696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Structured and few-shot prompting, the TCDLAi framework, grounding, and a live verification. About 25 min.</a:t>
            </a:r>
            <a:endParaRPr lang="en-US" sz="1050" dirty="0"/>
          </a:p>
        </p:txBody>
      </p:sp>
      <p:sp>
        <p:nvSpPr>
          <p:cNvPr id="17" name="Shape 15"/>
          <p:cNvSpPr/>
          <p:nvPr/>
        </p:nvSpPr>
        <p:spPr>
          <a:xfrm>
            <a:off x="6065520" y="1463040"/>
            <a:ext cx="2621280" cy="1554480"/>
          </a:xfrm>
          <a:prstGeom prst="roundRect">
            <a:avLst>
              <a:gd name="adj" fmla="val 2941"/>
            </a:avLst>
          </a:prstGeom>
          <a:solidFill>
            <a:srgbClr val="F7F9FC"/>
          </a:solidFill>
          <a:ln w="12700">
            <a:solidFill>
              <a:srgbClr val="D8DEE6"/>
            </a:solidFill>
            <a:prstDash val="solid"/>
          </a:ln>
        </p:spPr>
      </p:sp>
      <p:sp>
        <p:nvSpPr>
          <p:cNvPr id="18" name="Shape 16"/>
          <p:cNvSpPr/>
          <p:nvPr/>
        </p:nvSpPr>
        <p:spPr>
          <a:xfrm>
            <a:off x="6065520" y="1463040"/>
            <a:ext cx="2621280" cy="54864"/>
          </a:xfrm>
          <a:prstGeom prst="rect">
            <a:avLst/>
          </a:prstGeom>
          <a:solidFill>
            <a:srgbClr val="6F8FAF"/>
          </a:solidFill>
          <a:ln/>
        </p:spPr>
      </p:sp>
      <p:sp>
        <p:nvSpPr>
          <p:cNvPr id="19" name="Shape 17"/>
          <p:cNvSpPr/>
          <p:nvPr/>
        </p:nvSpPr>
        <p:spPr>
          <a:xfrm>
            <a:off x="6230112" y="1627632"/>
            <a:ext cx="365760" cy="365760"/>
          </a:xfrm>
          <a:prstGeom prst="ellipse">
            <a:avLst/>
          </a:prstGeom>
          <a:solidFill>
            <a:srgbClr val="102A54"/>
          </a:solidFill>
          <a:ln/>
        </p:spPr>
      </p:sp>
      <p:sp>
        <p:nvSpPr>
          <p:cNvPr id="20" name="Text 18"/>
          <p:cNvSpPr/>
          <p:nvPr/>
        </p:nvSpPr>
        <p:spPr>
          <a:xfrm>
            <a:off x="6230112" y="1627632"/>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6211824" y="2066544"/>
            <a:ext cx="234696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Guardrails and Takeaways</a:t>
            </a:r>
            <a:endParaRPr lang="en-US" sz="1250" dirty="0"/>
          </a:p>
        </p:txBody>
      </p:sp>
      <p:sp>
        <p:nvSpPr>
          <p:cNvPr id="22" name="Text 20"/>
          <p:cNvSpPr/>
          <p:nvPr/>
        </p:nvSpPr>
        <p:spPr>
          <a:xfrm>
            <a:off x="6211824" y="2377440"/>
            <a:ext cx="234696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An ethics checklist, clear do-and-do-not guidance, and what to document, review, and verify. About 15 min.</a:t>
            </a:r>
            <a:endParaRPr lang="en-US" sz="1050" dirty="0"/>
          </a:p>
        </p:txBody>
      </p:sp>
      <p:sp>
        <p:nvSpPr>
          <p:cNvPr id="23" name="Shape 21"/>
          <p:cNvSpPr/>
          <p:nvPr/>
        </p:nvSpPr>
        <p:spPr>
          <a:xfrm>
            <a:off x="457200" y="3163824"/>
            <a:ext cx="8229600" cy="868680"/>
          </a:xfrm>
          <a:prstGeom prst="roundRect">
            <a:avLst>
              <a:gd name="adj" fmla="val 5263"/>
            </a:avLst>
          </a:prstGeom>
          <a:solidFill>
            <a:srgbClr val="C8D2DC"/>
          </a:solidFill>
          <a:ln/>
        </p:spPr>
      </p:sp>
      <p:sp>
        <p:nvSpPr>
          <p:cNvPr id="24" name="Shape 22"/>
          <p:cNvSpPr/>
          <p:nvPr/>
        </p:nvSpPr>
        <p:spPr>
          <a:xfrm>
            <a:off x="457200" y="3163824"/>
            <a:ext cx="64008" cy="868680"/>
          </a:xfrm>
          <a:prstGeom prst="rect">
            <a:avLst/>
          </a:prstGeom>
          <a:solidFill>
            <a:srgbClr val="102A54"/>
          </a:solidFill>
          <a:ln/>
        </p:spPr>
      </p:sp>
      <p:sp>
        <p:nvSpPr>
          <p:cNvPr id="25" name="Text 23"/>
          <p:cNvSpPr/>
          <p:nvPr/>
        </p:nvSpPr>
        <p:spPr>
          <a:xfrm>
            <a:off x="685800" y="3273552"/>
            <a:ext cx="7772400" cy="219456"/>
          </a:xfrm>
          <a:prstGeom prst="rect">
            <a:avLst/>
          </a:prstGeom>
          <a:noFill/>
          <a:ln/>
        </p:spPr>
        <p:txBody>
          <a:bodyPr wrap="square" rtlCol="0" anchor="ctr"/>
          <a:lstStyle/>
          <a:p>
            <a:pPr indent="0" marL="0">
              <a:buNone/>
            </a:pPr>
            <a:r>
              <a:rPr lang="en-US" sz="1000" b="1" spc="200" kern="0" dirty="0">
                <a:solidFill>
                  <a:srgbClr val="2F5F8F"/>
                </a:solidFill>
                <a:latin typeface="Calibri" pitchFamily="34" charset="0"/>
                <a:ea typeface="Calibri" pitchFamily="34" charset="-122"/>
                <a:cs typeface="Calibri" pitchFamily="34" charset="-120"/>
              </a:rPr>
              <a:t>FORMAT</a:t>
            </a:r>
            <a:endParaRPr lang="en-US" sz="1000" dirty="0"/>
          </a:p>
        </p:txBody>
      </p:sp>
      <p:sp>
        <p:nvSpPr>
          <p:cNvPr id="26" name="Text 24"/>
          <p:cNvSpPr/>
          <p:nvPr/>
        </p:nvSpPr>
        <p:spPr>
          <a:xfrm>
            <a:off x="685800" y="3493008"/>
            <a:ext cx="7772400" cy="448056"/>
          </a:xfrm>
          <a:prstGeom prst="rect">
            <a:avLst/>
          </a:prstGeom>
          <a:noFill/>
          <a:ln/>
        </p:spPr>
        <p:txBody>
          <a:bodyPr wrap="square" rtlCol="0" anchor="t"/>
          <a:lstStyle/>
          <a:p>
            <a:pPr indent="0" marL="0">
              <a:lnSpc>
                <a:spcPts val="1900"/>
              </a:lnSpc>
              <a:buNone/>
            </a:pPr>
            <a:r>
              <a:rPr lang="en-US" sz="1500" dirty="0">
                <a:solidFill>
                  <a:srgbClr val="0B1D33"/>
                </a:solidFill>
                <a:latin typeface="Georgia" pitchFamily="34" charset="0"/>
                <a:ea typeface="Georgia" pitchFamily="34" charset="-122"/>
                <a:cs typeface="Georgia" pitchFamily="34" charset="-120"/>
              </a:rPr>
              <a:t>Short set-up, then you work. Hands-on activity blocks are marked, so we can add a second round when time allows or trim to the core sixty.</a:t>
            </a:r>
            <a:endParaRPr lang="en-US" sz="1500" dirty="0"/>
          </a:p>
        </p:txBody>
      </p:sp>
      <p:sp>
        <p:nvSpPr>
          <p:cNvPr id="27" name="Shape 25"/>
          <p:cNvSpPr/>
          <p:nvPr/>
        </p:nvSpPr>
        <p:spPr>
          <a:xfrm>
            <a:off x="0" y="4686300"/>
            <a:ext cx="9144000" cy="457200"/>
          </a:xfrm>
          <a:prstGeom prst="rect">
            <a:avLst/>
          </a:prstGeom>
          <a:solidFill>
            <a:srgbClr val="102A54"/>
          </a:solidFill>
          <a:ln/>
        </p:spPr>
      </p:sp>
      <p:sp>
        <p:nvSpPr>
          <p:cNvPr id="28" name="Shape 26"/>
          <p:cNvSpPr/>
          <p:nvPr/>
        </p:nvSpPr>
        <p:spPr>
          <a:xfrm>
            <a:off x="0" y="4654296"/>
            <a:ext cx="9144000" cy="32004"/>
          </a:xfrm>
          <a:prstGeom prst="rect">
            <a:avLst/>
          </a:prstGeom>
          <a:solidFill>
            <a:srgbClr val="6F8FAF"/>
          </a:solidFill>
          <a:ln/>
        </p:spPr>
      </p:sp>
      <p:sp>
        <p:nvSpPr>
          <p:cNvPr id="29" name="Text 27"/>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30" name="Text 28"/>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31" name="Text 29"/>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WHAT YOU WILL USE TODAY</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Free chatbots, and a shared option if you have none</a:t>
            </a:r>
            <a:endParaRPr lang="en-US" sz="2500" dirty="0"/>
          </a:p>
        </p:txBody>
      </p:sp>
      <p:sp>
        <p:nvSpPr>
          <p:cNvPr id="5" name="Shape 3"/>
          <p:cNvSpPr/>
          <p:nvPr/>
        </p:nvSpPr>
        <p:spPr>
          <a:xfrm>
            <a:off x="457200"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457200" y="1463040"/>
            <a:ext cx="54864" cy="1417320"/>
          </a:xfrm>
          <a:prstGeom prst="rect">
            <a:avLst/>
          </a:prstGeom>
          <a:solidFill>
            <a:srgbClr val="102A54"/>
          </a:solidFill>
          <a:ln/>
        </p:spPr>
      </p:sp>
      <p:sp>
        <p:nvSpPr>
          <p:cNvPr id="7" name="Text 5"/>
          <p:cNvSpPr/>
          <p:nvPr/>
        </p:nvSpPr>
        <p:spPr>
          <a:xfrm>
            <a:off x="621792"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Bring your own</a:t>
            </a:r>
            <a:endParaRPr lang="en-US" sz="1350" dirty="0"/>
          </a:p>
        </p:txBody>
      </p:sp>
      <p:sp>
        <p:nvSpPr>
          <p:cNvPr id="8" name="Text 6"/>
          <p:cNvSpPr/>
          <p:nvPr/>
        </p:nvSpPr>
        <p:spPr>
          <a:xfrm>
            <a:off x="621792"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Claude, ChatGPT, Z.ai, or Mistral. The free tier of any one of these works for every activity today.</a:t>
            </a:r>
            <a:endParaRPr lang="en-US" sz="1100" dirty="0"/>
          </a:p>
        </p:txBody>
      </p:sp>
      <p:sp>
        <p:nvSpPr>
          <p:cNvPr id="9" name="Shape 7"/>
          <p:cNvSpPr/>
          <p:nvPr/>
        </p:nvSpPr>
        <p:spPr>
          <a:xfrm>
            <a:off x="3267456"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3267456" y="1463040"/>
            <a:ext cx="54864" cy="1417320"/>
          </a:xfrm>
          <a:prstGeom prst="rect">
            <a:avLst/>
          </a:prstGeom>
          <a:solidFill>
            <a:srgbClr val="6F8FAF"/>
          </a:solidFill>
          <a:ln/>
        </p:spPr>
      </p:sp>
      <p:sp>
        <p:nvSpPr>
          <p:cNvPr id="11" name="Text 9"/>
          <p:cNvSpPr/>
          <p:nvPr/>
        </p:nvSpPr>
        <p:spPr>
          <a:xfrm>
            <a:off x="3432048"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Shared option</a:t>
            </a:r>
            <a:endParaRPr lang="en-US" sz="1350" dirty="0"/>
          </a:p>
        </p:txBody>
      </p:sp>
      <p:sp>
        <p:nvSpPr>
          <p:cNvPr id="12" name="Text 10"/>
          <p:cNvSpPr/>
          <p:nvPr/>
        </p:nvSpPr>
        <p:spPr>
          <a:xfrm>
            <a:off x="3432048"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A BoodleBox license code is provided so you can take part even if you have nothing else set up.</a:t>
            </a:r>
            <a:endParaRPr lang="en-US" sz="1100" dirty="0"/>
          </a:p>
        </p:txBody>
      </p:sp>
      <p:sp>
        <p:nvSpPr>
          <p:cNvPr id="13" name="Shape 11"/>
          <p:cNvSpPr/>
          <p:nvPr/>
        </p:nvSpPr>
        <p:spPr>
          <a:xfrm>
            <a:off x="6077712"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6077712" y="1463040"/>
            <a:ext cx="54864" cy="1417320"/>
          </a:xfrm>
          <a:prstGeom prst="rect">
            <a:avLst/>
          </a:prstGeom>
          <a:solidFill>
            <a:srgbClr val="102A54"/>
          </a:solidFill>
          <a:ln/>
        </p:spPr>
      </p:sp>
      <p:sp>
        <p:nvSpPr>
          <p:cNvPr id="15" name="Text 13"/>
          <p:cNvSpPr/>
          <p:nvPr/>
        </p:nvSpPr>
        <p:spPr>
          <a:xfrm>
            <a:off x="6242304"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Claude for Legal</a:t>
            </a:r>
            <a:endParaRPr lang="en-US" sz="1350" dirty="0"/>
          </a:p>
        </p:txBody>
      </p:sp>
      <p:sp>
        <p:nvSpPr>
          <p:cNvPr id="16" name="Text 14"/>
          <p:cNvSpPr/>
          <p:nvPr/>
        </p:nvSpPr>
        <p:spPr>
          <a:xfrm>
            <a:off x="6242304"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We look at practice-area tooling built for lawyers as an example of purpose-built, review-gated AI.</a:t>
            </a:r>
            <a:endParaRPr lang="en-US" sz="1100" dirty="0"/>
          </a:p>
        </p:txBody>
      </p:sp>
      <p:sp>
        <p:nvSpPr>
          <p:cNvPr id="17" name="Shape 15"/>
          <p:cNvSpPr/>
          <p:nvPr/>
        </p:nvSpPr>
        <p:spPr>
          <a:xfrm>
            <a:off x="457200" y="3026664"/>
            <a:ext cx="8229600" cy="868680"/>
          </a:xfrm>
          <a:prstGeom prst="roundRect">
            <a:avLst>
              <a:gd name="adj" fmla="val 5263"/>
            </a:avLst>
          </a:prstGeom>
          <a:solidFill>
            <a:srgbClr val="102A54"/>
          </a:solidFill>
          <a:ln/>
        </p:spPr>
      </p:sp>
      <p:sp>
        <p:nvSpPr>
          <p:cNvPr id="18" name="Shape 16"/>
          <p:cNvSpPr/>
          <p:nvPr/>
        </p:nvSpPr>
        <p:spPr>
          <a:xfrm>
            <a:off x="457200" y="3026664"/>
            <a:ext cx="64008" cy="868680"/>
          </a:xfrm>
          <a:prstGeom prst="rect">
            <a:avLst/>
          </a:prstGeom>
          <a:solidFill>
            <a:srgbClr val="6F8FAF"/>
          </a:solidFill>
          <a:ln/>
        </p:spPr>
      </p:sp>
      <p:sp>
        <p:nvSpPr>
          <p:cNvPr id="19" name="Text 17"/>
          <p:cNvSpPr/>
          <p:nvPr/>
        </p:nvSpPr>
        <p:spPr>
          <a:xfrm>
            <a:off x="685800" y="3136392"/>
            <a:ext cx="7772400" cy="219456"/>
          </a:xfrm>
          <a:prstGeom prst="rect">
            <a:avLst/>
          </a:prstGeom>
          <a:noFill/>
          <a:ln/>
        </p:spPr>
        <p:txBody>
          <a:bodyPr wrap="square" rtlCol="0" anchor="ctr"/>
          <a:lstStyle/>
          <a:p>
            <a:pPr indent="0" marL="0">
              <a:buNone/>
            </a:pPr>
            <a:r>
              <a:rPr lang="en-US" sz="1000" b="1" spc="200" kern="0" dirty="0">
                <a:solidFill>
                  <a:srgbClr val="6F8FAF"/>
                </a:solidFill>
                <a:latin typeface="Calibri" pitchFamily="34" charset="0"/>
                <a:ea typeface="Calibri" pitchFamily="34" charset="-122"/>
                <a:cs typeface="Calibri" pitchFamily="34" charset="-120"/>
              </a:rPr>
              <a:t>THE ONE RULE BEFORE YOU TYPE</a:t>
            </a:r>
            <a:endParaRPr lang="en-US" sz="1000" dirty="0"/>
          </a:p>
        </p:txBody>
      </p:sp>
      <p:sp>
        <p:nvSpPr>
          <p:cNvPr id="20" name="Text 18"/>
          <p:cNvSpPr/>
          <p:nvPr/>
        </p:nvSpPr>
        <p:spPr>
          <a:xfrm>
            <a:off x="685800" y="3355848"/>
            <a:ext cx="7772400" cy="448056"/>
          </a:xfrm>
          <a:prstGeom prst="rect">
            <a:avLst/>
          </a:prstGeom>
          <a:noFill/>
          <a:ln/>
        </p:spPr>
        <p:txBody>
          <a:bodyPr wrap="square" rtlCol="0" anchor="t"/>
          <a:lstStyle/>
          <a:p>
            <a:pPr indent="0" marL="0">
              <a:lnSpc>
                <a:spcPts val="1900"/>
              </a:lnSpc>
              <a:buNone/>
            </a:pPr>
            <a:r>
              <a:rPr lang="en-US" sz="1500" dirty="0">
                <a:solidFill>
                  <a:srgbClr val="FFFFFF"/>
                </a:solidFill>
                <a:latin typeface="Georgia" pitchFamily="34" charset="0"/>
                <a:ea typeface="Georgia" pitchFamily="34" charset="-122"/>
                <a:cs typeface="Georgia" pitchFamily="34" charset="-120"/>
              </a:rPr>
              <a:t>Never put confidential, privileged, or client-identifying facts into a consumer chatbot. Today's scenarios are fictional for exactly this reason.</a:t>
            </a:r>
            <a:endParaRPr lang="en-US" sz="150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HOW THE HANDS-ON WORK RUNS</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We start from the problem, not the tool</a:t>
            </a:r>
            <a:endParaRPr lang="en-US" sz="2500" dirty="0"/>
          </a:p>
        </p:txBody>
      </p:sp>
      <p:sp>
        <p:nvSpPr>
          <p:cNvPr id="5" name="Shape 3"/>
          <p:cNvSpPr/>
          <p:nvPr/>
        </p:nvSpPr>
        <p:spPr>
          <a:xfrm>
            <a:off x="457200" y="1463040"/>
            <a:ext cx="3977640" cy="2286000"/>
          </a:xfrm>
          <a:prstGeom prst="roundRect">
            <a:avLst>
              <a:gd name="adj" fmla="val 2000"/>
            </a:avLst>
          </a:prstGeom>
          <a:solidFill>
            <a:srgbClr val="F7F9FC"/>
          </a:solidFill>
          <a:ln w="12700">
            <a:solidFill>
              <a:srgbClr val="D8DEE6"/>
            </a:solidFill>
            <a:prstDash val="solid"/>
          </a:ln>
        </p:spPr>
      </p:sp>
      <p:sp>
        <p:nvSpPr>
          <p:cNvPr id="6" name="Shape 4"/>
          <p:cNvSpPr/>
          <p:nvPr/>
        </p:nvSpPr>
        <p:spPr>
          <a:xfrm>
            <a:off x="457200" y="1463040"/>
            <a:ext cx="3977640" cy="64008"/>
          </a:xfrm>
          <a:prstGeom prst="rect">
            <a:avLst/>
          </a:prstGeom>
          <a:solidFill>
            <a:srgbClr val="102A54"/>
          </a:solidFill>
          <a:ln/>
        </p:spPr>
      </p:sp>
      <p:sp>
        <p:nvSpPr>
          <p:cNvPr id="7" name="Text 5"/>
          <p:cNvSpPr/>
          <p:nvPr/>
        </p:nvSpPr>
        <p:spPr>
          <a:xfrm>
            <a:off x="640080" y="1609344"/>
            <a:ext cx="3611880" cy="365760"/>
          </a:xfrm>
          <a:prstGeom prst="rect">
            <a:avLst/>
          </a:prstGeom>
          <a:noFill/>
          <a:ln/>
        </p:spPr>
        <p:txBody>
          <a:bodyPr wrap="square" rtlCol="0" anchor="ctr"/>
          <a:lstStyle/>
          <a:p>
            <a:pPr indent="0" marL="0">
              <a:buNone/>
            </a:pPr>
            <a:r>
              <a:rPr lang="en-US" sz="1500" b="1" dirty="0">
                <a:solidFill>
                  <a:srgbClr val="102A54"/>
                </a:solidFill>
                <a:latin typeface="Georgia" pitchFamily="34" charset="0"/>
                <a:ea typeface="Georgia" pitchFamily="34" charset="-122"/>
                <a:cs typeface="Georgia" pitchFamily="34" charset="-120"/>
              </a:rPr>
              <a:t>Problem-based learning</a:t>
            </a:r>
            <a:endParaRPr lang="en-US" sz="1500" dirty="0"/>
          </a:p>
        </p:txBody>
      </p:sp>
      <p:sp>
        <p:nvSpPr>
          <p:cNvPr id="8" name="Text 6"/>
          <p:cNvSpPr/>
          <p:nvPr/>
        </p:nvSpPr>
        <p:spPr>
          <a:xfrm>
            <a:off x="713232" y="2029968"/>
            <a:ext cx="3520440" cy="1600200"/>
          </a:xfrm>
          <a:prstGeom prst="rect">
            <a:avLst/>
          </a:prstGeom>
          <a:noFill/>
          <a:ln/>
        </p:spPr>
        <p:txBody>
          <a:bodyPr wrap="square" rtlCol="0" anchor="t"/>
          <a:lstStyle/>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Start with a real defense problem you recognize</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Decide what a good outcome looks like first</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Use AI as one tool toward that outcome</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Judge the result against the problem, not the novelty</a:t>
            </a:r>
            <a:endParaRPr lang="en-US" sz="1250" dirty="0"/>
          </a:p>
        </p:txBody>
      </p:sp>
      <p:sp>
        <p:nvSpPr>
          <p:cNvPr id="9" name="Shape 7"/>
          <p:cNvSpPr/>
          <p:nvPr/>
        </p:nvSpPr>
        <p:spPr>
          <a:xfrm>
            <a:off x="4709160" y="1463040"/>
            <a:ext cx="3977640" cy="2286000"/>
          </a:xfrm>
          <a:prstGeom prst="roundRect">
            <a:avLst>
              <a:gd name="adj" fmla="val 2000"/>
            </a:avLst>
          </a:prstGeom>
          <a:solidFill>
            <a:srgbClr val="F7F9FC"/>
          </a:solidFill>
          <a:ln w="12700">
            <a:solidFill>
              <a:srgbClr val="D8DEE6"/>
            </a:solidFill>
            <a:prstDash val="solid"/>
          </a:ln>
        </p:spPr>
      </p:sp>
      <p:sp>
        <p:nvSpPr>
          <p:cNvPr id="10" name="Shape 8"/>
          <p:cNvSpPr/>
          <p:nvPr/>
        </p:nvSpPr>
        <p:spPr>
          <a:xfrm>
            <a:off x="4709160" y="1463040"/>
            <a:ext cx="3977640" cy="64008"/>
          </a:xfrm>
          <a:prstGeom prst="rect">
            <a:avLst/>
          </a:prstGeom>
          <a:solidFill>
            <a:srgbClr val="6F8FAF"/>
          </a:solidFill>
          <a:ln/>
        </p:spPr>
      </p:sp>
      <p:sp>
        <p:nvSpPr>
          <p:cNvPr id="11" name="Text 9"/>
          <p:cNvSpPr/>
          <p:nvPr/>
        </p:nvSpPr>
        <p:spPr>
          <a:xfrm>
            <a:off x="4892040" y="1609344"/>
            <a:ext cx="3611880" cy="365760"/>
          </a:xfrm>
          <a:prstGeom prst="rect">
            <a:avLst/>
          </a:prstGeom>
          <a:noFill/>
          <a:ln/>
        </p:spPr>
        <p:txBody>
          <a:bodyPr wrap="square" rtlCol="0" anchor="ctr"/>
          <a:lstStyle/>
          <a:p>
            <a:pPr indent="0" marL="0">
              <a:buNone/>
            </a:pPr>
            <a:r>
              <a:rPr lang="en-US" sz="1500" b="1" dirty="0">
                <a:solidFill>
                  <a:srgbClr val="102A54"/>
                </a:solidFill>
                <a:latin typeface="Georgia" pitchFamily="34" charset="0"/>
                <a:ea typeface="Georgia" pitchFamily="34" charset="-122"/>
                <a:cs typeface="Georgia" pitchFamily="34" charset="-120"/>
              </a:rPr>
              <a:t>Tool-first browsing</a:t>
            </a:r>
            <a:endParaRPr lang="en-US" sz="1500" dirty="0"/>
          </a:p>
        </p:txBody>
      </p:sp>
      <p:sp>
        <p:nvSpPr>
          <p:cNvPr id="12" name="Text 10"/>
          <p:cNvSpPr/>
          <p:nvPr/>
        </p:nvSpPr>
        <p:spPr>
          <a:xfrm>
            <a:off x="4965192" y="2029968"/>
            <a:ext cx="3520440" cy="1600200"/>
          </a:xfrm>
          <a:prstGeom prst="rect">
            <a:avLst/>
          </a:prstGeom>
          <a:noFill/>
          <a:ln/>
        </p:spPr>
        <p:txBody>
          <a:bodyPr wrap="square" rtlCol="0" anchor="t"/>
          <a:lstStyle/>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Start with a feature and look for a use</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Impressive demos, unclear payoff</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Easy to adopt a tool that solves nothing</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Hard to measure whether it helped</a:t>
            </a:r>
            <a:endParaRPr lang="en-US" sz="1250" dirty="0"/>
          </a:p>
        </p:txBody>
      </p:sp>
      <p:sp>
        <p:nvSpPr>
          <p:cNvPr id="13" name="Shape 11"/>
          <p:cNvSpPr/>
          <p:nvPr/>
        </p:nvSpPr>
        <p:spPr>
          <a:xfrm>
            <a:off x="457200" y="3895344"/>
            <a:ext cx="8229600" cy="640080"/>
          </a:xfrm>
          <a:prstGeom prst="roundRect">
            <a:avLst>
              <a:gd name="adj" fmla="val 7143"/>
            </a:avLst>
          </a:prstGeom>
          <a:solidFill>
            <a:srgbClr val="102A54"/>
          </a:solidFill>
          <a:ln/>
        </p:spPr>
      </p:sp>
      <p:sp>
        <p:nvSpPr>
          <p:cNvPr id="14" name="Text 12"/>
          <p:cNvSpPr/>
          <p:nvPr/>
        </p:nvSpPr>
        <p:spPr>
          <a:xfrm>
            <a:off x="731520" y="3968496"/>
            <a:ext cx="7680960" cy="493776"/>
          </a:xfrm>
          <a:prstGeom prst="rect">
            <a:avLst/>
          </a:prstGeom>
          <a:noFill/>
          <a:ln/>
        </p:spPr>
        <p:txBody>
          <a:bodyPr wrap="square" rtlCol="0" anchor="ctr"/>
          <a:lstStyle/>
          <a:p>
            <a:pPr indent="0" marL="0">
              <a:lnSpc>
                <a:spcPts val="1700"/>
              </a:lnSpc>
              <a:buNone/>
            </a:pPr>
            <a:pPr indent="0" marL="0">
              <a:lnSpc>
                <a:spcPts val="1700"/>
              </a:lnSpc>
              <a:buNone/>
            </a:pPr>
            <a:r>
              <a:rPr lang="en-US" sz="1350" b="1" i="1" dirty="0">
                <a:solidFill>
                  <a:srgbClr val="FFFFFF"/>
                </a:solidFill>
                <a:latin typeface="Calibri" pitchFamily="34" charset="0"/>
                <a:ea typeface="Calibri" pitchFamily="34" charset="-122"/>
                <a:cs typeface="Calibri" pitchFamily="34" charset="-120"/>
              </a:rPr>
              <a:t>Today's stance.</a:t>
            </a:r>
            <a:pPr indent="0" marL="0">
              <a:lnSpc>
                <a:spcPts val="1700"/>
              </a:lnSpc>
              <a:buNone/>
            </a:pPr>
            <a:r>
              <a:rPr lang="en-US" sz="1350" i="1" dirty="0">
                <a:solidFill>
                  <a:srgbClr val="C8D2DC"/>
                </a:solidFill>
                <a:latin typeface="Calibri" pitchFamily="34" charset="0"/>
                <a:ea typeface="Calibri" pitchFamily="34" charset="-122"/>
                <a:cs typeface="Calibri" pitchFamily="34" charset="-120"/>
              </a:rPr>
              <a:t> Every activity begins with a problem worth solving and ends by asking whether the AI actually solved it.</a:t>
            </a:r>
            <a:endParaRPr lang="en-US" sz="1350" dirty="0"/>
          </a:p>
        </p:txBody>
      </p:sp>
      <p:sp>
        <p:nvSpPr>
          <p:cNvPr id="15" name="Shape 13"/>
          <p:cNvSpPr/>
          <p:nvPr/>
        </p:nvSpPr>
        <p:spPr>
          <a:xfrm>
            <a:off x="0" y="4686300"/>
            <a:ext cx="9144000" cy="457200"/>
          </a:xfrm>
          <a:prstGeom prst="rect">
            <a:avLst/>
          </a:prstGeom>
          <a:solidFill>
            <a:srgbClr val="102A54"/>
          </a:solidFill>
          <a:ln/>
        </p:spPr>
      </p:sp>
      <p:sp>
        <p:nvSpPr>
          <p:cNvPr id="16" name="Shape 14"/>
          <p:cNvSpPr/>
          <p:nvPr/>
        </p:nvSpPr>
        <p:spPr>
          <a:xfrm>
            <a:off x="0" y="4654296"/>
            <a:ext cx="9144000" cy="32004"/>
          </a:xfrm>
          <a:prstGeom prst="rect">
            <a:avLst/>
          </a:prstGeom>
          <a:solidFill>
            <a:srgbClr val="6F8FAF"/>
          </a:solidFill>
          <a:ln/>
        </p:spPr>
      </p:sp>
      <p:sp>
        <p:nvSpPr>
          <p:cNvPr id="17" name="Text 15"/>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8" name="Text 16"/>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9" name="Text 17"/>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WHAT YOU LEAVE WITH</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Three takeaways, all on the resources page</a:t>
            </a:r>
            <a:endParaRPr lang="en-US" sz="2500" dirty="0"/>
          </a:p>
        </p:txBody>
      </p:sp>
      <p:sp>
        <p:nvSpPr>
          <p:cNvPr id="5" name="Shape 3"/>
          <p:cNvSpPr/>
          <p:nvPr/>
        </p:nvSpPr>
        <p:spPr>
          <a:xfrm>
            <a:off x="457200"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457200" y="1463040"/>
            <a:ext cx="54864" cy="1417320"/>
          </a:xfrm>
          <a:prstGeom prst="rect">
            <a:avLst/>
          </a:prstGeom>
          <a:solidFill>
            <a:srgbClr val="6F8FAF"/>
          </a:solidFill>
          <a:ln/>
        </p:spPr>
      </p:sp>
      <p:sp>
        <p:nvSpPr>
          <p:cNvPr id="7" name="Text 5"/>
          <p:cNvSpPr/>
          <p:nvPr/>
        </p:nvSpPr>
        <p:spPr>
          <a:xfrm>
            <a:off x="621792"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TCDLAi Prompt Design Guide</a:t>
            </a:r>
            <a:endParaRPr lang="en-US" sz="1350" dirty="0"/>
          </a:p>
        </p:txBody>
      </p:sp>
      <p:sp>
        <p:nvSpPr>
          <p:cNvPr id="8" name="Text 6"/>
          <p:cNvSpPr/>
          <p:nvPr/>
        </p:nvSpPr>
        <p:spPr>
          <a:xfrm>
            <a:off x="621792"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A six-part framework for structuring defense prompts so the output is focused, grounded, and checkable.</a:t>
            </a:r>
            <a:endParaRPr lang="en-US" sz="1100" dirty="0"/>
          </a:p>
        </p:txBody>
      </p:sp>
      <p:sp>
        <p:nvSpPr>
          <p:cNvPr id="9" name="Shape 7"/>
          <p:cNvSpPr/>
          <p:nvPr/>
        </p:nvSpPr>
        <p:spPr>
          <a:xfrm>
            <a:off x="3267456"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3267456" y="1463040"/>
            <a:ext cx="54864" cy="1417320"/>
          </a:xfrm>
          <a:prstGeom prst="rect">
            <a:avLst/>
          </a:prstGeom>
          <a:solidFill>
            <a:srgbClr val="102A54"/>
          </a:solidFill>
          <a:ln/>
        </p:spPr>
      </p:sp>
      <p:sp>
        <p:nvSpPr>
          <p:cNvPr id="11" name="Text 9"/>
          <p:cNvSpPr/>
          <p:nvPr/>
        </p:nvSpPr>
        <p:spPr>
          <a:xfrm>
            <a:off x="3432048"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Ethical guardrail checklist</a:t>
            </a:r>
            <a:endParaRPr lang="en-US" sz="1350" dirty="0"/>
          </a:p>
        </p:txBody>
      </p:sp>
      <p:sp>
        <p:nvSpPr>
          <p:cNvPr id="12" name="Text 10"/>
          <p:cNvSpPr/>
          <p:nvPr/>
        </p:nvSpPr>
        <p:spPr>
          <a:xfrm>
            <a:off x="3432048"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A short, printable checklist you run before any AI-assisted work leaves your desk.</a:t>
            </a:r>
            <a:endParaRPr lang="en-US" sz="1100" dirty="0"/>
          </a:p>
        </p:txBody>
      </p:sp>
      <p:sp>
        <p:nvSpPr>
          <p:cNvPr id="13" name="Shape 11"/>
          <p:cNvSpPr/>
          <p:nvPr/>
        </p:nvSpPr>
        <p:spPr>
          <a:xfrm>
            <a:off x="6077712"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6077712" y="1463040"/>
            <a:ext cx="54864" cy="1417320"/>
          </a:xfrm>
          <a:prstGeom prst="rect">
            <a:avLst/>
          </a:prstGeom>
          <a:solidFill>
            <a:srgbClr val="102A54"/>
          </a:solidFill>
          <a:ln/>
        </p:spPr>
      </p:sp>
      <p:sp>
        <p:nvSpPr>
          <p:cNvPr id="15" name="Text 13"/>
          <p:cNvSpPr/>
          <p:nvPr/>
        </p:nvSpPr>
        <p:spPr>
          <a:xfrm>
            <a:off x="6242304"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Sample prompt library</a:t>
            </a:r>
            <a:endParaRPr lang="en-US" sz="1350" dirty="0"/>
          </a:p>
        </p:txBody>
      </p:sp>
      <p:sp>
        <p:nvSpPr>
          <p:cNvPr id="16" name="Text 14"/>
          <p:cNvSpPr/>
          <p:nvPr/>
        </p:nvSpPr>
        <p:spPr>
          <a:xfrm>
            <a:off x="6242304"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Legal prompts organized by type and task, each built to emphasize verification and accountability.</a:t>
            </a:r>
            <a:endParaRPr lang="en-US" sz="1100" dirty="0"/>
          </a:p>
        </p:txBody>
      </p:sp>
      <p:sp>
        <p:nvSpPr>
          <p:cNvPr id="17" name="Shape 15"/>
          <p:cNvSpPr/>
          <p:nvPr/>
        </p:nvSpPr>
        <p:spPr>
          <a:xfrm>
            <a:off x="457200" y="3026664"/>
            <a:ext cx="8229600" cy="868680"/>
          </a:xfrm>
          <a:prstGeom prst="roundRect">
            <a:avLst>
              <a:gd name="adj" fmla="val 5263"/>
            </a:avLst>
          </a:prstGeom>
          <a:solidFill>
            <a:srgbClr val="C8D2DC"/>
          </a:solidFill>
          <a:ln/>
        </p:spPr>
      </p:sp>
      <p:sp>
        <p:nvSpPr>
          <p:cNvPr id="18" name="Shape 16"/>
          <p:cNvSpPr/>
          <p:nvPr/>
        </p:nvSpPr>
        <p:spPr>
          <a:xfrm>
            <a:off x="457200" y="3026664"/>
            <a:ext cx="64008" cy="868680"/>
          </a:xfrm>
          <a:prstGeom prst="rect">
            <a:avLst/>
          </a:prstGeom>
          <a:solidFill>
            <a:srgbClr val="102A54"/>
          </a:solidFill>
          <a:ln/>
        </p:spPr>
      </p:sp>
      <p:sp>
        <p:nvSpPr>
          <p:cNvPr id="19" name="Text 17"/>
          <p:cNvSpPr/>
          <p:nvPr/>
        </p:nvSpPr>
        <p:spPr>
          <a:xfrm>
            <a:off x="685800" y="3136392"/>
            <a:ext cx="7772400" cy="219456"/>
          </a:xfrm>
          <a:prstGeom prst="rect">
            <a:avLst/>
          </a:prstGeom>
          <a:noFill/>
          <a:ln/>
        </p:spPr>
        <p:txBody>
          <a:bodyPr wrap="square" rtlCol="0" anchor="ctr"/>
          <a:lstStyle/>
          <a:p>
            <a:pPr indent="0" marL="0">
              <a:buNone/>
            </a:pPr>
            <a:r>
              <a:rPr lang="en-US" sz="1000" b="1" spc="200" kern="0" dirty="0">
                <a:solidFill>
                  <a:srgbClr val="2F5F8F"/>
                </a:solidFill>
                <a:latin typeface="Calibri" pitchFamily="34" charset="0"/>
                <a:ea typeface="Calibri" pitchFamily="34" charset="-122"/>
                <a:cs typeface="Calibri" pitchFamily="34" charset="-120"/>
              </a:rPr>
              <a:t>OPTIONAL STARTER OPENER</a:t>
            </a:r>
            <a:endParaRPr lang="en-US" sz="1000" dirty="0"/>
          </a:p>
        </p:txBody>
      </p:sp>
      <p:sp>
        <p:nvSpPr>
          <p:cNvPr id="20" name="Text 18"/>
          <p:cNvSpPr/>
          <p:nvPr/>
        </p:nvSpPr>
        <p:spPr>
          <a:xfrm>
            <a:off x="685800" y="3355848"/>
            <a:ext cx="7772400" cy="448056"/>
          </a:xfrm>
          <a:prstGeom prst="rect">
            <a:avLst/>
          </a:prstGeom>
          <a:noFill/>
          <a:ln/>
        </p:spPr>
        <p:txBody>
          <a:bodyPr wrap="square" rtlCol="0" anchor="t"/>
          <a:lstStyle/>
          <a:p>
            <a:pPr indent="0" marL="0">
              <a:lnSpc>
                <a:spcPts val="1900"/>
              </a:lnSpc>
              <a:buNone/>
            </a:pPr>
            <a:r>
              <a:rPr lang="en-US" sz="1500" dirty="0">
                <a:solidFill>
                  <a:srgbClr val="0B1D33"/>
                </a:solidFill>
                <a:latin typeface="Georgia" pitchFamily="34" charset="0"/>
                <a:ea typeface="Georgia" pitchFamily="34" charset="-122"/>
                <a:cs typeface="Georgia" pitchFamily="34" charset="-120"/>
              </a:rPr>
              <a:t>Before we dig in, you can take a two-minute AI fluency self-check on the resources page to see where you stand today.</a:t>
            </a:r>
            <a:endParaRPr lang="en-US" sz="150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TCEA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the Defense — Overview</dc:title>
  <dc:subject>PptxGenJS Presentation</dc:subject>
  <dc:creator>Miguel Guhlin</dc:creator>
  <cp:lastModifiedBy>Miguel Guhlin</cp:lastModifiedBy>
  <cp:revision>1</cp:revision>
  <dcterms:created xsi:type="dcterms:W3CDTF">2026-07-16T18:55:40Z</dcterms:created>
  <dcterms:modified xsi:type="dcterms:W3CDTF">2026-07-16T18:55:40Z</dcterms:modified>
</cp:coreProperties>
</file>